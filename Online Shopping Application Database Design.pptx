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Oranienbaum"/>
      <p:regular r:id="rId19"/>
    </p:embeddedFont>
    <p:embeddedFont>
      <p:font typeface="Liter"/>
      <p:regular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iter-regular.fntdata"/><Relationship Id="rId11" Type="http://schemas.openxmlformats.org/officeDocument/2006/relationships/slide" Target="slides/slide7.xml"/><Relationship Id="rId22" Type="http://schemas.openxmlformats.org/officeDocument/2006/relationships/font" Target="fonts/Comfortaa-bold.fntdata"/><Relationship Id="rId10" Type="http://schemas.openxmlformats.org/officeDocument/2006/relationships/slide" Target="slides/slide6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ranienbaum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cf1a354f3_1_0:notes"/>
          <p:cNvSpPr/>
          <p:nvPr>
            <p:ph idx="2" type="sldImg"/>
          </p:nvPr>
        </p:nvSpPr>
        <p:spPr>
          <a:xfrm>
            <a:off x="381188" y="914400"/>
            <a:ext cx="6096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cf1a354f3_1_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7" name="Google Shape;6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5" name="Google Shape;77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7" name="Google Shape;8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>
                <a:solidFill>
                  <a:schemeClr val="dk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  <a:defRPr>
                <a:solidFill>
                  <a:schemeClr val="dk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○"/>
              <a:defRPr>
                <a:solidFill>
                  <a:schemeClr val="dk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Char char="●"/>
              <a:defRPr sz="2400">
                <a:solidFill>
                  <a:schemeClr val="lt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●"/>
              <a:defRPr sz="1900">
                <a:solidFill>
                  <a:schemeClr val="lt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○"/>
              <a:defRPr sz="1900">
                <a:solidFill>
                  <a:schemeClr val="lt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00"/>
              <a:buChar char="■"/>
              <a:defRPr sz="19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lt2"/>
                </a:solidFill>
              </a:defRPr>
            </a:lvl1pPr>
            <a:lvl2pPr lvl="1" algn="r">
              <a:buNone/>
              <a:defRPr sz="1300">
                <a:solidFill>
                  <a:schemeClr val="lt2"/>
                </a:solidFill>
              </a:defRPr>
            </a:lvl2pPr>
            <a:lvl3pPr lvl="2" algn="r">
              <a:buNone/>
              <a:defRPr sz="1300">
                <a:solidFill>
                  <a:schemeClr val="lt2"/>
                </a:solidFill>
              </a:defRPr>
            </a:lvl3pPr>
            <a:lvl4pPr lvl="3" algn="r">
              <a:buNone/>
              <a:defRPr sz="1300">
                <a:solidFill>
                  <a:schemeClr val="lt2"/>
                </a:solidFill>
              </a:defRPr>
            </a:lvl4pPr>
            <a:lvl5pPr lvl="4" algn="r">
              <a:buNone/>
              <a:defRPr sz="1300">
                <a:solidFill>
                  <a:schemeClr val="lt2"/>
                </a:solidFill>
              </a:defRPr>
            </a:lvl5pPr>
            <a:lvl6pPr lvl="5" algn="r">
              <a:buNone/>
              <a:defRPr sz="1300">
                <a:solidFill>
                  <a:schemeClr val="lt2"/>
                </a:solidFill>
              </a:defRPr>
            </a:lvl6pPr>
            <a:lvl7pPr lvl="6" algn="r">
              <a:buNone/>
              <a:defRPr sz="1300">
                <a:solidFill>
                  <a:schemeClr val="lt2"/>
                </a:solidFill>
              </a:defRPr>
            </a:lvl7pPr>
            <a:lvl8pPr lvl="7" algn="r">
              <a:buNone/>
              <a:defRPr sz="1300">
                <a:solidFill>
                  <a:schemeClr val="lt2"/>
                </a:solidFill>
              </a:defRPr>
            </a:lvl8pPr>
            <a:lvl9pPr lvl="8" algn="r">
              <a:buNone/>
              <a:defRPr sz="13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 rotWithShape="1">
          <a:blip r:embed="rId3">
            <a:alphaModFix amt="32000"/>
          </a:blip>
          <a:srcRect b="19218" l="0" r="0" t="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5400000" dist="25400">
              <a:srgbClr val="000000">
                <a:alpha val="50000"/>
              </a:srgbClr>
            </a:outerShdw>
          </a:effectLst>
        </p:spPr>
      </p:pic>
      <p:sp>
        <p:nvSpPr>
          <p:cNvPr id="60" name="Google Shape;60;p14"/>
          <p:cNvSpPr txBox="1"/>
          <p:nvPr>
            <p:ph idx="4294967295" type="ctrTitle"/>
          </p:nvPr>
        </p:nvSpPr>
        <p:spPr>
          <a:xfrm>
            <a:off x="203200" y="3173733"/>
            <a:ext cx="11360700" cy="3436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Shopping Application Database</a:t>
            </a:r>
            <a:r>
              <a:rPr b="1" lang="en-US" sz="3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b="1" sz="3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Database Schema &amp; ER Modeling for E-Commerce Platform</a:t>
            </a:r>
            <a:endParaRPr b="1" sz="2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E0E0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</a:t>
            </a: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MySQL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Submitted To: Mrs. Prasanthi Boyapati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Assistant Professor 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rgbClr val="0E0E0E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200" y="345933"/>
            <a:ext cx="9752800" cy="2500301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273930c0b9718ed19144e76faed9b8df4839164c.jpg" id="67" name="Google Shape;67;p15"/>
          <p:cNvPicPr preferRelativeResize="0"/>
          <p:nvPr/>
        </p:nvPicPr>
        <p:blipFill rotWithShape="1">
          <a:blip r:embed="rId3">
            <a:alphaModFix amt="4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5098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9" name="Google Shape;69;p15"/>
          <p:cNvSpPr/>
          <p:nvPr/>
        </p:nvSpPr>
        <p:spPr>
          <a:xfrm>
            <a:off x="437550" y="1057275"/>
            <a:ext cx="2809875" cy="381000"/>
          </a:xfrm>
          <a:custGeom>
            <a:rect b="b" l="l" r="r" t="t"/>
            <a:pathLst>
              <a:path extrusionOk="0" h="381000" w="2809875">
                <a:moveTo>
                  <a:pt x="0" y="0"/>
                </a:moveTo>
                <a:lnTo>
                  <a:pt x="2809875" y="0"/>
                </a:lnTo>
                <a:lnTo>
                  <a:pt x="2809875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grpSp>
        <p:nvGrpSpPr>
          <p:cNvPr id="70" name="Google Shape;70;p15"/>
          <p:cNvGrpSpPr/>
          <p:nvPr/>
        </p:nvGrpSpPr>
        <p:grpSpPr>
          <a:xfrm>
            <a:off x="381000" y="1057275"/>
            <a:ext cx="2695575" cy="381000"/>
            <a:chOff x="400050" y="1200150"/>
            <a:chExt cx="2695575" cy="381000"/>
          </a:xfrm>
        </p:grpSpPr>
        <p:sp>
          <p:nvSpPr>
            <p:cNvPr id="71" name="Google Shape;71;p15"/>
            <p:cNvSpPr/>
            <p:nvPr/>
          </p:nvSpPr>
          <p:spPr>
            <a:xfrm>
              <a:off x="400050" y="1200150"/>
              <a:ext cx="38100" cy="381000"/>
            </a:xfrm>
            <a:custGeom>
              <a:rect b="b" l="l" r="r" t="t"/>
              <a:pathLst>
                <a:path extrusionOk="0" h="381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381000"/>
                  </a:lnTo>
                  <a:lnTo>
                    <a:pt x="0" y="38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</p:sp>
        <p:sp>
          <p:nvSpPr>
            <p:cNvPr id="72" name="Google Shape;72;p15"/>
            <p:cNvSpPr/>
            <p:nvPr/>
          </p:nvSpPr>
          <p:spPr>
            <a:xfrm>
              <a:off x="609600" y="1276350"/>
              <a:ext cx="2486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Database Design Project</a:t>
              </a:r>
              <a:endParaRPr b="0" i="0" sz="1600" u="none" cap="none" strike="noStrike"/>
            </a:p>
          </p:txBody>
        </p:sp>
      </p:grpSp>
      <p:sp>
        <p:nvSpPr>
          <p:cNvPr id="73" name="Google Shape;73;p15"/>
          <p:cNvSpPr/>
          <p:nvPr/>
        </p:nvSpPr>
        <p:spPr>
          <a:xfrm>
            <a:off x="381000" y="1176975"/>
            <a:ext cx="5889300" cy="36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Online Shopping </a:t>
            </a:r>
            <a:endParaRPr b="1" i="0" sz="5100" u="none" cap="none" strike="noStrike">
              <a:solidFill>
                <a:srgbClr val="E0E2E5"/>
              </a:solidFill>
              <a:latin typeface="Oranienbaum"/>
              <a:ea typeface="Oranienbaum"/>
              <a:cs typeface="Oranienbaum"/>
              <a:sym typeface="Oranienba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Application </a:t>
            </a:r>
            <a:endParaRPr b="1" i="0" sz="5100" u="none" cap="none" strike="noStrike">
              <a:solidFill>
                <a:srgbClr val="4C8B8E"/>
              </a:solidFill>
              <a:latin typeface="Oranienbaum"/>
              <a:ea typeface="Oranienbaum"/>
              <a:cs typeface="Oranienbaum"/>
              <a:sym typeface="Oranienba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C5A06D"/>
                </a:solidFill>
                <a:latin typeface="Oranienbaum"/>
                <a:ea typeface="Oranienbaum"/>
                <a:cs typeface="Oranienbaum"/>
                <a:sym typeface="Oranienbaum"/>
              </a:rPr>
              <a:t>Database</a:t>
            </a:r>
            <a:endParaRPr b="0" i="0" sz="130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437575" y="5155750"/>
            <a:ext cx="6971100" cy="7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Comprehensive Database Schema &amp; ER Modeling for E-Commerce Platform</a:t>
            </a:r>
            <a:endParaRPr b="0" i="0" sz="160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416719" y="6267450"/>
            <a:ext cx="166688" cy="190500"/>
          </a:xfrm>
          <a:custGeom>
            <a:rect b="b" l="l" r="r" t="t"/>
            <a:pathLst>
              <a:path extrusionOk="0" h="190500" w="166688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733425" y="6248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15 Entities</a:t>
            </a:r>
            <a:endParaRPr b="0" i="0" sz="1600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1747242" y="6267450"/>
            <a:ext cx="190500" cy="190500"/>
          </a:xfrm>
          <a:custGeom>
            <a:rect b="b" l="l" r="r" t="t"/>
            <a:pathLst>
              <a:path extrusionOk="0" h="190500" w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2075855" y="6248400"/>
            <a:ext cx="1162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3NF Normalized</a:t>
            </a:r>
            <a:endParaRPr b="0" i="0" sz="1600" u="none" cap="none" strike="noStrike"/>
          </a:p>
        </p:txBody>
      </p:sp>
      <p:sp>
        <p:nvSpPr>
          <p:cNvPr id="79" name="Google Shape;79;p15"/>
          <p:cNvSpPr/>
          <p:nvPr/>
        </p:nvSpPr>
        <p:spPr>
          <a:xfrm>
            <a:off x="3478411" y="6267450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818930" y="6248400"/>
            <a:ext cx="1666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MySQL Implementation</a:t>
            </a:r>
            <a:endParaRPr b="0" i="0" sz="1600" u="none" cap="none" strike="noStrike"/>
          </a:p>
        </p:txBody>
      </p:sp>
      <p:sp>
        <p:nvSpPr>
          <p:cNvPr id="81" name="Google Shape;81;p15"/>
          <p:cNvSpPr txBox="1"/>
          <p:nvPr/>
        </p:nvSpPr>
        <p:spPr>
          <a:xfrm>
            <a:off x="6270300" y="2718075"/>
            <a:ext cx="5571900" cy="17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Name: Aman Maddheshiya</a:t>
            </a:r>
            <a:endParaRPr b="1"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Application No: AP24110011314</a:t>
            </a:r>
            <a:endParaRPr b="1"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Section: ‘G’</a:t>
            </a:r>
            <a:endParaRPr b="1" sz="3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Navigation</a:t>
            </a:r>
            <a:endParaRPr b="0" i="0" sz="160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Presentation Overview</a:t>
            </a:r>
            <a:endParaRPr b="0" i="0" sz="1600" u="none" cap="none" strike="noStrike"/>
          </a:p>
        </p:txBody>
      </p:sp>
      <p:sp>
        <p:nvSpPr>
          <p:cNvPr id="89" name="Google Shape;89;p16"/>
          <p:cNvSpPr/>
          <p:nvPr/>
        </p:nvSpPr>
        <p:spPr>
          <a:xfrm>
            <a:off x="381000" y="1295400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90" name="Google Shape;90;p16"/>
          <p:cNvSpPr/>
          <p:nvPr/>
        </p:nvSpPr>
        <p:spPr>
          <a:xfrm>
            <a:off x="400050" y="1562100"/>
            <a:ext cx="5619750" cy="1619250"/>
          </a:xfrm>
          <a:custGeom>
            <a:rect b="b" l="l" r="r" t="t"/>
            <a:pathLst>
              <a:path extrusionOk="0" h="1619250" w="561975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43048"/>
                </a:lnTo>
                <a:cubicBezTo>
                  <a:pt x="5619750" y="1585133"/>
                  <a:pt x="5585633" y="1619250"/>
                  <a:pt x="55435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400050" y="1562100"/>
            <a:ext cx="38100" cy="1619250"/>
          </a:xfrm>
          <a:custGeom>
            <a:rect b="b" l="l" r="r" t="t"/>
            <a:pathLst>
              <a:path extrusionOk="0" h="1619250" w="3810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609600" y="18002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552450" y="1800225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01</a:t>
            </a:r>
            <a:endParaRPr b="0" i="0" sz="160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1295400" y="1914525"/>
            <a:ext cx="2057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609600" y="2447925"/>
            <a:ext cx="529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Project objectives, scope, and business context for the e-commerce database system</a:t>
            </a:r>
            <a:endParaRPr b="0" i="0" sz="1600" u="none" cap="none" strike="noStrike"/>
          </a:p>
        </p:txBody>
      </p:sp>
      <p:sp>
        <p:nvSpPr>
          <p:cNvPr id="96" name="Google Shape;96;p16"/>
          <p:cNvSpPr/>
          <p:nvPr/>
        </p:nvSpPr>
        <p:spPr>
          <a:xfrm>
            <a:off x="6191250" y="1562100"/>
            <a:ext cx="5619750" cy="1619250"/>
          </a:xfrm>
          <a:custGeom>
            <a:rect b="b" l="l" r="r" t="t"/>
            <a:pathLst>
              <a:path extrusionOk="0" h="1619250" w="561975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43048"/>
                </a:lnTo>
                <a:cubicBezTo>
                  <a:pt x="5619750" y="1585133"/>
                  <a:pt x="5585633" y="1619250"/>
                  <a:pt x="55435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6191250" y="1562100"/>
            <a:ext cx="38100" cy="1619250"/>
          </a:xfrm>
          <a:custGeom>
            <a:rect b="b" l="l" r="r" t="t"/>
            <a:pathLst>
              <a:path extrusionOk="0" h="1619250" w="3810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6"/>
          <p:cNvSpPr/>
          <p:nvPr/>
        </p:nvSpPr>
        <p:spPr>
          <a:xfrm>
            <a:off x="6400800" y="1924050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6343650" y="1924050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02</a:t>
            </a:r>
            <a:endParaRPr b="0" i="0" sz="16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7086600" y="2038350"/>
            <a:ext cx="18002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System Modules</a:t>
            </a:r>
            <a:endParaRPr b="0" i="0" sz="160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6400800" y="2571750"/>
            <a:ext cx="5295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Comprehensive breakdown of all functional modules and their responsibilities</a:t>
            </a:r>
            <a:endParaRPr b="0" i="0" sz="160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400050" y="3333750"/>
            <a:ext cx="5619750" cy="1619250"/>
          </a:xfrm>
          <a:custGeom>
            <a:rect b="b" l="l" r="r" t="t"/>
            <a:pathLst>
              <a:path extrusionOk="0" h="1619250" w="561975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43048"/>
                </a:lnTo>
                <a:cubicBezTo>
                  <a:pt x="5619750" y="1585133"/>
                  <a:pt x="5585633" y="1619250"/>
                  <a:pt x="55435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00050" y="3333750"/>
            <a:ext cx="38100" cy="1619250"/>
          </a:xfrm>
          <a:custGeom>
            <a:rect b="b" l="l" r="r" t="t"/>
            <a:pathLst>
              <a:path extrusionOk="0" h="1619250" w="3810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609600" y="357187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552450" y="3571875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03</a:t>
            </a:r>
            <a:endParaRPr b="0" i="0" sz="160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1295400" y="3686175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Entity-Relationship Diagram</a:t>
            </a:r>
            <a:endParaRPr b="0" i="0" sz="160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609600" y="4219575"/>
            <a:ext cx="5295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Complete ER model with entities, attributes, relationships, and cardinality constraints</a:t>
            </a:r>
            <a:endParaRPr b="0" i="0" sz="160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6191250" y="3333750"/>
            <a:ext cx="5619750" cy="1619250"/>
          </a:xfrm>
          <a:custGeom>
            <a:rect b="b" l="l" r="r" t="t"/>
            <a:pathLst>
              <a:path extrusionOk="0" h="1619250" w="5619750">
                <a:moveTo>
                  <a:pt x="38100" y="0"/>
                </a:moveTo>
                <a:lnTo>
                  <a:pt x="5543548" y="0"/>
                </a:lnTo>
                <a:cubicBezTo>
                  <a:pt x="5585633" y="0"/>
                  <a:pt x="5619750" y="34117"/>
                  <a:pt x="5619750" y="76202"/>
                </a:cubicBezTo>
                <a:lnTo>
                  <a:pt x="5619750" y="1543048"/>
                </a:lnTo>
                <a:cubicBezTo>
                  <a:pt x="5619750" y="1585133"/>
                  <a:pt x="5585633" y="1619250"/>
                  <a:pt x="5543548" y="1619250"/>
                </a:cubicBez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191250" y="3333750"/>
            <a:ext cx="38100" cy="1619250"/>
          </a:xfrm>
          <a:custGeom>
            <a:rect b="b" l="l" r="r" t="t"/>
            <a:pathLst>
              <a:path extrusionOk="0" h="1619250" w="38100">
                <a:moveTo>
                  <a:pt x="38100" y="0"/>
                </a:moveTo>
                <a:lnTo>
                  <a:pt x="38100" y="0"/>
                </a:lnTo>
                <a:lnTo>
                  <a:pt x="38100" y="1619250"/>
                </a:lnTo>
                <a:lnTo>
                  <a:pt x="38100" y="1619250"/>
                </a:lnTo>
                <a:cubicBezTo>
                  <a:pt x="17072" y="1619250"/>
                  <a:pt x="0" y="1602178"/>
                  <a:pt x="0" y="15811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6400800" y="3695700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6343650" y="3695700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04</a:t>
            </a:r>
            <a:endParaRPr b="0" i="0" sz="1600" u="none" cap="none" strike="noStrike"/>
          </a:p>
        </p:txBody>
      </p:sp>
      <p:sp>
        <p:nvSpPr>
          <p:cNvPr id="112" name="Google Shape;112;p16"/>
          <p:cNvSpPr/>
          <p:nvPr/>
        </p:nvSpPr>
        <p:spPr>
          <a:xfrm>
            <a:off x="7086600" y="3810000"/>
            <a:ext cx="1971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Relational Schema</a:t>
            </a:r>
            <a:endParaRPr b="0" i="0" sz="1600" u="none" cap="none" strike="noStrike"/>
          </a:p>
        </p:txBody>
      </p:sp>
      <p:sp>
        <p:nvSpPr>
          <p:cNvPr id="113" name="Google Shape;113;p16"/>
          <p:cNvSpPr/>
          <p:nvPr/>
        </p:nvSpPr>
        <p:spPr>
          <a:xfrm>
            <a:off x="6400800" y="4343400"/>
            <a:ext cx="5295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Conversion from ER diagram to relational tables with PKs, FKs, and constraints</a:t>
            </a:r>
            <a:endParaRPr b="0" i="0" sz="160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400050" y="5105400"/>
            <a:ext cx="11410950" cy="1371600"/>
          </a:xfrm>
          <a:custGeom>
            <a:rect b="b" l="l" r="r" t="t"/>
            <a:pathLst>
              <a:path extrusionOk="0" h="1371600" w="11410950">
                <a:moveTo>
                  <a:pt x="38100" y="0"/>
                </a:moveTo>
                <a:lnTo>
                  <a:pt x="11334744" y="0"/>
                </a:lnTo>
                <a:cubicBezTo>
                  <a:pt x="11376831" y="0"/>
                  <a:pt x="11410950" y="34119"/>
                  <a:pt x="11410950" y="76206"/>
                </a:cubicBezTo>
                <a:lnTo>
                  <a:pt x="11410950" y="1295394"/>
                </a:lnTo>
                <a:cubicBezTo>
                  <a:pt x="11410950" y="1337481"/>
                  <a:pt x="11376831" y="1371600"/>
                  <a:pt x="11334744" y="1371600"/>
                </a:cubicBez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00050" y="5105400"/>
            <a:ext cx="38100" cy="1371600"/>
          </a:xfrm>
          <a:custGeom>
            <a:rect b="b" l="l" r="r" t="t"/>
            <a:pathLst>
              <a:path extrusionOk="0" h="1371600" w="38100">
                <a:moveTo>
                  <a:pt x="38100" y="0"/>
                </a:moveTo>
                <a:lnTo>
                  <a:pt x="38100" y="0"/>
                </a:lnTo>
                <a:lnTo>
                  <a:pt x="38100" y="1371600"/>
                </a:lnTo>
                <a:lnTo>
                  <a:pt x="38100" y="1371600"/>
                </a:lnTo>
                <a:cubicBezTo>
                  <a:pt x="17072" y="1371600"/>
                  <a:pt x="0" y="1354528"/>
                  <a:pt x="0" y="1333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609600" y="5343525"/>
            <a:ext cx="533400" cy="533400"/>
          </a:xfrm>
          <a:custGeom>
            <a:rect b="b" l="l" r="r" t="t"/>
            <a:pathLst>
              <a:path extrusionOk="0" h="533400" w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52450" y="5343525"/>
            <a:ext cx="6477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Oranienbaum"/>
                <a:ea typeface="Oranienbaum"/>
                <a:cs typeface="Oranienbaum"/>
                <a:sym typeface="Oranienbaum"/>
              </a:rPr>
              <a:t>05</a:t>
            </a:r>
            <a:endParaRPr b="0" i="0" sz="160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1295400" y="5457825"/>
            <a:ext cx="2628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Implementation Features</a:t>
            </a:r>
            <a:endParaRPr b="0" i="0" sz="16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609600" y="5991225"/>
            <a:ext cx="110871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Advanced database features including triggers, stored procedures, views, and normalization analysis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379813" y="379813"/>
            <a:ext cx="11508336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96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Project Foundation</a:t>
            </a:r>
            <a:endParaRPr b="0" i="0" sz="160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379813" y="683664"/>
            <a:ext cx="11660262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89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Problem Statement</a:t>
            </a:r>
            <a:endParaRPr b="0" i="0" sz="160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379813" y="1291364"/>
            <a:ext cx="911551" cy="37981"/>
          </a:xfrm>
          <a:custGeom>
            <a:rect b="b" l="l" r="r" t="t"/>
            <a:pathLst>
              <a:path extrusionOk="0" h="37981" w="911551">
                <a:moveTo>
                  <a:pt x="0" y="0"/>
                </a:moveTo>
                <a:lnTo>
                  <a:pt x="911551" y="0"/>
                </a:lnTo>
                <a:lnTo>
                  <a:pt x="911551" y="37981"/>
                </a:lnTo>
                <a:lnTo>
                  <a:pt x="0" y="37981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28" name="Google Shape;128;p17"/>
          <p:cNvSpPr/>
          <p:nvPr/>
        </p:nvSpPr>
        <p:spPr>
          <a:xfrm>
            <a:off x="384561" y="1561981"/>
            <a:ext cx="5592748" cy="3351850"/>
          </a:xfrm>
          <a:custGeom>
            <a:rect b="b" l="l" r="r" t="t"/>
            <a:pathLst>
              <a:path extrusionOk="0" h="3351850" w="5592748">
                <a:moveTo>
                  <a:pt x="75953" y="0"/>
                </a:moveTo>
                <a:lnTo>
                  <a:pt x="5516795" y="0"/>
                </a:lnTo>
                <a:cubicBezTo>
                  <a:pt x="5558742" y="0"/>
                  <a:pt x="5592748" y="34005"/>
                  <a:pt x="5592748" y="75953"/>
                </a:cubicBezTo>
                <a:lnTo>
                  <a:pt x="5592748" y="3275898"/>
                </a:lnTo>
                <a:cubicBezTo>
                  <a:pt x="5592748" y="3317845"/>
                  <a:pt x="5558742" y="3351850"/>
                  <a:pt x="5516795" y="3351850"/>
                </a:cubicBezTo>
                <a:lnTo>
                  <a:pt x="75953" y="3351850"/>
                </a:lnTo>
                <a:cubicBezTo>
                  <a:pt x="34005" y="3351850"/>
                  <a:pt x="0" y="3317845"/>
                  <a:pt x="0" y="3275898"/>
                </a:cubicBezTo>
                <a:lnTo>
                  <a:pt x="0" y="75953"/>
                </a:lnTo>
                <a:cubicBezTo>
                  <a:pt x="0" y="34005"/>
                  <a:pt x="34005" y="0"/>
                  <a:pt x="75953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617196" y="1794617"/>
            <a:ext cx="455776" cy="455776"/>
          </a:xfrm>
          <a:custGeom>
            <a:rect b="b" l="l" r="r" t="t"/>
            <a:pathLst>
              <a:path extrusionOk="0" h="455776" w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>
            <a:off x="750131" y="1927551"/>
            <a:ext cx="189907" cy="189907"/>
          </a:xfrm>
          <a:custGeom>
            <a:rect b="b" l="l" r="r" t="t"/>
            <a:pathLst>
              <a:path extrusionOk="0" h="189907" w="189907">
                <a:moveTo>
                  <a:pt x="166168" y="94953"/>
                </a:moveTo>
                <a:cubicBezTo>
                  <a:pt x="166168" y="55649"/>
                  <a:pt x="134258" y="23738"/>
                  <a:pt x="94953" y="23738"/>
                </a:cubicBezTo>
                <a:cubicBezTo>
                  <a:pt x="55649" y="23738"/>
                  <a:pt x="23738" y="55649"/>
                  <a:pt x="23738" y="94953"/>
                </a:cubicBezTo>
                <a:cubicBezTo>
                  <a:pt x="23738" y="134258"/>
                  <a:pt x="55649" y="166168"/>
                  <a:pt x="94953" y="166168"/>
                </a:cubicBezTo>
                <a:cubicBezTo>
                  <a:pt x="134258" y="166168"/>
                  <a:pt x="166168" y="134258"/>
                  <a:pt x="166168" y="94953"/>
                </a:cubicBezTo>
                <a:close/>
                <a:moveTo>
                  <a:pt x="0" y="94953"/>
                </a:moveTo>
                <a:cubicBezTo>
                  <a:pt x="0" y="42547"/>
                  <a:pt x="42547" y="0"/>
                  <a:pt x="94953" y="0"/>
                </a:cubicBezTo>
                <a:cubicBezTo>
                  <a:pt x="147359" y="0"/>
                  <a:pt x="189907" y="42547"/>
                  <a:pt x="189907" y="94953"/>
                </a:cubicBezTo>
                <a:cubicBezTo>
                  <a:pt x="189907" y="147359"/>
                  <a:pt x="147359" y="189907"/>
                  <a:pt x="94953" y="189907"/>
                </a:cubicBezTo>
                <a:cubicBezTo>
                  <a:pt x="42547" y="189907"/>
                  <a:pt x="0" y="147359"/>
                  <a:pt x="0" y="94953"/>
                </a:cubicBezTo>
                <a:close/>
                <a:moveTo>
                  <a:pt x="94953" y="124626"/>
                </a:moveTo>
                <a:cubicBezTo>
                  <a:pt x="111330" y="124626"/>
                  <a:pt x="124626" y="111330"/>
                  <a:pt x="124626" y="94953"/>
                </a:cubicBezTo>
                <a:cubicBezTo>
                  <a:pt x="124626" y="78576"/>
                  <a:pt x="111330" y="65280"/>
                  <a:pt x="94953" y="65280"/>
                </a:cubicBezTo>
                <a:cubicBezTo>
                  <a:pt x="78576" y="65280"/>
                  <a:pt x="65280" y="78576"/>
                  <a:pt x="65280" y="94953"/>
                </a:cubicBezTo>
                <a:cubicBezTo>
                  <a:pt x="65280" y="111330"/>
                  <a:pt x="78576" y="124626"/>
                  <a:pt x="94953" y="124626"/>
                </a:cubicBezTo>
                <a:close/>
                <a:moveTo>
                  <a:pt x="94953" y="41542"/>
                </a:moveTo>
                <a:cubicBezTo>
                  <a:pt x="124432" y="41542"/>
                  <a:pt x="148364" y="65475"/>
                  <a:pt x="148364" y="94953"/>
                </a:cubicBezTo>
                <a:cubicBezTo>
                  <a:pt x="148364" y="124432"/>
                  <a:pt x="124432" y="148364"/>
                  <a:pt x="94953" y="148364"/>
                </a:cubicBezTo>
                <a:cubicBezTo>
                  <a:pt x="65475" y="148364"/>
                  <a:pt x="41542" y="124432"/>
                  <a:pt x="41542" y="94953"/>
                </a:cubicBezTo>
                <a:cubicBezTo>
                  <a:pt x="41542" y="65475"/>
                  <a:pt x="65475" y="41542"/>
                  <a:pt x="94953" y="41542"/>
                </a:cubicBezTo>
                <a:close/>
                <a:moveTo>
                  <a:pt x="83084" y="94953"/>
                </a:moveTo>
                <a:cubicBezTo>
                  <a:pt x="83084" y="88403"/>
                  <a:pt x="88403" y="83084"/>
                  <a:pt x="94953" y="83084"/>
                </a:cubicBezTo>
                <a:cubicBezTo>
                  <a:pt x="101504" y="83084"/>
                  <a:pt x="106822" y="88403"/>
                  <a:pt x="106822" y="94953"/>
                </a:cubicBezTo>
                <a:cubicBezTo>
                  <a:pt x="106822" y="101504"/>
                  <a:pt x="101504" y="106822"/>
                  <a:pt x="94953" y="106822"/>
                </a:cubicBezTo>
                <a:cubicBezTo>
                  <a:pt x="88403" y="106822"/>
                  <a:pt x="83084" y="101504"/>
                  <a:pt x="83084" y="9495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>
            <a:off x="1186916" y="1870579"/>
            <a:ext cx="1072972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Objective</a:t>
            </a:r>
            <a:endParaRPr b="0" i="0" sz="160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617196" y="2402318"/>
            <a:ext cx="5203439" cy="987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Design and implement a comprehensive database system for an </a:t>
            </a:r>
            <a:r>
              <a:rPr b="1" i="0" lang="en-US" sz="1196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Online Shopping Application</a:t>
            </a: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that efficiently manages all aspects of e-commerce operations including customer management, product cataloging, inventory tracking, order processing, and payment handling.</a:t>
            </a:r>
            <a:endParaRPr b="0" i="0" sz="160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636187" y="3579738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921047" y="3541757"/>
            <a:ext cx="4310879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Enable seamless customer registration and profile management</a:t>
            </a:r>
            <a:endParaRPr b="0" i="0" sz="160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636187" y="3883589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921047" y="3845607"/>
            <a:ext cx="4605234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Support complex product categorization with hierarchical structures</a:t>
            </a:r>
            <a:endParaRPr b="0" i="0" sz="16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636187" y="4187439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>
            <a:off x="921047" y="4149458"/>
            <a:ext cx="3038505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Maintain real-time inventory synchronization</a:t>
            </a:r>
            <a:endParaRPr b="0" i="0" sz="160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636187" y="4491290"/>
            <a:ext cx="151925" cy="151925"/>
          </a:xfrm>
          <a:custGeom>
            <a:rect b="b" l="l" r="r" t="t"/>
            <a:pathLst>
              <a:path extrusionOk="0" h="151925" w="151925">
                <a:moveTo>
                  <a:pt x="75963" y="151925"/>
                </a:moveTo>
                <a:cubicBezTo>
                  <a:pt x="117888" y="151925"/>
                  <a:pt x="151925" y="117888"/>
                  <a:pt x="151925" y="75963"/>
                </a:cubicBezTo>
                <a:cubicBezTo>
                  <a:pt x="151925" y="34038"/>
                  <a:pt x="117888" y="0"/>
                  <a:pt x="75963" y="0"/>
                </a:cubicBezTo>
                <a:cubicBezTo>
                  <a:pt x="34038" y="0"/>
                  <a:pt x="0" y="34038"/>
                  <a:pt x="0" y="75963"/>
                </a:cubicBezTo>
                <a:cubicBezTo>
                  <a:pt x="0" y="117888"/>
                  <a:pt x="34038" y="151925"/>
                  <a:pt x="75963" y="151925"/>
                </a:cubicBezTo>
                <a:close/>
                <a:moveTo>
                  <a:pt x="101007" y="63114"/>
                </a:moveTo>
                <a:lnTo>
                  <a:pt x="77268" y="101096"/>
                </a:lnTo>
                <a:cubicBezTo>
                  <a:pt x="76022" y="103084"/>
                  <a:pt x="73886" y="104330"/>
                  <a:pt x="71541" y="104449"/>
                </a:cubicBezTo>
                <a:cubicBezTo>
                  <a:pt x="69197" y="104567"/>
                  <a:pt x="66942" y="103499"/>
                  <a:pt x="65547" y="101600"/>
                </a:cubicBezTo>
                <a:lnTo>
                  <a:pt x="51304" y="82609"/>
                </a:lnTo>
                <a:cubicBezTo>
                  <a:pt x="48931" y="79464"/>
                  <a:pt x="49583" y="75013"/>
                  <a:pt x="52729" y="72639"/>
                </a:cubicBezTo>
                <a:cubicBezTo>
                  <a:pt x="55874" y="70265"/>
                  <a:pt x="60325" y="70918"/>
                  <a:pt x="62699" y="74064"/>
                </a:cubicBezTo>
                <a:lnTo>
                  <a:pt x="70711" y="84746"/>
                </a:lnTo>
                <a:lnTo>
                  <a:pt x="88930" y="55577"/>
                </a:lnTo>
                <a:cubicBezTo>
                  <a:pt x="91007" y="52254"/>
                  <a:pt x="95398" y="51215"/>
                  <a:pt x="98751" y="53322"/>
                </a:cubicBezTo>
                <a:cubicBezTo>
                  <a:pt x="102104" y="55429"/>
                  <a:pt x="103113" y="59791"/>
                  <a:pt x="101007" y="63144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921047" y="4453308"/>
            <a:ext cx="2573234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Process secure payment transactions</a:t>
            </a:r>
            <a:endParaRPr b="0" i="0" sz="1600" u="none" cap="none" strike="noStrike"/>
          </a:p>
        </p:txBody>
      </p:sp>
      <p:sp>
        <p:nvSpPr>
          <p:cNvPr id="141" name="Google Shape;141;p17"/>
          <p:cNvSpPr/>
          <p:nvPr/>
        </p:nvSpPr>
        <p:spPr>
          <a:xfrm>
            <a:off x="384561" y="5113234"/>
            <a:ext cx="5592748" cy="1509757"/>
          </a:xfrm>
          <a:custGeom>
            <a:rect b="b" l="l" r="r" t="t"/>
            <a:pathLst>
              <a:path extrusionOk="0" h="1509757" w="5592748">
                <a:moveTo>
                  <a:pt x="75956" y="0"/>
                </a:moveTo>
                <a:lnTo>
                  <a:pt x="5516792" y="0"/>
                </a:lnTo>
                <a:cubicBezTo>
                  <a:pt x="5558741" y="0"/>
                  <a:pt x="5592748" y="34007"/>
                  <a:pt x="5592748" y="75956"/>
                </a:cubicBezTo>
                <a:lnTo>
                  <a:pt x="5592748" y="1433801"/>
                </a:lnTo>
                <a:cubicBezTo>
                  <a:pt x="5592748" y="1475750"/>
                  <a:pt x="5558741" y="1509757"/>
                  <a:pt x="5516792" y="1509757"/>
                </a:cubicBezTo>
                <a:lnTo>
                  <a:pt x="75956" y="1509757"/>
                </a:lnTo>
                <a:cubicBezTo>
                  <a:pt x="34007" y="1509757"/>
                  <a:pt x="0" y="1475750"/>
                  <a:pt x="0" y="1433801"/>
                </a:cubicBezTo>
                <a:lnTo>
                  <a:pt x="0" y="75956"/>
                </a:lnTo>
                <a:cubicBezTo>
                  <a:pt x="0" y="34035"/>
                  <a:pt x="34035" y="0"/>
                  <a:pt x="75956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602953" y="5345869"/>
            <a:ext cx="189907" cy="189907"/>
          </a:xfrm>
          <a:custGeom>
            <a:rect b="b" l="l" r="r" t="t"/>
            <a:pathLst>
              <a:path extrusionOk="0" h="189907" w="189907">
                <a:moveTo>
                  <a:pt x="23738" y="23738"/>
                </a:moveTo>
                <a:cubicBezTo>
                  <a:pt x="23738" y="17173"/>
                  <a:pt x="18434" y="11869"/>
                  <a:pt x="11869" y="11869"/>
                </a:cubicBezTo>
                <a:cubicBezTo>
                  <a:pt x="5304" y="11869"/>
                  <a:pt x="0" y="17173"/>
                  <a:pt x="0" y="23738"/>
                </a:cubicBezTo>
                <a:lnTo>
                  <a:pt x="0" y="148364"/>
                </a:lnTo>
                <a:cubicBezTo>
                  <a:pt x="0" y="164759"/>
                  <a:pt x="13279" y="178037"/>
                  <a:pt x="29673" y="178037"/>
                </a:cubicBezTo>
                <a:lnTo>
                  <a:pt x="178037" y="178037"/>
                </a:lnTo>
                <a:cubicBezTo>
                  <a:pt x="184603" y="178037"/>
                  <a:pt x="189907" y="172733"/>
                  <a:pt x="189907" y="166168"/>
                </a:cubicBezTo>
                <a:cubicBezTo>
                  <a:pt x="189907" y="159603"/>
                  <a:pt x="184603" y="154299"/>
                  <a:pt x="178037" y="154299"/>
                </a:cubicBezTo>
                <a:lnTo>
                  <a:pt x="29673" y="154299"/>
                </a:lnTo>
                <a:cubicBezTo>
                  <a:pt x="26409" y="154299"/>
                  <a:pt x="23738" y="151629"/>
                  <a:pt x="23738" y="148364"/>
                </a:cubicBezTo>
                <a:lnTo>
                  <a:pt x="23738" y="23738"/>
                </a:lnTo>
                <a:close/>
                <a:moveTo>
                  <a:pt x="174551" y="55859"/>
                </a:moveTo>
                <a:cubicBezTo>
                  <a:pt x="179187" y="51223"/>
                  <a:pt x="179187" y="43693"/>
                  <a:pt x="174551" y="39057"/>
                </a:cubicBezTo>
                <a:cubicBezTo>
                  <a:pt x="169914" y="34421"/>
                  <a:pt x="162385" y="34421"/>
                  <a:pt x="157749" y="39057"/>
                </a:cubicBezTo>
                <a:lnTo>
                  <a:pt x="118692" y="78151"/>
                </a:lnTo>
                <a:lnTo>
                  <a:pt x="97401" y="56898"/>
                </a:lnTo>
                <a:cubicBezTo>
                  <a:pt x="92765" y="52261"/>
                  <a:pt x="85235" y="52261"/>
                  <a:pt x="80599" y="56898"/>
                </a:cubicBezTo>
                <a:lnTo>
                  <a:pt x="44992" y="92505"/>
                </a:lnTo>
                <a:cubicBezTo>
                  <a:pt x="40355" y="97142"/>
                  <a:pt x="40355" y="104671"/>
                  <a:pt x="44992" y="109308"/>
                </a:cubicBezTo>
                <a:cubicBezTo>
                  <a:pt x="49628" y="113944"/>
                  <a:pt x="57157" y="113944"/>
                  <a:pt x="61794" y="109308"/>
                </a:cubicBezTo>
                <a:lnTo>
                  <a:pt x="89019" y="82083"/>
                </a:lnTo>
                <a:lnTo>
                  <a:pt x="110309" y="103373"/>
                </a:lnTo>
                <a:cubicBezTo>
                  <a:pt x="114945" y="108009"/>
                  <a:pt x="122475" y="108009"/>
                  <a:pt x="127111" y="103373"/>
                </a:cubicBezTo>
                <a:lnTo>
                  <a:pt x="174588" y="55896"/>
                </a:ln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930542" y="5307888"/>
            <a:ext cx="1547738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9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Business Context</a:t>
            </a:r>
            <a:endParaRPr b="0" i="0" sz="1600" u="none" cap="none" strike="noStrike"/>
          </a:p>
        </p:txBody>
      </p:sp>
      <p:sp>
        <p:nvSpPr>
          <p:cNvPr id="144" name="Google Shape;144;p17"/>
          <p:cNvSpPr/>
          <p:nvPr/>
        </p:nvSpPr>
        <p:spPr>
          <a:xfrm>
            <a:off x="579215" y="5687701"/>
            <a:ext cx="5279402" cy="7406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Modern e-commerce platforms require robust backend systems capable of handling high-volume transactions, complex product relationships, and real-time inventory management while ensuring data integrity and security.</a:t>
            </a:r>
            <a:endParaRPr b="0" i="0" sz="1600" u="none" cap="none" strike="noStrike"/>
          </a:p>
        </p:txBody>
      </p:sp>
      <p:sp>
        <p:nvSpPr>
          <p:cNvPr id="145" name="Google Shape;145;p17"/>
          <p:cNvSpPr/>
          <p:nvPr/>
        </p:nvSpPr>
        <p:spPr>
          <a:xfrm>
            <a:off x="6212540" y="1561981"/>
            <a:ext cx="5592748" cy="3997533"/>
          </a:xfrm>
          <a:custGeom>
            <a:rect b="b" l="l" r="r" t="t"/>
            <a:pathLst>
              <a:path extrusionOk="0" h="3997533" w="5592748">
                <a:moveTo>
                  <a:pt x="75953" y="0"/>
                </a:moveTo>
                <a:lnTo>
                  <a:pt x="5516795" y="0"/>
                </a:lnTo>
                <a:cubicBezTo>
                  <a:pt x="5558742" y="0"/>
                  <a:pt x="5592748" y="34005"/>
                  <a:pt x="5592748" y="75953"/>
                </a:cubicBezTo>
                <a:lnTo>
                  <a:pt x="5592748" y="3921580"/>
                </a:lnTo>
                <a:cubicBezTo>
                  <a:pt x="5592748" y="3963527"/>
                  <a:pt x="5558742" y="3997533"/>
                  <a:pt x="5516795" y="3997533"/>
                </a:cubicBezTo>
                <a:lnTo>
                  <a:pt x="75953" y="3997533"/>
                </a:lnTo>
                <a:cubicBezTo>
                  <a:pt x="34005" y="3997533"/>
                  <a:pt x="0" y="3963527"/>
                  <a:pt x="0" y="3921580"/>
                </a:cubicBezTo>
                <a:lnTo>
                  <a:pt x="0" y="75953"/>
                </a:lnTo>
                <a:cubicBezTo>
                  <a:pt x="0" y="34033"/>
                  <a:pt x="34033" y="0"/>
                  <a:pt x="75953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 cap="flat" cmpd="sng" w="12700">
            <a:solidFill>
              <a:srgbClr val="5F6B7A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6445176" y="1794617"/>
            <a:ext cx="455776" cy="455776"/>
          </a:xfrm>
          <a:custGeom>
            <a:rect b="b" l="l" r="r" t="t"/>
            <a:pathLst>
              <a:path extrusionOk="0" h="455776" w="455776">
                <a:moveTo>
                  <a:pt x="75964" y="0"/>
                </a:moveTo>
                <a:lnTo>
                  <a:pt x="379812" y="0"/>
                </a:lnTo>
                <a:cubicBezTo>
                  <a:pt x="421737" y="0"/>
                  <a:pt x="455776" y="34038"/>
                  <a:pt x="455776" y="75964"/>
                </a:cubicBezTo>
                <a:lnTo>
                  <a:pt x="455776" y="379812"/>
                </a:lnTo>
                <a:cubicBezTo>
                  <a:pt x="455776" y="421765"/>
                  <a:pt x="421765" y="455776"/>
                  <a:pt x="379812" y="455776"/>
                </a:cubicBezTo>
                <a:lnTo>
                  <a:pt x="75964" y="455776"/>
                </a:lnTo>
                <a:cubicBezTo>
                  <a:pt x="34038" y="455776"/>
                  <a:pt x="0" y="421737"/>
                  <a:pt x="0" y="379812"/>
                </a:cubicBezTo>
                <a:lnTo>
                  <a:pt x="0" y="75964"/>
                </a:lnTo>
                <a:cubicBezTo>
                  <a:pt x="0" y="34038"/>
                  <a:pt x="34038" y="0"/>
                  <a:pt x="75964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6589980" y="1927551"/>
            <a:ext cx="166168" cy="189907"/>
          </a:xfrm>
          <a:custGeom>
            <a:rect b="b" l="l" r="r" t="t"/>
            <a:pathLst>
              <a:path extrusionOk="0" h="189907" w="166168">
                <a:moveTo>
                  <a:pt x="62313" y="11869"/>
                </a:moveTo>
                <a:lnTo>
                  <a:pt x="8902" y="11869"/>
                </a:lnTo>
                <a:cubicBezTo>
                  <a:pt x="3969" y="11869"/>
                  <a:pt x="0" y="15838"/>
                  <a:pt x="0" y="20771"/>
                </a:cubicBezTo>
                <a:lnTo>
                  <a:pt x="0" y="74182"/>
                </a:lnTo>
                <a:cubicBezTo>
                  <a:pt x="0" y="77780"/>
                  <a:pt x="2151" y="81044"/>
                  <a:pt x="5489" y="82416"/>
                </a:cubicBezTo>
                <a:cubicBezTo>
                  <a:pt x="8828" y="83789"/>
                  <a:pt x="12648" y="83010"/>
                  <a:pt x="15207" y="80488"/>
                </a:cubicBezTo>
                <a:lnTo>
                  <a:pt x="30044" y="65651"/>
                </a:lnTo>
                <a:lnTo>
                  <a:pt x="59346" y="94953"/>
                </a:lnTo>
                <a:lnTo>
                  <a:pt x="30044" y="124255"/>
                </a:lnTo>
                <a:lnTo>
                  <a:pt x="15207" y="109419"/>
                </a:lnTo>
                <a:cubicBezTo>
                  <a:pt x="12648" y="106860"/>
                  <a:pt x="8828" y="106118"/>
                  <a:pt x="5489" y="107490"/>
                </a:cubicBezTo>
                <a:cubicBezTo>
                  <a:pt x="2151" y="108862"/>
                  <a:pt x="0" y="112126"/>
                  <a:pt x="0" y="115724"/>
                </a:cubicBezTo>
                <a:lnTo>
                  <a:pt x="0" y="169136"/>
                </a:lnTo>
                <a:cubicBezTo>
                  <a:pt x="0" y="174069"/>
                  <a:pt x="3969" y="178037"/>
                  <a:pt x="8902" y="178037"/>
                </a:cubicBezTo>
                <a:lnTo>
                  <a:pt x="62313" y="178037"/>
                </a:lnTo>
                <a:cubicBezTo>
                  <a:pt x="65911" y="178037"/>
                  <a:pt x="69175" y="175886"/>
                  <a:pt x="70547" y="172548"/>
                </a:cubicBezTo>
                <a:cubicBezTo>
                  <a:pt x="71920" y="169210"/>
                  <a:pt x="71178" y="165389"/>
                  <a:pt x="68619" y="162830"/>
                </a:cubicBezTo>
                <a:lnTo>
                  <a:pt x="53782" y="147994"/>
                </a:lnTo>
                <a:lnTo>
                  <a:pt x="83084" y="118692"/>
                </a:lnTo>
                <a:lnTo>
                  <a:pt x="112386" y="147994"/>
                </a:lnTo>
                <a:lnTo>
                  <a:pt x="97550" y="162830"/>
                </a:lnTo>
                <a:cubicBezTo>
                  <a:pt x="94990" y="165389"/>
                  <a:pt x="94249" y="169210"/>
                  <a:pt x="95621" y="172548"/>
                </a:cubicBezTo>
                <a:cubicBezTo>
                  <a:pt x="96993" y="175886"/>
                  <a:pt x="100257" y="178037"/>
                  <a:pt x="103855" y="178037"/>
                </a:cubicBezTo>
                <a:lnTo>
                  <a:pt x="157266" y="178037"/>
                </a:lnTo>
                <a:cubicBezTo>
                  <a:pt x="162199" y="178037"/>
                  <a:pt x="166168" y="174069"/>
                  <a:pt x="166168" y="169136"/>
                </a:cubicBezTo>
                <a:lnTo>
                  <a:pt x="166168" y="115724"/>
                </a:lnTo>
                <a:cubicBezTo>
                  <a:pt x="166168" y="112126"/>
                  <a:pt x="164017" y="108862"/>
                  <a:pt x="160679" y="107490"/>
                </a:cubicBezTo>
                <a:cubicBezTo>
                  <a:pt x="157341" y="106118"/>
                  <a:pt x="153520" y="106860"/>
                  <a:pt x="150961" y="109419"/>
                </a:cubicBezTo>
                <a:lnTo>
                  <a:pt x="136124" y="124255"/>
                </a:lnTo>
                <a:lnTo>
                  <a:pt x="106822" y="94953"/>
                </a:lnTo>
                <a:lnTo>
                  <a:pt x="136124" y="65651"/>
                </a:lnTo>
                <a:lnTo>
                  <a:pt x="150961" y="80488"/>
                </a:lnTo>
                <a:cubicBezTo>
                  <a:pt x="153520" y="83047"/>
                  <a:pt x="157341" y="83789"/>
                  <a:pt x="160679" y="82416"/>
                </a:cubicBezTo>
                <a:cubicBezTo>
                  <a:pt x="164017" y="81044"/>
                  <a:pt x="166168" y="77780"/>
                  <a:pt x="166168" y="74182"/>
                </a:cubicBezTo>
                <a:lnTo>
                  <a:pt x="166168" y="20771"/>
                </a:lnTo>
                <a:cubicBezTo>
                  <a:pt x="166168" y="15838"/>
                  <a:pt x="162199" y="11869"/>
                  <a:pt x="157266" y="11869"/>
                </a:cubicBezTo>
                <a:lnTo>
                  <a:pt x="103855" y="11869"/>
                </a:lnTo>
                <a:cubicBezTo>
                  <a:pt x="100257" y="11869"/>
                  <a:pt x="96993" y="14020"/>
                  <a:pt x="95621" y="17359"/>
                </a:cubicBezTo>
                <a:cubicBezTo>
                  <a:pt x="94249" y="20697"/>
                  <a:pt x="95027" y="24517"/>
                  <a:pt x="97550" y="27077"/>
                </a:cubicBezTo>
                <a:lnTo>
                  <a:pt x="112386" y="41913"/>
                </a:lnTo>
                <a:lnTo>
                  <a:pt x="83084" y="71215"/>
                </a:lnTo>
                <a:lnTo>
                  <a:pt x="53782" y="41913"/>
                </a:lnTo>
                <a:lnTo>
                  <a:pt x="68619" y="27077"/>
                </a:lnTo>
                <a:cubicBezTo>
                  <a:pt x="71178" y="24517"/>
                  <a:pt x="71920" y="20697"/>
                  <a:pt x="70547" y="17359"/>
                </a:cubicBezTo>
                <a:cubicBezTo>
                  <a:pt x="69175" y="14020"/>
                  <a:pt x="65911" y="11869"/>
                  <a:pt x="62313" y="118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014895" y="1870579"/>
            <a:ext cx="750131" cy="303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94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Scope</a:t>
            </a:r>
            <a:endParaRPr b="0" i="0" sz="1600" u="none" cap="none" strike="noStrike"/>
          </a:p>
        </p:txBody>
      </p:sp>
      <p:sp>
        <p:nvSpPr>
          <p:cNvPr id="149" name="Google Shape;149;p17"/>
          <p:cNvSpPr/>
          <p:nvPr/>
        </p:nvSpPr>
        <p:spPr>
          <a:xfrm>
            <a:off x="6454671" y="2402318"/>
            <a:ext cx="18991" cy="759626"/>
          </a:xfrm>
          <a:custGeom>
            <a:rect b="b" l="l" r="r" t="t"/>
            <a:pathLst>
              <a:path extrusionOk="0" h="759626" w="18991">
                <a:moveTo>
                  <a:pt x="0" y="0"/>
                </a:moveTo>
                <a:lnTo>
                  <a:pt x="18991" y="0"/>
                </a:lnTo>
                <a:lnTo>
                  <a:pt x="18991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50" name="Google Shape;150;p17"/>
          <p:cNvSpPr/>
          <p:nvPr/>
        </p:nvSpPr>
        <p:spPr>
          <a:xfrm>
            <a:off x="6616092" y="2402318"/>
            <a:ext cx="504201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Core Functionality</a:t>
            </a:r>
            <a:endParaRPr b="0" i="0" sz="1600" u="none" cap="none" strike="noStrike"/>
          </a:p>
        </p:txBody>
      </p:sp>
      <p:sp>
        <p:nvSpPr>
          <p:cNvPr id="151" name="Google Shape;151;p17"/>
          <p:cNvSpPr/>
          <p:nvPr/>
        </p:nvSpPr>
        <p:spPr>
          <a:xfrm>
            <a:off x="6616092" y="2706168"/>
            <a:ext cx="5032523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 management, product catalog, shopping cart, order processing, payment integration</a:t>
            </a:r>
            <a:endParaRPr b="0" i="0" sz="1600" u="none" cap="none" strike="noStrike"/>
          </a:p>
        </p:txBody>
      </p:sp>
      <p:sp>
        <p:nvSpPr>
          <p:cNvPr id="152" name="Google Shape;152;p17"/>
          <p:cNvSpPr/>
          <p:nvPr/>
        </p:nvSpPr>
        <p:spPr>
          <a:xfrm>
            <a:off x="6454671" y="3275888"/>
            <a:ext cx="18991" cy="531738"/>
          </a:xfrm>
          <a:custGeom>
            <a:rect b="b" l="l" r="r" t="t"/>
            <a:pathLst>
              <a:path extrusionOk="0" h="531738" w="18991">
                <a:moveTo>
                  <a:pt x="0" y="0"/>
                </a:moveTo>
                <a:lnTo>
                  <a:pt x="18991" y="0"/>
                </a:lnTo>
                <a:lnTo>
                  <a:pt x="18991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53" name="Google Shape;153;p17"/>
          <p:cNvSpPr/>
          <p:nvPr/>
        </p:nvSpPr>
        <p:spPr>
          <a:xfrm>
            <a:off x="6616092" y="3275888"/>
            <a:ext cx="504201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Advanced Features</a:t>
            </a:r>
            <a:endParaRPr b="0" i="0" sz="1600" u="none" cap="none" strike="noStrike"/>
          </a:p>
        </p:txBody>
      </p:sp>
      <p:sp>
        <p:nvSpPr>
          <p:cNvPr id="154" name="Google Shape;154;p17"/>
          <p:cNvSpPr/>
          <p:nvPr/>
        </p:nvSpPr>
        <p:spPr>
          <a:xfrm>
            <a:off x="6616092" y="3579738"/>
            <a:ext cx="5032523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Coupon system, wishlist management, product reviews, inventory tracking</a:t>
            </a:r>
            <a:endParaRPr b="0" i="0" sz="1600" u="none" cap="none" strike="noStrike"/>
          </a:p>
        </p:txBody>
      </p:sp>
      <p:sp>
        <p:nvSpPr>
          <p:cNvPr id="155" name="Google Shape;155;p17"/>
          <p:cNvSpPr/>
          <p:nvPr/>
        </p:nvSpPr>
        <p:spPr>
          <a:xfrm>
            <a:off x="6454671" y="3921570"/>
            <a:ext cx="18991" cy="531738"/>
          </a:xfrm>
          <a:custGeom>
            <a:rect b="b" l="l" r="r" t="t"/>
            <a:pathLst>
              <a:path extrusionOk="0" h="531738" w="18991">
                <a:moveTo>
                  <a:pt x="0" y="0"/>
                </a:moveTo>
                <a:lnTo>
                  <a:pt x="18991" y="0"/>
                </a:lnTo>
                <a:lnTo>
                  <a:pt x="18991" y="531738"/>
                </a:lnTo>
                <a:lnTo>
                  <a:pt x="0" y="5317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56" name="Google Shape;156;p17"/>
          <p:cNvSpPr/>
          <p:nvPr/>
        </p:nvSpPr>
        <p:spPr>
          <a:xfrm>
            <a:off x="6616092" y="3921570"/>
            <a:ext cx="504201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Data Integrity</a:t>
            </a:r>
            <a:endParaRPr b="0" i="0" sz="1600" u="none" cap="none" strike="noStrike"/>
          </a:p>
        </p:txBody>
      </p:sp>
      <p:sp>
        <p:nvSpPr>
          <p:cNvPr id="157" name="Google Shape;157;p17"/>
          <p:cNvSpPr/>
          <p:nvPr/>
        </p:nvSpPr>
        <p:spPr>
          <a:xfrm>
            <a:off x="6616092" y="4225421"/>
            <a:ext cx="5032523" cy="227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Referential integrity, ACID compliance, normalization up to 3NF</a:t>
            </a:r>
            <a:endParaRPr b="0" i="0" sz="1600" u="none" cap="none" strike="noStrike"/>
          </a:p>
        </p:txBody>
      </p:sp>
      <p:sp>
        <p:nvSpPr>
          <p:cNvPr id="158" name="Google Shape;158;p17"/>
          <p:cNvSpPr/>
          <p:nvPr/>
        </p:nvSpPr>
        <p:spPr>
          <a:xfrm>
            <a:off x="6454671" y="4567252"/>
            <a:ext cx="18991" cy="759626"/>
          </a:xfrm>
          <a:custGeom>
            <a:rect b="b" l="l" r="r" t="t"/>
            <a:pathLst>
              <a:path extrusionOk="0" h="759626" w="18991">
                <a:moveTo>
                  <a:pt x="0" y="0"/>
                </a:moveTo>
                <a:lnTo>
                  <a:pt x="18991" y="0"/>
                </a:lnTo>
                <a:lnTo>
                  <a:pt x="18991" y="759626"/>
                </a:lnTo>
                <a:lnTo>
                  <a:pt x="0" y="759626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59" name="Google Shape;159;p17"/>
          <p:cNvSpPr/>
          <p:nvPr/>
        </p:nvSpPr>
        <p:spPr>
          <a:xfrm>
            <a:off x="6616092" y="4567252"/>
            <a:ext cx="5042019" cy="26586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4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Automation</a:t>
            </a:r>
            <a:endParaRPr b="0" i="0" sz="1600" u="none" cap="none" strike="noStrike"/>
          </a:p>
        </p:txBody>
      </p:sp>
      <p:sp>
        <p:nvSpPr>
          <p:cNvPr id="160" name="Google Shape;160;p17"/>
          <p:cNvSpPr/>
          <p:nvPr/>
        </p:nvSpPr>
        <p:spPr>
          <a:xfrm>
            <a:off x="6616092" y="4871103"/>
            <a:ext cx="5032523" cy="455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9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Triggers for inventory management, stored procedures for order placement</a:t>
            </a:r>
            <a:endParaRPr b="0" i="0" sz="1600" u="none" cap="none" strike="noStrike"/>
          </a:p>
        </p:txBody>
      </p:sp>
      <p:sp>
        <p:nvSpPr>
          <p:cNvPr id="161" name="Google Shape;161;p17"/>
          <p:cNvSpPr/>
          <p:nvPr/>
        </p:nvSpPr>
        <p:spPr>
          <a:xfrm>
            <a:off x="6207793" y="5754168"/>
            <a:ext cx="1794617" cy="873570"/>
          </a:xfrm>
          <a:custGeom>
            <a:rect b="b" l="l" r="r" t="t"/>
            <a:pathLst>
              <a:path extrusionOk="0" h="873570" w="1794617">
                <a:moveTo>
                  <a:pt x="75966" y="0"/>
                </a:moveTo>
                <a:lnTo>
                  <a:pt x="1718651" y="0"/>
                </a:lnTo>
                <a:cubicBezTo>
                  <a:pt x="1760606" y="0"/>
                  <a:pt x="1794617" y="34011"/>
                  <a:pt x="1794617" y="75966"/>
                </a:cubicBezTo>
                <a:lnTo>
                  <a:pt x="1794617" y="797604"/>
                </a:lnTo>
                <a:cubicBezTo>
                  <a:pt x="1794617" y="839559"/>
                  <a:pt x="1760606" y="873570"/>
                  <a:pt x="1718651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6288503" y="5906093"/>
            <a:ext cx="1633196" cy="3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15</a:t>
            </a:r>
            <a:endParaRPr b="0" i="0" sz="1600" u="none" cap="none" strike="noStrike"/>
          </a:p>
        </p:txBody>
      </p:sp>
      <p:sp>
        <p:nvSpPr>
          <p:cNvPr id="163" name="Google Shape;163;p17"/>
          <p:cNvSpPr/>
          <p:nvPr/>
        </p:nvSpPr>
        <p:spPr>
          <a:xfrm>
            <a:off x="6326484" y="6285907"/>
            <a:ext cx="1557234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Tables</a:t>
            </a:r>
            <a:endParaRPr b="0" i="0" sz="1600" u="none" cap="none" strike="noStrike"/>
          </a:p>
        </p:txBody>
      </p:sp>
      <p:sp>
        <p:nvSpPr>
          <p:cNvPr id="164" name="Google Shape;164;p17"/>
          <p:cNvSpPr/>
          <p:nvPr/>
        </p:nvSpPr>
        <p:spPr>
          <a:xfrm>
            <a:off x="8112496" y="5754168"/>
            <a:ext cx="1794617" cy="873570"/>
          </a:xfrm>
          <a:custGeom>
            <a:rect b="b" l="l" r="r" t="t"/>
            <a:pathLst>
              <a:path extrusionOk="0" h="873570" w="1794617">
                <a:moveTo>
                  <a:pt x="75966" y="0"/>
                </a:moveTo>
                <a:lnTo>
                  <a:pt x="1718651" y="0"/>
                </a:lnTo>
                <a:cubicBezTo>
                  <a:pt x="1760606" y="0"/>
                  <a:pt x="1794617" y="34011"/>
                  <a:pt x="1794617" y="75966"/>
                </a:cubicBezTo>
                <a:lnTo>
                  <a:pt x="1794617" y="797604"/>
                </a:lnTo>
                <a:cubicBezTo>
                  <a:pt x="1794617" y="839559"/>
                  <a:pt x="1760606" y="873570"/>
                  <a:pt x="1718651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8193206" y="5906093"/>
            <a:ext cx="1633196" cy="3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8</a:t>
            </a:r>
            <a:endParaRPr b="0" i="0" sz="1600" u="none" cap="none" strike="noStrike"/>
          </a:p>
        </p:txBody>
      </p:sp>
      <p:sp>
        <p:nvSpPr>
          <p:cNvPr id="166" name="Google Shape;166;p17"/>
          <p:cNvSpPr/>
          <p:nvPr/>
        </p:nvSpPr>
        <p:spPr>
          <a:xfrm>
            <a:off x="8231188" y="6285907"/>
            <a:ext cx="1557234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Modules</a:t>
            </a:r>
            <a:endParaRPr b="0" i="0" sz="1600" u="none" cap="none" strike="noStrike"/>
          </a:p>
        </p:txBody>
      </p:sp>
      <p:sp>
        <p:nvSpPr>
          <p:cNvPr id="167" name="Google Shape;167;p17"/>
          <p:cNvSpPr/>
          <p:nvPr/>
        </p:nvSpPr>
        <p:spPr>
          <a:xfrm>
            <a:off x="10017199" y="5754168"/>
            <a:ext cx="1794617" cy="873570"/>
          </a:xfrm>
          <a:custGeom>
            <a:rect b="b" l="l" r="r" t="t"/>
            <a:pathLst>
              <a:path extrusionOk="0" h="873570" w="1794617">
                <a:moveTo>
                  <a:pt x="75966" y="0"/>
                </a:moveTo>
                <a:lnTo>
                  <a:pt x="1718651" y="0"/>
                </a:lnTo>
                <a:cubicBezTo>
                  <a:pt x="1760606" y="0"/>
                  <a:pt x="1794617" y="34011"/>
                  <a:pt x="1794617" y="75966"/>
                </a:cubicBezTo>
                <a:lnTo>
                  <a:pt x="1794617" y="797604"/>
                </a:lnTo>
                <a:cubicBezTo>
                  <a:pt x="1794617" y="839559"/>
                  <a:pt x="1760606" y="873570"/>
                  <a:pt x="1718651" y="873570"/>
                </a:cubicBezTo>
                <a:lnTo>
                  <a:pt x="75966" y="873570"/>
                </a:lnTo>
                <a:cubicBezTo>
                  <a:pt x="34011" y="873570"/>
                  <a:pt x="0" y="839559"/>
                  <a:pt x="0" y="797604"/>
                </a:cubicBezTo>
                <a:lnTo>
                  <a:pt x="0" y="75966"/>
                </a:lnTo>
                <a:cubicBezTo>
                  <a:pt x="0" y="34039"/>
                  <a:pt x="34039" y="0"/>
                  <a:pt x="75966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10097909" y="5906093"/>
            <a:ext cx="1633196" cy="34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43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3NF</a:t>
            </a:r>
            <a:endParaRPr b="0" i="0" sz="1600" u="none" cap="none" strike="noStrike"/>
          </a:p>
        </p:txBody>
      </p:sp>
      <p:sp>
        <p:nvSpPr>
          <p:cNvPr id="169" name="Google Shape;169;p17"/>
          <p:cNvSpPr/>
          <p:nvPr/>
        </p:nvSpPr>
        <p:spPr>
          <a:xfrm>
            <a:off x="10135891" y="6285907"/>
            <a:ext cx="1557234" cy="1899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7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Normalized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System Architecture</a:t>
            </a:r>
            <a:endParaRPr b="0" i="0" sz="1600" u="none" cap="none" strike="noStrike"/>
          </a:p>
        </p:txBody>
      </p:sp>
      <p:sp>
        <p:nvSpPr>
          <p:cNvPr id="176" name="Google Shape;176;p18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System Modules Overview</a:t>
            </a:r>
            <a:endParaRPr b="0" i="0" sz="1600" u="none" cap="none" strike="noStrike"/>
          </a:p>
        </p:txBody>
      </p:sp>
      <p:sp>
        <p:nvSpPr>
          <p:cNvPr id="177" name="Google Shape;177;p18"/>
          <p:cNvSpPr/>
          <p:nvPr/>
        </p:nvSpPr>
        <p:spPr>
          <a:xfrm>
            <a:off x="381000" y="1295400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178" name="Google Shape;178;p18"/>
          <p:cNvSpPr/>
          <p:nvPr/>
        </p:nvSpPr>
        <p:spPr>
          <a:xfrm>
            <a:off x="385763" y="15287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42925" y="16859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638175" y="1800225"/>
            <a:ext cx="190500" cy="152400"/>
          </a:xfrm>
          <a:custGeom>
            <a:rect b="b" l="l" r="r" t="t"/>
            <a:pathLst>
              <a:path extrusionOk="0" h="152400" w="1905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1038225" y="1743075"/>
            <a:ext cx="1476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 Management</a:t>
            </a:r>
            <a:endParaRPr b="0" i="0" sz="1600" u="none" cap="none" strike="noStrike"/>
          </a:p>
        </p:txBody>
      </p:sp>
      <p:sp>
        <p:nvSpPr>
          <p:cNvPr id="182" name="Google Shape;182;p18"/>
          <p:cNvSpPr/>
          <p:nvPr/>
        </p:nvSpPr>
        <p:spPr>
          <a:xfrm>
            <a:off x="542925" y="21812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Customer and admin registration, authentication, profile management, and role-based access control</a:t>
            </a:r>
            <a:endParaRPr b="0" i="0" sz="1600" u="none" cap="none" strike="noStrike"/>
          </a:p>
        </p:txBody>
      </p:sp>
      <p:sp>
        <p:nvSpPr>
          <p:cNvPr id="183" name="Google Shape;183;p18"/>
          <p:cNvSpPr/>
          <p:nvPr/>
        </p:nvSpPr>
        <p:spPr>
          <a:xfrm>
            <a:off x="542925" y="3495675"/>
            <a:ext cx="495300" cy="266700"/>
          </a:xfrm>
          <a:custGeom>
            <a:rect b="b" l="l" r="r" t="t"/>
            <a:pathLst>
              <a:path extrusionOk="0" h="266700" w="4953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228599"/>
                </a:lnTo>
                <a:cubicBezTo>
                  <a:pt x="495300" y="249628"/>
                  <a:pt x="478228" y="266700"/>
                  <a:pt x="4571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542925" y="3495675"/>
            <a:ext cx="561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endParaRPr b="0" i="0" sz="1600" u="none" cap="none" strike="noStrike"/>
          </a:p>
        </p:txBody>
      </p:sp>
      <p:sp>
        <p:nvSpPr>
          <p:cNvPr id="185" name="Google Shape;185;p18"/>
          <p:cNvSpPr/>
          <p:nvPr/>
        </p:nvSpPr>
        <p:spPr>
          <a:xfrm>
            <a:off x="1113309" y="3495675"/>
            <a:ext cx="781050" cy="266700"/>
          </a:xfrm>
          <a:custGeom>
            <a:rect b="b" l="l" r="r" t="t"/>
            <a:pathLst>
              <a:path extrusionOk="0" h="266700" w="781050">
                <a:moveTo>
                  <a:pt x="38101" y="0"/>
                </a:moveTo>
                <a:lnTo>
                  <a:pt x="742949" y="0"/>
                </a:lnTo>
                <a:cubicBezTo>
                  <a:pt x="763992" y="0"/>
                  <a:pt x="781050" y="17058"/>
                  <a:pt x="781050" y="38101"/>
                </a:cubicBezTo>
                <a:lnTo>
                  <a:pt x="781050" y="228599"/>
                </a:lnTo>
                <a:cubicBezTo>
                  <a:pt x="781050" y="249628"/>
                  <a:pt x="763978" y="266700"/>
                  <a:pt x="742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1113309" y="3495675"/>
            <a:ext cx="847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Addresses</a:t>
            </a:r>
            <a:endParaRPr b="0" i="0" sz="1600" u="none" cap="none" strike="noStrike"/>
          </a:p>
        </p:txBody>
      </p:sp>
      <p:sp>
        <p:nvSpPr>
          <p:cNvPr id="187" name="Google Shape;187;p18"/>
          <p:cNvSpPr/>
          <p:nvPr/>
        </p:nvSpPr>
        <p:spPr>
          <a:xfrm>
            <a:off x="3281363" y="15287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3438525" y="16859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3533775" y="1800225"/>
            <a:ext cx="190500" cy="152400"/>
          </a:xfrm>
          <a:custGeom>
            <a:rect b="b" l="l" r="r" t="t"/>
            <a:pathLst>
              <a:path extrusionOk="0" h="152400" w="190500">
                <a:moveTo>
                  <a:pt x="166777" y="70604"/>
                </a:moveTo>
                <a:cubicBezTo>
                  <a:pt x="169872" y="74116"/>
                  <a:pt x="175200" y="74890"/>
                  <a:pt x="179219" y="72241"/>
                </a:cubicBezTo>
                <a:cubicBezTo>
                  <a:pt x="183594" y="69324"/>
                  <a:pt x="184785" y="63401"/>
                  <a:pt x="181868" y="59025"/>
                </a:cubicBezTo>
                <a:lnTo>
                  <a:pt x="167580" y="37594"/>
                </a:lnTo>
                <a:cubicBezTo>
                  <a:pt x="166747" y="36344"/>
                  <a:pt x="165616" y="35302"/>
                  <a:pt x="164276" y="34558"/>
                </a:cubicBezTo>
                <a:lnTo>
                  <a:pt x="104596" y="1399"/>
                </a:lnTo>
                <a:cubicBezTo>
                  <a:pt x="98852" y="-1786"/>
                  <a:pt x="91857" y="-1786"/>
                  <a:pt x="86082" y="1399"/>
                </a:cubicBezTo>
                <a:lnTo>
                  <a:pt x="26432" y="34528"/>
                </a:lnTo>
                <a:cubicBezTo>
                  <a:pt x="24825" y="35421"/>
                  <a:pt x="23545" y="36731"/>
                  <a:pt x="22681" y="38338"/>
                </a:cubicBezTo>
                <a:lnTo>
                  <a:pt x="8245" y="65097"/>
                </a:lnTo>
                <a:cubicBezTo>
                  <a:pt x="4495" y="72063"/>
                  <a:pt x="7114" y="80724"/>
                  <a:pt x="14079" y="84475"/>
                </a:cubicBezTo>
                <a:lnTo>
                  <a:pt x="23902" y="89743"/>
                </a:lnTo>
                <a:lnTo>
                  <a:pt x="23902" y="105608"/>
                </a:lnTo>
                <a:cubicBezTo>
                  <a:pt x="23902" y="112455"/>
                  <a:pt x="27593" y="118795"/>
                  <a:pt x="33546" y="122188"/>
                </a:cubicBezTo>
                <a:lnTo>
                  <a:pt x="85933" y="151864"/>
                </a:lnTo>
                <a:cubicBezTo>
                  <a:pt x="91767" y="155168"/>
                  <a:pt x="98881" y="155168"/>
                  <a:pt x="104715" y="151864"/>
                </a:cubicBezTo>
                <a:lnTo>
                  <a:pt x="157103" y="122188"/>
                </a:lnTo>
                <a:cubicBezTo>
                  <a:pt x="163086" y="118795"/>
                  <a:pt x="166747" y="112484"/>
                  <a:pt x="166747" y="105608"/>
                </a:cubicBezTo>
                <a:lnTo>
                  <a:pt x="166747" y="70634"/>
                </a:lnTo>
                <a:close/>
                <a:moveTo>
                  <a:pt x="95339" y="67687"/>
                </a:moveTo>
                <a:lnTo>
                  <a:pt x="50661" y="42863"/>
                </a:lnTo>
                <a:lnTo>
                  <a:pt x="95339" y="18038"/>
                </a:lnTo>
                <a:lnTo>
                  <a:pt x="140018" y="42863"/>
                </a:lnTo>
                <a:lnTo>
                  <a:pt x="95339" y="67687"/>
                </a:lnTo>
                <a:close/>
                <a:moveTo>
                  <a:pt x="82987" y="82629"/>
                </a:moveTo>
                <a:lnTo>
                  <a:pt x="76646" y="96381"/>
                </a:lnTo>
                <a:lnTo>
                  <a:pt x="27295" y="69949"/>
                </a:lnTo>
                <a:lnTo>
                  <a:pt x="34856" y="55900"/>
                </a:lnTo>
                <a:lnTo>
                  <a:pt x="82987" y="8262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3933825" y="1743075"/>
            <a:ext cx="1304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 Catalog</a:t>
            </a:r>
            <a:endParaRPr b="0" i="0" sz="1600" u="none" cap="none" strike="noStrike"/>
          </a:p>
        </p:txBody>
      </p:sp>
      <p:sp>
        <p:nvSpPr>
          <p:cNvPr id="191" name="Google Shape;191;p18"/>
          <p:cNvSpPr/>
          <p:nvPr/>
        </p:nvSpPr>
        <p:spPr>
          <a:xfrm>
            <a:off x="3438525" y="21812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Hierarchical category management, product listings with detailed attributes, brand management</a:t>
            </a:r>
            <a:endParaRPr b="0" i="0" sz="1600" u="none" cap="none" strike="noStrike"/>
          </a:p>
        </p:txBody>
      </p:sp>
      <p:sp>
        <p:nvSpPr>
          <p:cNvPr id="192" name="Google Shape;192;p18"/>
          <p:cNvSpPr/>
          <p:nvPr/>
        </p:nvSpPr>
        <p:spPr>
          <a:xfrm>
            <a:off x="3438525" y="3495675"/>
            <a:ext cx="790575" cy="266700"/>
          </a:xfrm>
          <a:custGeom>
            <a:rect b="b" l="l" r="r" t="t"/>
            <a:pathLst>
              <a:path extrusionOk="0" h="266700" w="790575">
                <a:moveTo>
                  <a:pt x="38101" y="0"/>
                </a:moveTo>
                <a:lnTo>
                  <a:pt x="752474" y="0"/>
                </a:lnTo>
                <a:cubicBezTo>
                  <a:pt x="773517" y="0"/>
                  <a:pt x="790575" y="17058"/>
                  <a:pt x="790575" y="38101"/>
                </a:cubicBezTo>
                <a:lnTo>
                  <a:pt x="790575" y="228599"/>
                </a:lnTo>
                <a:cubicBezTo>
                  <a:pt x="790575" y="249628"/>
                  <a:pt x="773503" y="266700"/>
                  <a:pt x="7524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3438525" y="3495675"/>
            <a:ext cx="8572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Categories</a:t>
            </a:r>
            <a:endParaRPr b="0" i="0" sz="1600" u="none" cap="none" strike="noStrike"/>
          </a:p>
        </p:txBody>
      </p:sp>
      <p:sp>
        <p:nvSpPr>
          <p:cNvPr id="194" name="Google Shape;194;p18"/>
          <p:cNvSpPr/>
          <p:nvPr/>
        </p:nvSpPr>
        <p:spPr>
          <a:xfrm>
            <a:off x="4309765" y="3495675"/>
            <a:ext cx="685800" cy="266700"/>
          </a:xfrm>
          <a:custGeom>
            <a:rect b="b" l="l" r="r" t="t"/>
            <a:pathLst>
              <a:path extrusionOk="0" h="266700" w="6858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228599"/>
                </a:lnTo>
                <a:cubicBezTo>
                  <a:pt x="685800" y="249628"/>
                  <a:pt x="668728" y="266700"/>
                  <a:pt x="6476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4309765" y="3495675"/>
            <a:ext cx="752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Products</a:t>
            </a:r>
            <a:endParaRPr b="0" i="0" sz="1600" u="none" cap="none" strike="noStrike"/>
          </a:p>
        </p:txBody>
      </p:sp>
      <p:sp>
        <p:nvSpPr>
          <p:cNvPr id="196" name="Google Shape;196;p18"/>
          <p:cNvSpPr/>
          <p:nvPr/>
        </p:nvSpPr>
        <p:spPr>
          <a:xfrm>
            <a:off x="6176963" y="15287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334125" y="16859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6438900" y="1800225"/>
            <a:ext cx="171450" cy="152400"/>
          </a:xfrm>
          <a:custGeom>
            <a:rect b="b" l="l" r="r" t="t"/>
            <a:pathLst>
              <a:path extrusionOk="0" h="152400" w="171450">
                <a:moveTo>
                  <a:pt x="0" y="42297"/>
                </a:moveTo>
                <a:lnTo>
                  <a:pt x="0" y="142875"/>
                </a:lnTo>
                <a:cubicBezTo>
                  <a:pt x="0" y="148144"/>
                  <a:pt x="4256" y="152400"/>
                  <a:pt x="9525" y="152400"/>
                </a:cubicBezTo>
                <a:cubicBezTo>
                  <a:pt x="14794" y="152400"/>
                  <a:pt x="19050" y="148144"/>
                  <a:pt x="19050" y="142875"/>
                </a:cubicBezTo>
                <a:lnTo>
                  <a:pt x="19050" y="71438"/>
                </a:lnTo>
                <a:cubicBezTo>
                  <a:pt x="19050" y="66169"/>
                  <a:pt x="23306" y="61912"/>
                  <a:pt x="28575" y="61912"/>
                </a:cubicBezTo>
                <a:lnTo>
                  <a:pt x="142875" y="61912"/>
                </a:lnTo>
                <a:cubicBezTo>
                  <a:pt x="148144" y="61912"/>
                  <a:pt x="152400" y="66169"/>
                  <a:pt x="152400" y="71438"/>
                </a:cubicBezTo>
                <a:lnTo>
                  <a:pt x="152400" y="142875"/>
                </a:lnTo>
                <a:cubicBezTo>
                  <a:pt x="152400" y="148144"/>
                  <a:pt x="156656" y="152400"/>
                  <a:pt x="161925" y="152400"/>
                </a:cubicBezTo>
                <a:cubicBezTo>
                  <a:pt x="167194" y="152400"/>
                  <a:pt x="171450" y="148144"/>
                  <a:pt x="171450" y="142875"/>
                </a:cubicBezTo>
                <a:lnTo>
                  <a:pt x="171450" y="42297"/>
                </a:lnTo>
                <a:cubicBezTo>
                  <a:pt x="171450" y="34111"/>
                  <a:pt x="166211" y="26819"/>
                  <a:pt x="158413" y="24229"/>
                </a:cubicBezTo>
                <a:lnTo>
                  <a:pt x="90249" y="1518"/>
                </a:lnTo>
                <a:cubicBezTo>
                  <a:pt x="87303" y="536"/>
                  <a:pt x="84147" y="536"/>
                  <a:pt x="81201" y="1518"/>
                </a:cubicBezTo>
                <a:lnTo>
                  <a:pt x="13037" y="24229"/>
                </a:lnTo>
                <a:cubicBezTo>
                  <a:pt x="5239" y="26819"/>
                  <a:pt x="0" y="34111"/>
                  <a:pt x="0" y="42297"/>
                </a:cubicBezTo>
                <a:close/>
                <a:moveTo>
                  <a:pt x="138113" y="76200"/>
                </a:moveTo>
                <a:lnTo>
                  <a:pt x="33338" y="76200"/>
                </a:lnTo>
                <a:lnTo>
                  <a:pt x="33338" y="95250"/>
                </a:lnTo>
                <a:lnTo>
                  <a:pt x="138113" y="95250"/>
                </a:lnTo>
                <a:lnTo>
                  <a:pt x="138113" y="76200"/>
                </a:lnTo>
                <a:close/>
                <a:moveTo>
                  <a:pt x="33338" y="123825"/>
                </a:moveTo>
                <a:lnTo>
                  <a:pt x="138113" y="123825"/>
                </a:lnTo>
                <a:lnTo>
                  <a:pt x="138113" y="104775"/>
                </a:lnTo>
                <a:lnTo>
                  <a:pt x="33338" y="104775"/>
                </a:lnTo>
                <a:lnTo>
                  <a:pt x="33338" y="123825"/>
                </a:lnTo>
                <a:close/>
                <a:moveTo>
                  <a:pt x="138113" y="133350"/>
                </a:moveTo>
                <a:lnTo>
                  <a:pt x="33338" y="133350"/>
                </a:lnTo>
                <a:lnTo>
                  <a:pt x="33338" y="152400"/>
                </a:lnTo>
                <a:lnTo>
                  <a:pt x="138113" y="152400"/>
                </a:lnTo>
                <a:lnTo>
                  <a:pt x="138113" y="133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6829425" y="1743075"/>
            <a:ext cx="1838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Inventory Management</a:t>
            </a:r>
            <a:endParaRPr b="0" i="0" sz="1600" u="none" cap="none" strike="noStrike"/>
          </a:p>
        </p:txBody>
      </p:sp>
      <p:sp>
        <p:nvSpPr>
          <p:cNvPr id="200" name="Google Shape;200;p18"/>
          <p:cNvSpPr/>
          <p:nvPr/>
        </p:nvSpPr>
        <p:spPr>
          <a:xfrm>
            <a:off x="6334125" y="21812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Real-time stock tracking, automated inventory updates via triggers, low stock alerts</a:t>
            </a:r>
            <a:endParaRPr b="0" i="0" sz="1600" u="none" cap="none" strike="noStrike"/>
          </a:p>
        </p:txBody>
      </p:sp>
      <p:sp>
        <p:nvSpPr>
          <p:cNvPr id="201" name="Google Shape;201;p18"/>
          <p:cNvSpPr/>
          <p:nvPr/>
        </p:nvSpPr>
        <p:spPr>
          <a:xfrm>
            <a:off x="6334125" y="3495675"/>
            <a:ext cx="704850" cy="266700"/>
          </a:xfrm>
          <a:custGeom>
            <a:rect b="b" l="l" r="r" t="t"/>
            <a:pathLst>
              <a:path extrusionOk="0" h="266700" w="704850">
                <a:moveTo>
                  <a:pt x="38101" y="0"/>
                </a:moveTo>
                <a:lnTo>
                  <a:pt x="666749" y="0"/>
                </a:lnTo>
                <a:cubicBezTo>
                  <a:pt x="687792" y="0"/>
                  <a:pt x="704850" y="17058"/>
                  <a:pt x="704850" y="38101"/>
                </a:cubicBezTo>
                <a:lnTo>
                  <a:pt x="704850" y="228599"/>
                </a:lnTo>
                <a:cubicBezTo>
                  <a:pt x="704850" y="249628"/>
                  <a:pt x="687778" y="266700"/>
                  <a:pt x="6667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6334125" y="3495675"/>
            <a:ext cx="771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Inventory</a:t>
            </a:r>
            <a:endParaRPr b="0" i="0" sz="1600" u="none" cap="none" strike="noStrike"/>
          </a:p>
        </p:txBody>
      </p:sp>
      <p:sp>
        <p:nvSpPr>
          <p:cNvPr id="203" name="Google Shape;203;p18"/>
          <p:cNvSpPr/>
          <p:nvPr/>
        </p:nvSpPr>
        <p:spPr>
          <a:xfrm>
            <a:off x="9072563" y="15287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9229725" y="16859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9324975" y="1800225"/>
            <a:ext cx="190500" cy="152400"/>
          </a:xfrm>
          <a:custGeom>
            <a:rect b="b" l="l" r="r" t="t"/>
            <a:pathLst>
              <a:path extrusionOk="0" h="152400" w="190500">
                <a:moveTo>
                  <a:pt x="7144" y="-4762"/>
                </a:moveTo>
                <a:cubicBezTo>
                  <a:pt x="3185" y="-4762"/>
                  <a:pt x="0" y="-1578"/>
                  <a:pt x="0" y="2381"/>
                </a:cubicBezTo>
                <a:cubicBezTo>
                  <a:pt x="0" y="6340"/>
                  <a:pt x="3185" y="9525"/>
                  <a:pt x="7144" y="9525"/>
                </a:cubicBezTo>
                <a:lnTo>
                  <a:pt x="20628" y="9525"/>
                </a:lnTo>
                <a:cubicBezTo>
                  <a:pt x="21788" y="9525"/>
                  <a:pt x="22771" y="10358"/>
                  <a:pt x="22979" y="11490"/>
                </a:cubicBezTo>
                <a:lnTo>
                  <a:pt x="38487" y="96709"/>
                </a:lnTo>
                <a:cubicBezTo>
                  <a:pt x="40332" y="106888"/>
                  <a:pt x="49203" y="114300"/>
                  <a:pt x="59561" y="114300"/>
                </a:cubicBezTo>
                <a:lnTo>
                  <a:pt x="135731" y="114300"/>
                </a:lnTo>
                <a:cubicBezTo>
                  <a:pt x="139690" y="114300"/>
                  <a:pt x="142875" y="111115"/>
                  <a:pt x="142875" y="107156"/>
                </a:cubicBezTo>
                <a:cubicBezTo>
                  <a:pt x="142875" y="103197"/>
                  <a:pt x="139690" y="100013"/>
                  <a:pt x="135731" y="100013"/>
                </a:cubicBezTo>
                <a:lnTo>
                  <a:pt x="59561" y="100013"/>
                </a:lnTo>
                <a:cubicBezTo>
                  <a:pt x="56108" y="100013"/>
                  <a:pt x="53161" y="97542"/>
                  <a:pt x="52536" y="94149"/>
                </a:cubicBezTo>
                <a:lnTo>
                  <a:pt x="51018" y="85725"/>
                </a:lnTo>
                <a:lnTo>
                  <a:pt x="141387" y="85725"/>
                </a:lnTo>
                <a:cubicBezTo>
                  <a:pt x="150555" y="85725"/>
                  <a:pt x="158413" y="79206"/>
                  <a:pt x="160109" y="70187"/>
                </a:cubicBezTo>
                <a:lnTo>
                  <a:pt x="169337" y="20806"/>
                </a:lnTo>
                <a:cubicBezTo>
                  <a:pt x="170438" y="14942"/>
                  <a:pt x="165943" y="9525"/>
                  <a:pt x="159960" y="9525"/>
                </a:cubicBezTo>
                <a:lnTo>
                  <a:pt x="37118" y="9525"/>
                </a:lnTo>
                <a:lnTo>
                  <a:pt x="36999" y="8930"/>
                </a:lnTo>
                <a:cubicBezTo>
                  <a:pt x="35570" y="1012"/>
                  <a:pt x="28664" y="-4762"/>
                  <a:pt x="20598" y="-4762"/>
                </a:cubicBezTo>
                <a:lnTo>
                  <a:pt x="7144" y="-4762"/>
                </a:lnTo>
                <a:close/>
                <a:moveTo>
                  <a:pt x="61912" y="152400"/>
                </a:moveTo>
                <a:cubicBezTo>
                  <a:pt x="69798" y="152400"/>
                  <a:pt x="76200" y="145998"/>
                  <a:pt x="76200" y="138113"/>
                </a:cubicBezTo>
                <a:cubicBezTo>
                  <a:pt x="76200" y="130227"/>
                  <a:pt x="69798" y="123825"/>
                  <a:pt x="61912" y="123825"/>
                </a:cubicBezTo>
                <a:cubicBezTo>
                  <a:pt x="54027" y="123825"/>
                  <a:pt x="47625" y="130227"/>
                  <a:pt x="47625" y="138113"/>
                </a:cubicBezTo>
                <a:cubicBezTo>
                  <a:pt x="47625" y="145998"/>
                  <a:pt x="54027" y="152400"/>
                  <a:pt x="61912" y="152400"/>
                </a:cubicBezTo>
                <a:close/>
                <a:moveTo>
                  <a:pt x="128588" y="152400"/>
                </a:moveTo>
                <a:cubicBezTo>
                  <a:pt x="136473" y="152400"/>
                  <a:pt x="142875" y="145998"/>
                  <a:pt x="142875" y="138113"/>
                </a:cubicBezTo>
                <a:cubicBezTo>
                  <a:pt x="142875" y="130227"/>
                  <a:pt x="136473" y="123825"/>
                  <a:pt x="128588" y="123825"/>
                </a:cubicBezTo>
                <a:cubicBezTo>
                  <a:pt x="120702" y="123825"/>
                  <a:pt x="114300" y="130227"/>
                  <a:pt x="114300" y="138113"/>
                </a:cubicBezTo>
                <a:cubicBezTo>
                  <a:pt x="114300" y="145998"/>
                  <a:pt x="120702" y="152400"/>
                  <a:pt x="128588" y="1524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9725025" y="1743075"/>
            <a:ext cx="11715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Shopping Cart</a:t>
            </a:r>
            <a:endParaRPr b="0" i="0" sz="1600" u="none" cap="none" strike="noStrike"/>
          </a:p>
        </p:txBody>
      </p:sp>
      <p:sp>
        <p:nvSpPr>
          <p:cNvPr id="207" name="Google Shape;207;p18"/>
          <p:cNvSpPr/>
          <p:nvPr/>
        </p:nvSpPr>
        <p:spPr>
          <a:xfrm>
            <a:off x="9229725" y="21812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Persistent cart storage, item quantity management, price calculations, cart abandonment handling</a:t>
            </a:r>
            <a:endParaRPr b="0" i="0" sz="1600" u="none" cap="none" strike="noStrike"/>
          </a:p>
        </p:txBody>
      </p:sp>
      <p:sp>
        <p:nvSpPr>
          <p:cNvPr id="208" name="Google Shape;208;p18"/>
          <p:cNvSpPr/>
          <p:nvPr/>
        </p:nvSpPr>
        <p:spPr>
          <a:xfrm>
            <a:off x="9229725" y="3495675"/>
            <a:ext cx="400050" cy="266700"/>
          </a:xfrm>
          <a:custGeom>
            <a:rect b="b" l="l" r="r" t="t"/>
            <a:pathLst>
              <a:path extrusionOk="0" h="266700" w="400050">
                <a:moveTo>
                  <a:pt x="38101" y="0"/>
                </a:moveTo>
                <a:lnTo>
                  <a:pt x="361949" y="0"/>
                </a:lnTo>
                <a:cubicBezTo>
                  <a:pt x="382992" y="0"/>
                  <a:pt x="400050" y="17058"/>
                  <a:pt x="400050" y="38101"/>
                </a:cubicBezTo>
                <a:lnTo>
                  <a:pt x="400050" y="228599"/>
                </a:lnTo>
                <a:cubicBezTo>
                  <a:pt x="400050" y="249642"/>
                  <a:pt x="382992" y="266700"/>
                  <a:pt x="3619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9229725" y="3495675"/>
            <a:ext cx="4667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Cart</a:t>
            </a:r>
            <a:endParaRPr b="0" i="0" sz="1600" u="none" cap="none" strike="noStrike"/>
          </a:p>
        </p:txBody>
      </p:sp>
      <p:sp>
        <p:nvSpPr>
          <p:cNvPr id="210" name="Google Shape;210;p18"/>
          <p:cNvSpPr/>
          <p:nvPr/>
        </p:nvSpPr>
        <p:spPr>
          <a:xfrm>
            <a:off x="9710291" y="3495675"/>
            <a:ext cx="800100" cy="266700"/>
          </a:xfrm>
          <a:custGeom>
            <a:rect b="b" l="l" r="r" t="t"/>
            <a:pathLst>
              <a:path extrusionOk="0" h="266700" w="8001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228599"/>
                </a:lnTo>
                <a:cubicBezTo>
                  <a:pt x="800100" y="249628"/>
                  <a:pt x="783028" y="266700"/>
                  <a:pt x="7619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9710291" y="3495675"/>
            <a:ext cx="866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Cart_Items</a:t>
            </a:r>
            <a:endParaRPr b="0" i="0" sz="1600" u="none" cap="none" strike="noStrike"/>
          </a:p>
        </p:txBody>
      </p:sp>
      <p:sp>
        <p:nvSpPr>
          <p:cNvPr id="212" name="Google Shape;212;p18"/>
          <p:cNvSpPr/>
          <p:nvPr/>
        </p:nvSpPr>
        <p:spPr>
          <a:xfrm>
            <a:off x="385763" y="40814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542925" y="42386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676275" y="4352925"/>
            <a:ext cx="114300" cy="152400"/>
          </a:xfrm>
          <a:custGeom>
            <a:rect b="b" l="l" r="r" t="t"/>
            <a:pathLst>
              <a:path extrusionOk="0" h="152400" w="114300">
                <a:moveTo>
                  <a:pt x="92690" y="9525"/>
                </a:moveTo>
                <a:lnTo>
                  <a:pt x="95250" y="9525"/>
                </a:lnTo>
                <a:cubicBezTo>
                  <a:pt x="105757" y="9525"/>
                  <a:pt x="114300" y="18068"/>
                  <a:pt x="114300" y="28575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28575"/>
                </a:lnTo>
                <a:cubicBezTo>
                  <a:pt x="0" y="18068"/>
                  <a:pt x="8543" y="9525"/>
                  <a:pt x="19050" y="9525"/>
                </a:cubicBezTo>
                <a:lnTo>
                  <a:pt x="21610" y="9525"/>
                </a:lnTo>
                <a:cubicBezTo>
                  <a:pt x="24884" y="3840"/>
                  <a:pt x="31046" y="0"/>
                  <a:pt x="38100" y="0"/>
                </a:cubicBezTo>
                <a:lnTo>
                  <a:pt x="76200" y="0"/>
                </a:lnTo>
                <a:cubicBezTo>
                  <a:pt x="83254" y="0"/>
                  <a:pt x="89416" y="3840"/>
                  <a:pt x="92690" y="9525"/>
                </a:cubicBezTo>
                <a:close/>
                <a:moveTo>
                  <a:pt x="73819" y="33338"/>
                </a:moveTo>
                <a:cubicBezTo>
                  <a:pt x="77778" y="33338"/>
                  <a:pt x="80962" y="30153"/>
                  <a:pt x="80962" y="26194"/>
                </a:cubicBezTo>
                <a:cubicBezTo>
                  <a:pt x="80962" y="22235"/>
                  <a:pt x="77778" y="19050"/>
                  <a:pt x="73819" y="19050"/>
                </a:cubicBezTo>
                <a:lnTo>
                  <a:pt x="40481" y="19050"/>
                </a:lnTo>
                <a:cubicBezTo>
                  <a:pt x="36522" y="19050"/>
                  <a:pt x="33338" y="22235"/>
                  <a:pt x="33338" y="26194"/>
                </a:cubicBezTo>
                <a:cubicBezTo>
                  <a:pt x="33338" y="30153"/>
                  <a:pt x="36522" y="33338"/>
                  <a:pt x="40481" y="33338"/>
                </a:cubicBezTo>
                <a:lnTo>
                  <a:pt x="73819" y="33338"/>
                </a:lnTo>
                <a:close/>
                <a:moveTo>
                  <a:pt x="38100" y="76200"/>
                </a:moveTo>
                <a:cubicBezTo>
                  <a:pt x="38100" y="70943"/>
                  <a:pt x="33832" y="66675"/>
                  <a:pt x="28575" y="66675"/>
                </a:cubicBezTo>
                <a:cubicBezTo>
                  <a:pt x="23318" y="66675"/>
                  <a:pt x="19050" y="70943"/>
                  <a:pt x="19050" y="76200"/>
                </a:cubicBezTo>
                <a:cubicBezTo>
                  <a:pt x="19050" y="81457"/>
                  <a:pt x="23318" y="85725"/>
                  <a:pt x="28575" y="85725"/>
                </a:cubicBezTo>
                <a:cubicBezTo>
                  <a:pt x="33832" y="85725"/>
                  <a:pt x="38100" y="81457"/>
                  <a:pt x="38100" y="76200"/>
                </a:cubicBezTo>
                <a:close/>
                <a:moveTo>
                  <a:pt x="47625" y="76200"/>
                </a:moveTo>
                <a:cubicBezTo>
                  <a:pt x="47625" y="80159"/>
                  <a:pt x="50810" y="83344"/>
                  <a:pt x="54769" y="83344"/>
                </a:cubicBezTo>
                <a:lnTo>
                  <a:pt x="88106" y="83344"/>
                </a:lnTo>
                <a:cubicBezTo>
                  <a:pt x="92065" y="83344"/>
                  <a:pt x="95250" y="80159"/>
                  <a:pt x="95250" y="76200"/>
                </a:cubicBezTo>
                <a:cubicBezTo>
                  <a:pt x="95250" y="72241"/>
                  <a:pt x="92065" y="69056"/>
                  <a:pt x="88106" y="69056"/>
                </a:cubicBezTo>
                <a:lnTo>
                  <a:pt x="54769" y="69056"/>
                </a:lnTo>
                <a:cubicBezTo>
                  <a:pt x="50810" y="69056"/>
                  <a:pt x="47625" y="72241"/>
                  <a:pt x="47625" y="76200"/>
                </a:cubicBezTo>
                <a:close/>
                <a:moveTo>
                  <a:pt x="47625" y="114300"/>
                </a:moveTo>
                <a:cubicBezTo>
                  <a:pt x="47625" y="118259"/>
                  <a:pt x="50810" y="121444"/>
                  <a:pt x="54769" y="121444"/>
                </a:cubicBezTo>
                <a:lnTo>
                  <a:pt x="88106" y="121444"/>
                </a:lnTo>
                <a:cubicBezTo>
                  <a:pt x="92065" y="121444"/>
                  <a:pt x="95250" y="118259"/>
                  <a:pt x="95250" y="114300"/>
                </a:cubicBezTo>
                <a:cubicBezTo>
                  <a:pt x="95250" y="110341"/>
                  <a:pt x="92065" y="107156"/>
                  <a:pt x="88106" y="107156"/>
                </a:cubicBezTo>
                <a:lnTo>
                  <a:pt x="54769" y="107156"/>
                </a:lnTo>
                <a:cubicBezTo>
                  <a:pt x="50810" y="107156"/>
                  <a:pt x="47625" y="110341"/>
                  <a:pt x="47625" y="114300"/>
                </a:cubicBezTo>
                <a:close/>
                <a:moveTo>
                  <a:pt x="28575" y="123825"/>
                </a:moveTo>
                <a:cubicBezTo>
                  <a:pt x="33832" y="123825"/>
                  <a:pt x="38100" y="119557"/>
                  <a:pt x="38100" y="114300"/>
                </a:cubicBezTo>
                <a:cubicBezTo>
                  <a:pt x="38100" y="109043"/>
                  <a:pt x="33832" y="104775"/>
                  <a:pt x="28575" y="104775"/>
                </a:cubicBezTo>
                <a:cubicBezTo>
                  <a:pt x="23318" y="104775"/>
                  <a:pt x="19050" y="109043"/>
                  <a:pt x="19050" y="114300"/>
                </a:cubicBezTo>
                <a:cubicBezTo>
                  <a:pt x="19050" y="119557"/>
                  <a:pt x="23318" y="123825"/>
                  <a:pt x="28575" y="12382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1038225" y="4295775"/>
            <a:ext cx="14001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 Processing</a:t>
            </a:r>
            <a:endParaRPr b="0" i="0" sz="1600" u="none" cap="none" strike="noStrike"/>
          </a:p>
        </p:txBody>
      </p:sp>
      <p:sp>
        <p:nvSpPr>
          <p:cNvPr id="216" name="Google Shape;216;p18"/>
          <p:cNvSpPr/>
          <p:nvPr/>
        </p:nvSpPr>
        <p:spPr>
          <a:xfrm>
            <a:off x="542925" y="47339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 lifecycle management, status tracking, order history, automated order confirmation</a:t>
            </a:r>
            <a:endParaRPr b="0" i="0" sz="1600" u="none" cap="none" strike="noStrike"/>
          </a:p>
        </p:txBody>
      </p:sp>
      <p:sp>
        <p:nvSpPr>
          <p:cNvPr id="217" name="Google Shape;217;p18"/>
          <p:cNvSpPr/>
          <p:nvPr/>
        </p:nvSpPr>
        <p:spPr>
          <a:xfrm>
            <a:off x="542925" y="6048375"/>
            <a:ext cx="552450" cy="266700"/>
          </a:xfrm>
          <a:custGeom>
            <a:rect b="b" l="l" r="r" t="t"/>
            <a:pathLst>
              <a:path extrusionOk="0" h="266700" w="552450">
                <a:moveTo>
                  <a:pt x="38101" y="0"/>
                </a:moveTo>
                <a:lnTo>
                  <a:pt x="514349" y="0"/>
                </a:lnTo>
                <a:cubicBezTo>
                  <a:pt x="535392" y="0"/>
                  <a:pt x="552450" y="17058"/>
                  <a:pt x="552450" y="38101"/>
                </a:cubicBezTo>
                <a:lnTo>
                  <a:pt x="552450" y="228599"/>
                </a:lnTo>
                <a:cubicBezTo>
                  <a:pt x="552450" y="249628"/>
                  <a:pt x="535378" y="266700"/>
                  <a:pt x="5143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42925" y="6048375"/>
            <a:ext cx="619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Orders</a:t>
            </a:r>
            <a:endParaRPr b="0" i="0" sz="1600" u="none" cap="none" strike="noStrike"/>
          </a:p>
        </p:txBody>
      </p:sp>
      <p:sp>
        <p:nvSpPr>
          <p:cNvPr id="219" name="Google Shape;219;p18"/>
          <p:cNvSpPr/>
          <p:nvPr/>
        </p:nvSpPr>
        <p:spPr>
          <a:xfrm>
            <a:off x="1173733" y="6048375"/>
            <a:ext cx="885825" cy="266700"/>
          </a:xfrm>
          <a:custGeom>
            <a:rect b="b" l="l" r="r" t="t"/>
            <a:pathLst>
              <a:path extrusionOk="0" h="266700" w="885825">
                <a:moveTo>
                  <a:pt x="38101" y="0"/>
                </a:moveTo>
                <a:lnTo>
                  <a:pt x="847724" y="0"/>
                </a:lnTo>
                <a:cubicBezTo>
                  <a:pt x="868767" y="0"/>
                  <a:pt x="885825" y="17058"/>
                  <a:pt x="885825" y="38101"/>
                </a:cubicBezTo>
                <a:lnTo>
                  <a:pt x="885825" y="228599"/>
                </a:lnTo>
                <a:cubicBezTo>
                  <a:pt x="885825" y="249642"/>
                  <a:pt x="868767" y="266700"/>
                  <a:pt x="84772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1173733" y="6048375"/>
            <a:ext cx="95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Order_Items</a:t>
            </a:r>
            <a:endParaRPr b="0" i="0" sz="1600" u="none" cap="none" strike="noStrike"/>
          </a:p>
        </p:txBody>
      </p:sp>
      <p:sp>
        <p:nvSpPr>
          <p:cNvPr id="221" name="Google Shape;221;p18"/>
          <p:cNvSpPr/>
          <p:nvPr/>
        </p:nvSpPr>
        <p:spPr>
          <a:xfrm>
            <a:off x="3281363" y="40814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3438525" y="42386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3552825" y="4352925"/>
            <a:ext cx="152400" cy="152400"/>
          </a:xfrm>
          <a:custGeom>
            <a:rect b="b" l="l" r="r" t="t"/>
            <a:pathLst>
              <a:path extrusionOk="0" h="152400" w="152400">
                <a:moveTo>
                  <a:pt x="0" y="38100"/>
                </a:moveTo>
                <a:lnTo>
                  <a:pt x="0" y="47625"/>
                </a:lnTo>
                <a:lnTo>
                  <a:pt x="152400" y="47625"/>
                </a:lnTo>
                <a:lnTo>
                  <a:pt x="152400" y="38100"/>
                </a:lnTo>
                <a:cubicBezTo>
                  <a:pt x="152400" y="27593"/>
                  <a:pt x="143857" y="19050"/>
                  <a:pt x="133350" y="19050"/>
                </a:cubicBezTo>
                <a:lnTo>
                  <a:pt x="19050" y="19050"/>
                </a:lnTo>
                <a:cubicBezTo>
                  <a:pt x="8543" y="19050"/>
                  <a:pt x="0" y="27593"/>
                  <a:pt x="0" y="38100"/>
                </a:cubicBezTo>
                <a:close/>
                <a:moveTo>
                  <a:pt x="0" y="61912"/>
                </a:moveTo>
                <a:lnTo>
                  <a:pt x="0" y="114300"/>
                </a:lnTo>
                <a:cubicBezTo>
                  <a:pt x="0" y="124807"/>
                  <a:pt x="8543" y="133350"/>
                  <a:pt x="19050" y="133350"/>
                </a:cubicBezTo>
                <a:lnTo>
                  <a:pt x="133350" y="133350"/>
                </a:lnTo>
                <a:cubicBezTo>
                  <a:pt x="143857" y="133350"/>
                  <a:pt x="152400" y="124807"/>
                  <a:pt x="152400" y="114300"/>
                </a:cubicBezTo>
                <a:lnTo>
                  <a:pt x="152400" y="61912"/>
                </a:lnTo>
                <a:lnTo>
                  <a:pt x="0" y="61912"/>
                </a:lnTo>
                <a:close/>
                <a:moveTo>
                  <a:pt x="19050" y="107156"/>
                </a:moveTo>
                <a:cubicBezTo>
                  <a:pt x="19050" y="103197"/>
                  <a:pt x="22235" y="100013"/>
                  <a:pt x="26194" y="100013"/>
                </a:cubicBezTo>
                <a:lnTo>
                  <a:pt x="40481" y="100013"/>
                </a:lnTo>
                <a:cubicBezTo>
                  <a:pt x="44440" y="100013"/>
                  <a:pt x="47625" y="103197"/>
                  <a:pt x="47625" y="107156"/>
                </a:cubicBezTo>
                <a:cubicBezTo>
                  <a:pt x="47625" y="111115"/>
                  <a:pt x="44440" y="114300"/>
                  <a:pt x="40481" y="114300"/>
                </a:cubicBezTo>
                <a:lnTo>
                  <a:pt x="26194" y="114300"/>
                </a:lnTo>
                <a:cubicBezTo>
                  <a:pt x="22235" y="114300"/>
                  <a:pt x="19050" y="111115"/>
                  <a:pt x="19050" y="107156"/>
                </a:cubicBezTo>
                <a:close/>
                <a:moveTo>
                  <a:pt x="61912" y="107156"/>
                </a:moveTo>
                <a:cubicBezTo>
                  <a:pt x="61912" y="103197"/>
                  <a:pt x="65097" y="100013"/>
                  <a:pt x="69056" y="100013"/>
                </a:cubicBez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9056" y="114300"/>
                </a:lnTo>
                <a:cubicBezTo>
                  <a:pt x="65097" y="114300"/>
                  <a:pt x="61912" y="111115"/>
                  <a:pt x="61912" y="1071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8"/>
          <p:cNvSpPr/>
          <p:nvPr/>
        </p:nvSpPr>
        <p:spPr>
          <a:xfrm>
            <a:off x="3933825" y="4295775"/>
            <a:ext cx="13620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Payment System</a:t>
            </a:r>
            <a:endParaRPr b="0" i="0" sz="1600" u="none" cap="none" strike="noStrike"/>
          </a:p>
        </p:txBody>
      </p:sp>
      <p:sp>
        <p:nvSpPr>
          <p:cNvPr id="225" name="Google Shape;225;p18"/>
          <p:cNvSpPr/>
          <p:nvPr/>
        </p:nvSpPr>
        <p:spPr>
          <a:xfrm>
            <a:off x="3438525" y="47339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Multiple payment method support, transaction tracking, payment status management, refund handling</a:t>
            </a:r>
            <a:endParaRPr b="0" i="0" sz="1600" u="none" cap="none" strike="noStrike"/>
          </a:p>
        </p:txBody>
      </p:sp>
      <p:sp>
        <p:nvSpPr>
          <p:cNvPr id="226" name="Google Shape;226;p18"/>
          <p:cNvSpPr/>
          <p:nvPr/>
        </p:nvSpPr>
        <p:spPr>
          <a:xfrm>
            <a:off x="3438525" y="6048375"/>
            <a:ext cx="742950" cy="266700"/>
          </a:xfrm>
          <a:custGeom>
            <a:rect b="b" l="l" r="r" t="t"/>
            <a:pathLst>
              <a:path extrusionOk="0" h="266700" w="742950">
                <a:moveTo>
                  <a:pt x="38101" y="0"/>
                </a:moveTo>
                <a:lnTo>
                  <a:pt x="704849" y="0"/>
                </a:lnTo>
                <a:cubicBezTo>
                  <a:pt x="725892" y="0"/>
                  <a:pt x="742950" y="17058"/>
                  <a:pt x="742950" y="38101"/>
                </a:cubicBezTo>
                <a:lnTo>
                  <a:pt x="742950" y="228599"/>
                </a:lnTo>
                <a:cubicBezTo>
                  <a:pt x="742950" y="249628"/>
                  <a:pt x="725878" y="266700"/>
                  <a:pt x="7048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8"/>
          <p:cNvSpPr/>
          <p:nvPr/>
        </p:nvSpPr>
        <p:spPr>
          <a:xfrm>
            <a:off x="3438525" y="6048375"/>
            <a:ext cx="809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Payments</a:t>
            </a:r>
            <a:endParaRPr b="0" i="0" sz="1600" u="none" cap="none" strike="noStrike"/>
          </a:p>
        </p:txBody>
      </p:sp>
      <p:sp>
        <p:nvSpPr>
          <p:cNvPr id="228" name="Google Shape;228;p18"/>
          <p:cNvSpPr/>
          <p:nvPr/>
        </p:nvSpPr>
        <p:spPr>
          <a:xfrm>
            <a:off x="6176963" y="40814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334125" y="42386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>
            <a:off x="6438900" y="4352925"/>
            <a:ext cx="171450" cy="152400"/>
          </a:xfrm>
          <a:custGeom>
            <a:rect b="b" l="l" r="r" t="t"/>
            <a:pathLst>
              <a:path extrusionOk="0" h="152400" w="171450">
                <a:moveTo>
                  <a:pt x="92125" y="-5626"/>
                </a:moveTo>
                <a:cubicBezTo>
                  <a:pt x="90904" y="-8007"/>
                  <a:pt x="88434" y="-9525"/>
                  <a:pt x="85755" y="-9525"/>
                </a:cubicBezTo>
                <a:cubicBezTo>
                  <a:pt x="83076" y="-9525"/>
                  <a:pt x="80605" y="-8007"/>
                  <a:pt x="79385" y="-5626"/>
                </a:cubicBezTo>
                <a:lnTo>
                  <a:pt x="57477" y="37296"/>
                </a:lnTo>
                <a:lnTo>
                  <a:pt x="9882" y="44857"/>
                </a:lnTo>
                <a:cubicBezTo>
                  <a:pt x="7233" y="45274"/>
                  <a:pt x="5030" y="47149"/>
                  <a:pt x="4197" y="49709"/>
                </a:cubicBezTo>
                <a:cubicBezTo>
                  <a:pt x="3364" y="52268"/>
                  <a:pt x="4048" y="55066"/>
                  <a:pt x="5923" y="56971"/>
                </a:cubicBezTo>
                <a:lnTo>
                  <a:pt x="39975" y="91053"/>
                </a:lnTo>
                <a:lnTo>
                  <a:pt x="32474" y="138648"/>
                </a:lnTo>
                <a:cubicBezTo>
                  <a:pt x="32058" y="141297"/>
                  <a:pt x="33159" y="143976"/>
                  <a:pt x="35332" y="145554"/>
                </a:cubicBezTo>
                <a:cubicBezTo>
                  <a:pt x="37505" y="147131"/>
                  <a:pt x="40362" y="147370"/>
                  <a:pt x="42773" y="146149"/>
                </a:cubicBezTo>
                <a:lnTo>
                  <a:pt x="85755" y="124301"/>
                </a:lnTo>
                <a:lnTo>
                  <a:pt x="128707" y="146149"/>
                </a:lnTo>
                <a:cubicBezTo>
                  <a:pt x="131088" y="147370"/>
                  <a:pt x="133975" y="147131"/>
                  <a:pt x="136148" y="145554"/>
                </a:cubicBezTo>
                <a:cubicBezTo>
                  <a:pt x="138321" y="143976"/>
                  <a:pt x="139422" y="141327"/>
                  <a:pt x="139005" y="138648"/>
                </a:cubicBezTo>
                <a:lnTo>
                  <a:pt x="131475" y="91053"/>
                </a:lnTo>
                <a:lnTo>
                  <a:pt x="165527" y="56971"/>
                </a:lnTo>
                <a:cubicBezTo>
                  <a:pt x="167432" y="55066"/>
                  <a:pt x="168086" y="52268"/>
                  <a:pt x="167253" y="49709"/>
                </a:cubicBezTo>
                <a:cubicBezTo>
                  <a:pt x="166420" y="47149"/>
                  <a:pt x="164247" y="45274"/>
                  <a:pt x="161568" y="44857"/>
                </a:cubicBezTo>
                <a:lnTo>
                  <a:pt x="114002" y="37296"/>
                </a:lnTo>
                <a:lnTo>
                  <a:pt x="92125" y="-562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"/>
          <p:cNvSpPr/>
          <p:nvPr/>
        </p:nvSpPr>
        <p:spPr>
          <a:xfrm>
            <a:off x="6829425" y="4295775"/>
            <a:ext cx="1314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Review &amp; Rating</a:t>
            </a:r>
            <a:endParaRPr b="0" i="0" sz="1600" u="none" cap="none" strike="noStrike"/>
          </a:p>
        </p:txBody>
      </p:sp>
      <p:sp>
        <p:nvSpPr>
          <p:cNvPr id="232" name="Google Shape;232;p18"/>
          <p:cNvSpPr/>
          <p:nvPr/>
        </p:nvSpPr>
        <p:spPr>
          <a:xfrm>
            <a:off x="6334125" y="47339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Customer feedback collection, rating aggregation, review moderation, helpful review tracking</a:t>
            </a:r>
            <a:endParaRPr b="0" i="0" sz="1600" u="none" cap="none" strike="noStrike"/>
          </a:p>
        </p:txBody>
      </p:sp>
      <p:sp>
        <p:nvSpPr>
          <p:cNvPr id="233" name="Google Shape;233;p18"/>
          <p:cNvSpPr/>
          <p:nvPr/>
        </p:nvSpPr>
        <p:spPr>
          <a:xfrm>
            <a:off x="6334125" y="6048375"/>
            <a:ext cx="647700" cy="266700"/>
          </a:xfrm>
          <a:custGeom>
            <a:rect b="b" l="l" r="r" t="t"/>
            <a:pathLst>
              <a:path extrusionOk="0" h="266700" w="647700">
                <a:moveTo>
                  <a:pt x="38101" y="0"/>
                </a:moveTo>
                <a:lnTo>
                  <a:pt x="609599" y="0"/>
                </a:lnTo>
                <a:cubicBezTo>
                  <a:pt x="630642" y="0"/>
                  <a:pt x="647700" y="17058"/>
                  <a:pt x="647700" y="38101"/>
                </a:cubicBezTo>
                <a:lnTo>
                  <a:pt x="647700" y="228599"/>
                </a:lnTo>
                <a:cubicBezTo>
                  <a:pt x="647700" y="249628"/>
                  <a:pt x="630628" y="266700"/>
                  <a:pt x="6095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8"/>
          <p:cNvSpPr/>
          <p:nvPr/>
        </p:nvSpPr>
        <p:spPr>
          <a:xfrm>
            <a:off x="6334125" y="6048375"/>
            <a:ext cx="714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Reviews</a:t>
            </a:r>
            <a:endParaRPr b="0" i="0" sz="1600" u="none" cap="none" strike="noStrike"/>
          </a:p>
        </p:txBody>
      </p:sp>
      <p:sp>
        <p:nvSpPr>
          <p:cNvPr id="235" name="Google Shape;235;p18"/>
          <p:cNvSpPr/>
          <p:nvPr/>
        </p:nvSpPr>
        <p:spPr>
          <a:xfrm>
            <a:off x="7053783" y="6048375"/>
            <a:ext cx="628650" cy="266700"/>
          </a:xfrm>
          <a:custGeom>
            <a:rect b="b" l="l" r="r" t="t"/>
            <a:pathLst>
              <a:path extrusionOk="0" h="266700" w="628650">
                <a:moveTo>
                  <a:pt x="38101" y="0"/>
                </a:moveTo>
                <a:lnTo>
                  <a:pt x="590549" y="0"/>
                </a:lnTo>
                <a:cubicBezTo>
                  <a:pt x="611592" y="0"/>
                  <a:pt x="628650" y="17058"/>
                  <a:pt x="628650" y="38101"/>
                </a:cubicBezTo>
                <a:lnTo>
                  <a:pt x="628650" y="228599"/>
                </a:lnTo>
                <a:cubicBezTo>
                  <a:pt x="628650" y="249628"/>
                  <a:pt x="611578" y="266700"/>
                  <a:pt x="59054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8"/>
          <p:cNvSpPr/>
          <p:nvPr/>
        </p:nvSpPr>
        <p:spPr>
          <a:xfrm>
            <a:off x="7053783" y="6048375"/>
            <a:ext cx="6953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Wishlist</a:t>
            </a:r>
            <a:endParaRPr b="0" i="0" sz="1600" u="none" cap="none" strike="noStrike"/>
          </a:p>
        </p:txBody>
      </p:sp>
      <p:sp>
        <p:nvSpPr>
          <p:cNvPr id="237" name="Google Shape;237;p18"/>
          <p:cNvSpPr/>
          <p:nvPr/>
        </p:nvSpPr>
        <p:spPr>
          <a:xfrm>
            <a:off x="9072563" y="4081463"/>
            <a:ext cx="2733675" cy="2390775"/>
          </a:xfrm>
          <a:custGeom>
            <a:rect b="b" l="l" r="r" t="t"/>
            <a:pathLst>
              <a:path extrusionOk="0" h="2390775" w="2733675">
                <a:moveTo>
                  <a:pt x="76194" y="0"/>
                </a:moveTo>
                <a:lnTo>
                  <a:pt x="2657481" y="0"/>
                </a:lnTo>
                <a:cubicBezTo>
                  <a:pt x="2699534" y="0"/>
                  <a:pt x="2733675" y="34141"/>
                  <a:pt x="2733675" y="76194"/>
                </a:cubicBezTo>
                <a:lnTo>
                  <a:pt x="2733675" y="2314581"/>
                </a:lnTo>
                <a:cubicBezTo>
                  <a:pt x="2733675" y="2356634"/>
                  <a:pt x="2699534" y="2390775"/>
                  <a:pt x="2657481" y="2390775"/>
                </a:cubicBezTo>
                <a:lnTo>
                  <a:pt x="76194" y="2390775"/>
                </a:lnTo>
                <a:cubicBezTo>
                  <a:pt x="34141" y="2390775"/>
                  <a:pt x="0" y="2356634"/>
                  <a:pt x="0" y="2314581"/>
                </a:cubicBezTo>
                <a:lnTo>
                  <a:pt x="0" y="76194"/>
                </a:lnTo>
                <a:cubicBezTo>
                  <a:pt x="0" y="34141"/>
                  <a:pt x="34141" y="0"/>
                  <a:pt x="7619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8"/>
          <p:cNvSpPr/>
          <p:nvPr/>
        </p:nvSpPr>
        <p:spPr>
          <a:xfrm>
            <a:off x="9229725" y="4238625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8"/>
          <p:cNvSpPr/>
          <p:nvPr/>
        </p:nvSpPr>
        <p:spPr>
          <a:xfrm>
            <a:off x="9334500" y="4352925"/>
            <a:ext cx="171450" cy="152400"/>
          </a:xfrm>
          <a:custGeom>
            <a:rect b="b" l="l" r="r" t="t"/>
            <a:pathLst>
              <a:path extrusionOk="0" h="152400" w="171450">
                <a:moveTo>
                  <a:pt x="119420" y="11638"/>
                </a:moveTo>
                <a:lnTo>
                  <a:pt x="163532" y="56376"/>
                </a:lnTo>
                <a:cubicBezTo>
                  <a:pt x="171777" y="64740"/>
                  <a:pt x="171777" y="78135"/>
                  <a:pt x="163532" y="86499"/>
                </a:cubicBezTo>
                <a:lnTo>
                  <a:pt x="116979" y="133618"/>
                </a:lnTo>
                <a:cubicBezTo>
                  <a:pt x="114211" y="136416"/>
                  <a:pt x="109686" y="136446"/>
                  <a:pt x="106888" y="133677"/>
                </a:cubicBezTo>
                <a:cubicBezTo>
                  <a:pt x="104090" y="130909"/>
                  <a:pt x="104061" y="126385"/>
                  <a:pt x="106829" y="123587"/>
                </a:cubicBezTo>
                <a:lnTo>
                  <a:pt x="153382" y="76438"/>
                </a:lnTo>
                <a:cubicBezTo>
                  <a:pt x="156121" y="73670"/>
                  <a:pt x="156121" y="69175"/>
                  <a:pt x="153382" y="66407"/>
                </a:cubicBezTo>
                <a:lnTo>
                  <a:pt x="109240" y="21699"/>
                </a:lnTo>
                <a:cubicBezTo>
                  <a:pt x="106472" y="18901"/>
                  <a:pt x="106501" y="14377"/>
                  <a:pt x="109299" y="11609"/>
                </a:cubicBezTo>
                <a:cubicBezTo>
                  <a:pt x="112097" y="8840"/>
                  <a:pt x="116622" y="8870"/>
                  <a:pt x="119390" y="11668"/>
                </a:cubicBezTo>
                <a:close/>
                <a:moveTo>
                  <a:pt x="9555" y="68312"/>
                </a:moveTo>
                <a:lnTo>
                  <a:pt x="9555" y="28575"/>
                </a:lnTo>
                <a:cubicBezTo>
                  <a:pt x="9555" y="18068"/>
                  <a:pt x="18098" y="9525"/>
                  <a:pt x="28605" y="9525"/>
                </a:cubicBezTo>
                <a:lnTo>
                  <a:pt x="68342" y="9525"/>
                </a:lnTo>
                <a:cubicBezTo>
                  <a:pt x="73402" y="9525"/>
                  <a:pt x="78254" y="11519"/>
                  <a:pt x="81826" y="15091"/>
                </a:cubicBezTo>
                <a:lnTo>
                  <a:pt x="124688" y="57954"/>
                </a:lnTo>
                <a:cubicBezTo>
                  <a:pt x="132130" y="65395"/>
                  <a:pt x="132130" y="77450"/>
                  <a:pt x="124688" y="84892"/>
                </a:cubicBezTo>
                <a:lnTo>
                  <a:pt x="84951" y="124629"/>
                </a:lnTo>
                <a:cubicBezTo>
                  <a:pt x="77510" y="132070"/>
                  <a:pt x="65455" y="132070"/>
                  <a:pt x="58013" y="124629"/>
                </a:cubicBezTo>
                <a:lnTo>
                  <a:pt x="15151" y="81766"/>
                </a:lnTo>
                <a:cubicBezTo>
                  <a:pt x="11579" y="78194"/>
                  <a:pt x="9585" y="73343"/>
                  <a:pt x="9585" y="68282"/>
                </a:cubicBezTo>
                <a:close/>
                <a:moveTo>
                  <a:pt x="52417" y="42863"/>
                </a:moveTo>
                <a:cubicBezTo>
                  <a:pt x="52417" y="37606"/>
                  <a:pt x="48149" y="33338"/>
                  <a:pt x="42892" y="33338"/>
                </a:cubicBezTo>
                <a:cubicBezTo>
                  <a:pt x="37635" y="33338"/>
                  <a:pt x="33367" y="37606"/>
                  <a:pt x="33367" y="42863"/>
                </a:cubicBezTo>
                <a:cubicBezTo>
                  <a:pt x="33367" y="48119"/>
                  <a:pt x="37635" y="52388"/>
                  <a:pt x="42892" y="52388"/>
                </a:cubicBezTo>
                <a:cubicBezTo>
                  <a:pt x="48149" y="52388"/>
                  <a:pt x="52417" y="48119"/>
                  <a:pt x="52417" y="4286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"/>
          <p:cNvSpPr/>
          <p:nvPr/>
        </p:nvSpPr>
        <p:spPr>
          <a:xfrm>
            <a:off x="9725025" y="4295775"/>
            <a:ext cx="1695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Promotional Features</a:t>
            </a:r>
            <a:endParaRPr b="0" i="0" sz="1600" u="none" cap="none" strike="noStrike"/>
          </a:p>
        </p:txBody>
      </p:sp>
      <p:sp>
        <p:nvSpPr>
          <p:cNvPr id="241" name="Google Shape;241;p18"/>
          <p:cNvSpPr/>
          <p:nvPr/>
        </p:nvSpPr>
        <p:spPr>
          <a:xfrm>
            <a:off x="9229725" y="4733925"/>
            <a:ext cx="249555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Coupon code management, discount calculations, usage tracking, promotional campaigns</a:t>
            </a:r>
            <a:endParaRPr b="0" i="0" sz="1600" u="none" cap="none" strike="noStrike"/>
          </a:p>
        </p:txBody>
      </p:sp>
      <p:sp>
        <p:nvSpPr>
          <p:cNvPr id="242" name="Google Shape;242;p18"/>
          <p:cNvSpPr/>
          <p:nvPr/>
        </p:nvSpPr>
        <p:spPr>
          <a:xfrm>
            <a:off x="9229725" y="6048375"/>
            <a:ext cx="685800" cy="266700"/>
          </a:xfrm>
          <a:custGeom>
            <a:rect b="b" l="l" r="r" t="t"/>
            <a:pathLst>
              <a:path extrusionOk="0" h="266700" w="685800">
                <a:moveTo>
                  <a:pt x="38101" y="0"/>
                </a:moveTo>
                <a:lnTo>
                  <a:pt x="647699" y="0"/>
                </a:lnTo>
                <a:cubicBezTo>
                  <a:pt x="668742" y="0"/>
                  <a:pt x="685800" y="17058"/>
                  <a:pt x="685800" y="38101"/>
                </a:cubicBezTo>
                <a:lnTo>
                  <a:pt x="685800" y="228599"/>
                </a:lnTo>
                <a:cubicBezTo>
                  <a:pt x="685800" y="249628"/>
                  <a:pt x="668728" y="266700"/>
                  <a:pt x="647699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8"/>
          <p:cNvSpPr/>
          <p:nvPr/>
        </p:nvSpPr>
        <p:spPr>
          <a:xfrm>
            <a:off x="9229725" y="6048375"/>
            <a:ext cx="7524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Coupons</a:t>
            </a:r>
            <a:endParaRPr b="0" i="0" sz="1600" u="none" cap="none" strike="noStrike"/>
          </a:p>
        </p:txBody>
      </p:sp>
      <p:sp>
        <p:nvSpPr>
          <p:cNvPr id="244" name="Google Shape;244;p18"/>
          <p:cNvSpPr/>
          <p:nvPr/>
        </p:nvSpPr>
        <p:spPr>
          <a:xfrm>
            <a:off x="9987632" y="6048375"/>
            <a:ext cx="1057275" cy="266700"/>
          </a:xfrm>
          <a:custGeom>
            <a:rect b="b" l="l" r="r" t="t"/>
            <a:pathLst>
              <a:path extrusionOk="0" h="266700" w="1057275">
                <a:moveTo>
                  <a:pt x="38101" y="0"/>
                </a:moveTo>
                <a:lnTo>
                  <a:pt x="1019174" y="0"/>
                </a:lnTo>
                <a:cubicBezTo>
                  <a:pt x="1040217" y="0"/>
                  <a:pt x="1057275" y="17058"/>
                  <a:pt x="1057275" y="38101"/>
                </a:cubicBezTo>
                <a:lnTo>
                  <a:pt x="1057275" y="228599"/>
                </a:lnTo>
                <a:cubicBezTo>
                  <a:pt x="1057275" y="249642"/>
                  <a:pt x="1040217" y="266700"/>
                  <a:pt x="1019174" y="266700"/>
                </a:cubicBezTo>
                <a:lnTo>
                  <a:pt x="38101" y="266700"/>
                </a:lnTo>
                <a:cubicBezTo>
                  <a:pt x="17058" y="266700"/>
                  <a:pt x="0" y="249642"/>
                  <a:pt x="0" y="2285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9987632" y="6048375"/>
            <a:ext cx="1123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76200" spcFirstLastPara="1" rIns="76200" wrap="square" tIns="381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Coupon_Usage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9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Entity Definition</a:t>
            </a:r>
            <a:endParaRPr b="0" i="0" sz="1600" u="none" cap="none" strike="noStrike"/>
          </a:p>
        </p:txBody>
      </p:sp>
      <p:sp>
        <p:nvSpPr>
          <p:cNvPr id="252" name="Google Shape;252;p19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Core Entities &amp; Attributes</a:t>
            </a:r>
            <a:endParaRPr b="0" i="0" sz="1600" u="none" cap="none" strike="noStrike"/>
          </a:p>
        </p:txBody>
      </p:sp>
      <p:sp>
        <p:nvSpPr>
          <p:cNvPr id="253" name="Google Shape;253;p19"/>
          <p:cNvSpPr/>
          <p:nvPr/>
        </p:nvSpPr>
        <p:spPr>
          <a:xfrm>
            <a:off x="317500" y="1079500"/>
            <a:ext cx="762000" cy="31750"/>
          </a:xfrm>
          <a:custGeom>
            <a:rect b="b" l="l" r="r" t="t"/>
            <a:pathLst>
              <a:path extrusionOk="0" h="31750" w="76200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254" name="Google Shape;254;p19"/>
          <p:cNvSpPr/>
          <p:nvPr/>
        </p:nvSpPr>
        <p:spPr>
          <a:xfrm>
            <a:off x="321475" y="1273976"/>
            <a:ext cx="3762375" cy="4245948"/>
          </a:xfrm>
          <a:custGeom>
            <a:rect b="b" l="l" r="r" t="t"/>
            <a:pathLst>
              <a:path extrusionOk="0" h="3516313" w="3762375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3452808"/>
                </a:lnTo>
                <a:cubicBezTo>
                  <a:pt x="3762375" y="3487881"/>
                  <a:pt x="3733943" y="3516313"/>
                  <a:pt x="3698870" y="3516313"/>
                </a:cubicBezTo>
                <a:lnTo>
                  <a:pt x="63505" y="3516313"/>
                </a:lnTo>
                <a:cubicBezTo>
                  <a:pt x="28432" y="3516313"/>
                  <a:pt x="0" y="3487881"/>
                  <a:pt x="0" y="3452808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9"/>
          <p:cNvSpPr/>
          <p:nvPr/>
        </p:nvSpPr>
        <p:spPr>
          <a:xfrm>
            <a:off x="452438" y="143668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9"/>
          <p:cNvSpPr/>
          <p:nvPr/>
        </p:nvSpPr>
        <p:spPr>
          <a:xfrm>
            <a:off x="555625" y="1531938"/>
            <a:ext cx="111125" cy="127000"/>
          </a:xfrm>
          <a:custGeom>
            <a:rect b="b" l="l" r="r" t="t"/>
            <a:pathLst>
              <a:path extrusionOk="0" h="127000" w="111125">
                <a:moveTo>
                  <a:pt x="55563" y="61516"/>
                </a:moveTo>
                <a:cubicBezTo>
                  <a:pt x="71991" y="61516"/>
                  <a:pt x="85328" y="48178"/>
                  <a:pt x="85328" y="31750"/>
                </a:cubicBezTo>
                <a:cubicBezTo>
                  <a:pt x="85328" y="15322"/>
                  <a:pt x="71991" y="1984"/>
                  <a:pt x="55563" y="1984"/>
                </a:cubicBezTo>
                <a:cubicBezTo>
                  <a:pt x="39134" y="1984"/>
                  <a:pt x="25797" y="15322"/>
                  <a:pt x="25797" y="31750"/>
                </a:cubicBezTo>
                <a:cubicBezTo>
                  <a:pt x="25797" y="48178"/>
                  <a:pt x="39134" y="61516"/>
                  <a:pt x="55562" y="61516"/>
                </a:cubicBezTo>
                <a:close/>
                <a:moveTo>
                  <a:pt x="48196" y="75406"/>
                </a:moveTo>
                <a:cubicBezTo>
                  <a:pt x="23763" y="75406"/>
                  <a:pt x="3969" y="95200"/>
                  <a:pt x="3969" y="119633"/>
                </a:cubicBezTo>
                <a:cubicBezTo>
                  <a:pt x="3969" y="123701"/>
                  <a:pt x="7268" y="127000"/>
                  <a:pt x="11336" y="127000"/>
                </a:cubicBezTo>
                <a:lnTo>
                  <a:pt x="99789" y="127000"/>
                </a:lnTo>
                <a:cubicBezTo>
                  <a:pt x="103857" y="127000"/>
                  <a:pt x="107156" y="123701"/>
                  <a:pt x="107156" y="119633"/>
                </a:cubicBezTo>
                <a:cubicBezTo>
                  <a:pt x="107156" y="95200"/>
                  <a:pt x="87362" y="75406"/>
                  <a:pt x="62929" y="75406"/>
                </a:cubicBezTo>
                <a:lnTo>
                  <a:pt x="48196" y="754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"/>
          <p:cNvSpPr/>
          <p:nvPr/>
        </p:nvSpPr>
        <p:spPr>
          <a:xfrm>
            <a:off x="865188" y="1404938"/>
            <a:ext cx="61912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endParaRPr b="0" i="0" sz="1600" u="none" cap="none" strike="noStrike"/>
          </a:p>
        </p:txBody>
      </p:sp>
      <p:sp>
        <p:nvSpPr>
          <p:cNvPr id="258" name="Google Shape;258;p19"/>
          <p:cNvSpPr/>
          <p:nvPr/>
        </p:nvSpPr>
        <p:spPr>
          <a:xfrm>
            <a:off x="865188" y="1627188"/>
            <a:ext cx="595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user_id</a:t>
            </a:r>
            <a:endParaRPr b="0" i="0" sz="1600" u="none" cap="none" strike="noStrike"/>
          </a:p>
        </p:txBody>
      </p:sp>
      <p:sp>
        <p:nvSpPr>
          <p:cNvPr id="259" name="Google Shape;259;p19"/>
          <p:cNvSpPr/>
          <p:nvPr/>
        </p:nvSpPr>
        <p:spPr>
          <a:xfrm>
            <a:off x="452438" y="2139156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60" name="Google Shape;260;p19"/>
          <p:cNvSpPr/>
          <p:nvPr/>
        </p:nvSpPr>
        <p:spPr>
          <a:xfrm>
            <a:off x="452438" y="1912938"/>
            <a:ext cx="468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user_id</a:t>
            </a:r>
            <a:endParaRPr b="0" i="0" sz="1600" u="none" cap="none" strike="noStrike"/>
          </a:p>
        </p:txBody>
      </p:sp>
      <p:sp>
        <p:nvSpPr>
          <p:cNvPr id="261" name="Google Shape;261;p19"/>
          <p:cNvSpPr/>
          <p:nvPr/>
        </p:nvSpPr>
        <p:spPr>
          <a:xfrm>
            <a:off x="3192177" y="1928813"/>
            <a:ext cx="817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INT UNSIGNED</a:t>
            </a:r>
            <a:endParaRPr b="0" i="0" sz="1600" u="none" cap="none" strike="noStrike"/>
          </a:p>
        </p:txBody>
      </p:sp>
      <p:sp>
        <p:nvSpPr>
          <p:cNvPr id="262" name="Google Shape;262;p19"/>
          <p:cNvSpPr/>
          <p:nvPr/>
        </p:nvSpPr>
        <p:spPr>
          <a:xfrm>
            <a:off x="452438" y="2448719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63" name="Google Shape;263;p19"/>
          <p:cNvSpPr/>
          <p:nvPr/>
        </p:nvSpPr>
        <p:spPr>
          <a:xfrm>
            <a:off x="452438" y="2222500"/>
            <a:ext cx="3730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</a:t>
            </a:r>
            <a:endParaRPr b="0" i="0" sz="1600" u="none" cap="none" strike="noStrike"/>
          </a:p>
        </p:txBody>
      </p:sp>
      <p:sp>
        <p:nvSpPr>
          <p:cNvPr id="264" name="Google Shape;264;p19"/>
          <p:cNvSpPr/>
          <p:nvPr/>
        </p:nvSpPr>
        <p:spPr>
          <a:xfrm>
            <a:off x="3160055" y="2238375"/>
            <a:ext cx="849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VARCHAR(100)</a:t>
            </a:r>
            <a:endParaRPr b="0" i="0" sz="1600" u="none" cap="none" strike="noStrike"/>
          </a:p>
        </p:txBody>
      </p:sp>
      <p:sp>
        <p:nvSpPr>
          <p:cNvPr id="265" name="Google Shape;265;p19"/>
          <p:cNvSpPr/>
          <p:nvPr/>
        </p:nvSpPr>
        <p:spPr>
          <a:xfrm>
            <a:off x="452438" y="2758281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66" name="Google Shape;266;p19"/>
          <p:cNvSpPr/>
          <p:nvPr/>
        </p:nvSpPr>
        <p:spPr>
          <a:xfrm>
            <a:off x="452438" y="2532063"/>
            <a:ext cx="3651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email</a:t>
            </a:r>
            <a:endParaRPr b="0" i="0" sz="1600" u="none" cap="none" strike="noStrike"/>
          </a:p>
        </p:txBody>
      </p:sp>
      <p:sp>
        <p:nvSpPr>
          <p:cNvPr id="267" name="Google Shape;267;p19"/>
          <p:cNvSpPr/>
          <p:nvPr/>
        </p:nvSpPr>
        <p:spPr>
          <a:xfrm>
            <a:off x="2998515" y="2547938"/>
            <a:ext cx="10080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VARCHAR(150) UK</a:t>
            </a:r>
            <a:endParaRPr b="0" i="0" sz="1600" u="none" cap="none" strike="noStrike"/>
          </a:p>
        </p:txBody>
      </p:sp>
      <p:sp>
        <p:nvSpPr>
          <p:cNvPr id="268" name="Google Shape;268;p19"/>
          <p:cNvSpPr/>
          <p:nvPr/>
        </p:nvSpPr>
        <p:spPr>
          <a:xfrm>
            <a:off x="452438" y="3067844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69" name="Google Shape;269;p19"/>
          <p:cNvSpPr/>
          <p:nvPr/>
        </p:nvSpPr>
        <p:spPr>
          <a:xfrm>
            <a:off x="452438" y="2841625"/>
            <a:ext cx="611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password</a:t>
            </a:r>
            <a:endParaRPr b="0" i="0" sz="1600" u="none" cap="none" strike="noStrike"/>
          </a:p>
        </p:txBody>
      </p:sp>
      <p:sp>
        <p:nvSpPr>
          <p:cNvPr id="270" name="Google Shape;270;p19"/>
          <p:cNvSpPr/>
          <p:nvPr/>
        </p:nvSpPr>
        <p:spPr>
          <a:xfrm>
            <a:off x="3153730" y="2857500"/>
            <a:ext cx="849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VARCHAR(255)</a:t>
            </a:r>
            <a:endParaRPr b="0" i="0" sz="1600" u="none" cap="none" strike="noStrike"/>
          </a:p>
        </p:txBody>
      </p:sp>
      <p:sp>
        <p:nvSpPr>
          <p:cNvPr id="271" name="Google Shape;271;p19"/>
          <p:cNvSpPr/>
          <p:nvPr/>
        </p:nvSpPr>
        <p:spPr>
          <a:xfrm>
            <a:off x="452438" y="3377406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72" name="Google Shape;272;p19"/>
          <p:cNvSpPr/>
          <p:nvPr/>
        </p:nvSpPr>
        <p:spPr>
          <a:xfrm>
            <a:off x="452438" y="3151188"/>
            <a:ext cx="412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phone</a:t>
            </a:r>
            <a:endParaRPr b="0" i="0" sz="1600" u="none" cap="none" strike="noStrike"/>
          </a:p>
        </p:txBody>
      </p:sp>
      <p:sp>
        <p:nvSpPr>
          <p:cNvPr id="273" name="Google Shape;273;p19"/>
          <p:cNvSpPr/>
          <p:nvPr/>
        </p:nvSpPr>
        <p:spPr>
          <a:xfrm>
            <a:off x="3210843" y="3167063"/>
            <a:ext cx="7937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VARCHAR(20)</a:t>
            </a:r>
            <a:endParaRPr b="0" i="0" sz="1600" u="none" cap="none" strike="noStrike"/>
          </a:p>
        </p:txBody>
      </p:sp>
      <p:sp>
        <p:nvSpPr>
          <p:cNvPr id="274" name="Google Shape;274;p19"/>
          <p:cNvSpPr/>
          <p:nvPr/>
        </p:nvSpPr>
        <p:spPr>
          <a:xfrm>
            <a:off x="452438" y="3686969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75" name="Google Shape;275;p19"/>
          <p:cNvSpPr/>
          <p:nvPr/>
        </p:nvSpPr>
        <p:spPr>
          <a:xfrm>
            <a:off x="452438" y="3460750"/>
            <a:ext cx="277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role</a:t>
            </a:r>
            <a:endParaRPr b="0" i="0" sz="1600" u="none" cap="none" strike="noStrike"/>
          </a:p>
        </p:txBody>
      </p:sp>
      <p:sp>
        <p:nvSpPr>
          <p:cNvPr id="276" name="Google Shape;276;p19"/>
          <p:cNvSpPr/>
          <p:nvPr/>
        </p:nvSpPr>
        <p:spPr>
          <a:xfrm>
            <a:off x="3625577" y="3476625"/>
            <a:ext cx="3810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ENUM</a:t>
            </a:r>
            <a:endParaRPr b="0" i="0" sz="1600" u="none" cap="none" strike="noStrike"/>
          </a:p>
        </p:txBody>
      </p:sp>
      <p:sp>
        <p:nvSpPr>
          <p:cNvPr id="277" name="Google Shape;277;p19"/>
          <p:cNvSpPr/>
          <p:nvPr/>
        </p:nvSpPr>
        <p:spPr>
          <a:xfrm>
            <a:off x="452438" y="3770313"/>
            <a:ext cx="6588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created_at</a:t>
            </a:r>
            <a:endParaRPr b="0" i="0" sz="1600" u="none" cap="none" strike="noStrike"/>
          </a:p>
        </p:txBody>
      </p:sp>
      <p:sp>
        <p:nvSpPr>
          <p:cNvPr id="278" name="Google Shape;278;p19"/>
          <p:cNvSpPr/>
          <p:nvPr/>
        </p:nvSpPr>
        <p:spPr>
          <a:xfrm>
            <a:off x="3405250" y="3786188"/>
            <a:ext cx="603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DATETIME</a:t>
            </a:r>
            <a:endParaRPr b="0" i="0" sz="1600" u="none" cap="none" strike="noStrike"/>
          </a:p>
        </p:txBody>
      </p:sp>
      <p:sp>
        <p:nvSpPr>
          <p:cNvPr id="279" name="Google Shape;279;p19"/>
          <p:cNvSpPr/>
          <p:nvPr/>
        </p:nvSpPr>
        <p:spPr>
          <a:xfrm>
            <a:off x="452438" y="4401344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30196"/>
            </a:srgbClr>
          </a:solidFill>
          <a:ln>
            <a:noFill/>
          </a:ln>
        </p:spPr>
      </p:sp>
      <p:sp>
        <p:nvSpPr>
          <p:cNvPr id="280" name="Google Shape;280;p19"/>
          <p:cNvSpPr/>
          <p:nvPr/>
        </p:nvSpPr>
        <p:spPr>
          <a:xfrm>
            <a:off x="452438" y="4500563"/>
            <a:ext cx="35560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Role:</a:t>
            </a:r>
            <a:r>
              <a:rPr b="0" i="0" lang="en-US" sz="87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customer, admin</a:t>
            </a:r>
            <a:endParaRPr b="0" i="0" sz="1600" u="none" cap="none" strike="noStrike"/>
          </a:p>
        </p:txBody>
      </p:sp>
      <p:sp>
        <p:nvSpPr>
          <p:cNvPr id="281" name="Google Shape;281;p19"/>
          <p:cNvSpPr/>
          <p:nvPr/>
        </p:nvSpPr>
        <p:spPr>
          <a:xfrm>
            <a:off x="4216125" y="1273976"/>
            <a:ext cx="3762375" cy="4245948"/>
          </a:xfrm>
          <a:custGeom>
            <a:rect b="b" l="l" r="r" t="t"/>
            <a:pathLst>
              <a:path extrusionOk="0" h="3516313" w="3762375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3452808"/>
                </a:lnTo>
                <a:cubicBezTo>
                  <a:pt x="3762375" y="3487881"/>
                  <a:pt x="3733943" y="3516313"/>
                  <a:pt x="3698870" y="3516313"/>
                </a:cubicBezTo>
                <a:lnTo>
                  <a:pt x="63505" y="3516313"/>
                </a:lnTo>
                <a:cubicBezTo>
                  <a:pt x="28432" y="3516313"/>
                  <a:pt x="0" y="3487881"/>
                  <a:pt x="0" y="3452808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"/>
          <p:cNvSpPr/>
          <p:nvPr/>
        </p:nvSpPr>
        <p:spPr>
          <a:xfrm>
            <a:off x="4347083" y="143668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4450271" y="1531938"/>
            <a:ext cx="111125" cy="127000"/>
          </a:xfrm>
          <a:custGeom>
            <a:rect b="b" l="l" r="r" t="t"/>
            <a:pathLst>
              <a:path extrusionOk="0" h="127000" w="111125">
                <a:moveTo>
                  <a:pt x="91629" y="31750"/>
                </a:moveTo>
                <a:lnTo>
                  <a:pt x="83121" y="19844"/>
                </a:lnTo>
                <a:lnTo>
                  <a:pt x="28029" y="19844"/>
                </a:lnTo>
                <a:lnTo>
                  <a:pt x="19521" y="31750"/>
                </a:lnTo>
                <a:lnTo>
                  <a:pt x="91629" y="31750"/>
                </a:lnTo>
                <a:close/>
                <a:moveTo>
                  <a:pt x="0" y="36835"/>
                </a:moveTo>
                <a:cubicBezTo>
                  <a:pt x="0" y="33536"/>
                  <a:pt x="1042" y="30311"/>
                  <a:pt x="2952" y="27608"/>
                </a:cubicBezTo>
                <a:lnTo>
                  <a:pt x="15106" y="10616"/>
                </a:lnTo>
                <a:cubicBezTo>
                  <a:pt x="18083" y="6449"/>
                  <a:pt x="22895" y="3969"/>
                  <a:pt x="28004" y="3969"/>
                </a:cubicBezTo>
                <a:lnTo>
                  <a:pt x="83096" y="3969"/>
                </a:lnTo>
                <a:cubicBezTo>
                  <a:pt x="88230" y="3969"/>
                  <a:pt x="93042" y="6449"/>
                  <a:pt x="96019" y="10616"/>
                </a:cubicBezTo>
                <a:lnTo>
                  <a:pt x="108148" y="27608"/>
                </a:lnTo>
                <a:cubicBezTo>
                  <a:pt x="110083" y="30311"/>
                  <a:pt x="111100" y="33536"/>
                  <a:pt x="111100" y="36835"/>
                </a:cubicBezTo>
                <a:lnTo>
                  <a:pt x="111125" y="103188"/>
                </a:lnTo>
                <a:cubicBezTo>
                  <a:pt x="111125" y="111944"/>
                  <a:pt x="104006" y="119063"/>
                  <a:pt x="95250" y="119063"/>
                </a:cubicBezTo>
                <a:lnTo>
                  <a:pt x="15875" y="119063"/>
                </a:lnTo>
                <a:cubicBezTo>
                  <a:pt x="7119" y="119063"/>
                  <a:pt x="0" y="111944"/>
                  <a:pt x="0" y="103188"/>
                </a:cubicBezTo>
                <a:lnTo>
                  <a:pt x="0" y="368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9"/>
          <p:cNvSpPr/>
          <p:nvPr/>
        </p:nvSpPr>
        <p:spPr>
          <a:xfrm>
            <a:off x="4759833" y="1404938"/>
            <a:ext cx="793750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Products</a:t>
            </a:r>
            <a:endParaRPr b="0" i="0" sz="1600" u="none" cap="none" strike="noStrike"/>
          </a:p>
        </p:txBody>
      </p:sp>
      <p:sp>
        <p:nvSpPr>
          <p:cNvPr id="285" name="Google Shape;285;p19"/>
          <p:cNvSpPr/>
          <p:nvPr/>
        </p:nvSpPr>
        <p:spPr>
          <a:xfrm>
            <a:off x="4759833" y="1627188"/>
            <a:ext cx="7699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product_id</a:t>
            </a:r>
            <a:endParaRPr b="0" i="0" sz="1600" u="none" cap="none" strike="noStrike"/>
          </a:p>
        </p:txBody>
      </p:sp>
      <p:sp>
        <p:nvSpPr>
          <p:cNvPr id="286" name="Google Shape;286;p19"/>
          <p:cNvSpPr/>
          <p:nvPr/>
        </p:nvSpPr>
        <p:spPr>
          <a:xfrm>
            <a:off x="4347083" y="2139156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87" name="Google Shape;287;p19"/>
          <p:cNvSpPr/>
          <p:nvPr/>
        </p:nvSpPr>
        <p:spPr>
          <a:xfrm>
            <a:off x="4347083" y="1912938"/>
            <a:ext cx="666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product_id</a:t>
            </a:r>
            <a:endParaRPr b="0" i="0" sz="1600" u="none" cap="none" strike="noStrike"/>
          </a:p>
        </p:txBody>
      </p:sp>
      <p:sp>
        <p:nvSpPr>
          <p:cNvPr id="288" name="Google Shape;288;p19"/>
          <p:cNvSpPr/>
          <p:nvPr/>
        </p:nvSpPr>
        <p:spPr>
          <a:xfrm>
            <a:off x="7086823" y="1928813"/>
            <a:ext cx="817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INT UNSIGNED</a:t>
            </a:r>
            <a:endParaRPr b="0" i="0" sz="1600" u="none" cap="none" strike="noStrike"/>
          </a:p>
        </p:txBody>
      </p:sp>
      <p:sp>
        <p:nvSpPr>
          <p:cNvPr id="289" name="Google Shape;289;p19"/>
          <p:cNvSpPr/>
          <p:nvPr/>
        </p:nvSpPr>
        <p:spPr>
          <a:xfrm>
            <a:off x="4347083" y="2448719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90" name="Google Shape;290;p19"/>
          <p:cNvSpPr/>
          <p:nvPr/>
        </p:nvSpPr>
        <p:spPr>
          <a:xfrm>
            <a:off x="4347083" y="2222500"/>
            <a:ext cx="722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category_id</a:t>
            </a:r>
            <a:endParaRPr b="0" i="0" sz="1600" u="none" cap="none" strike="noStrike"/>
          </a:p>
        </p:txBody>
      </p:sp>
      <p:sp>
        <p:nvSpPr>
          <p:cNvPr id="291" name="Google Shape;291;p19"/>
          <p:cNvSpPr/>
          <p:nvPr/>
        </p:nvSpPr>
        <p:spPr>
          <a:xfrm>
            <a:off x="7714134" y="2238375"/>
            <a:ext cx="182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FK</a:t>
            </a:r>
            <a:endParaRPr b="0" i="0" sz="1600" u="none" cap="none" strike="noStrike"/>
          </a:p>
        </p:txBody>
      </p:sp>
      <p:sp>
        <p:nvSpPr>
          <p:cNvPr id="292" name="Google Shape;292;p19"/>
          <p:cNvSpPr/>
          <p:nvPr/>
        </p:nvSpPr>
        <p:spPr>
          <a:xfrm>
            <a:off x="4347083" y="2758281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93" name="Google Shape;293;p19"/>
          <p:cNvSpPr/>
          <p:nvPr/>
        </p:nvSpPr>
        <p:spPr>
          <a:xfrm>
            <a:off x="4347083" y="2532063"/>
            <a:ext cx="3730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</a:t>
            </a:r>
            <a:endParaRPr b="0" i="0" sz="1600" u="none" cap="none" strike="noStrike"/>
          </a:p>
        </p:txBody>
      </p:sp>
      <p:sp>
        <p:nvSpPr>
          <p:cNvPr id="294" name="Google Shape;294;p19"/>
          <p:cNvSpPr/>
          <p:nvPr/>
        </p:nvSpPr>
        <p:spPr>
          <a:xfrm>
            <a:off x="7034609" y="2547938"/>
            <a:ext cx="8651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VARCHAR(200)</a:t>
            </a:r>
            <a:endParaRPr b="0" i="0" sz="1600" u="none" cap="none" strike="noStrike"/>
          </a:p>
        </p:txBody>
      </p:sp>
      <p:sp>
        <p:nvSpPr>
          <p:cNvPr id="295" name="Google Shape;295;p19"/>
          <p:cNvSpPr/>
          <p:nvPr/>
        </p:nvSpPr>
        <p:spPr>
          <a:xfrm>
            <a:off x="4347083" y="3067844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96" name="Google Shape;296;p19"/>
          <p:cNvSpPr/>
          <p:nvPr/>
        </p:nvSpPr>
        <p:spPr>
          <a:xfrm>
            <a:off x="4347083" y="2841625"/>
            <a:ext cx="69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description</a:t>
            </a:r>
            <a:endParaRPr b="0" i="0" sz="1600" u="none" cap="none" strike="noStrike"/>
          </a:p>
        </p:txBody>
      </p:sp>
      <p:sp>
        <p:nvSpPr>
          <p:cNvPr id="297" name="Google Shape;297;p19"/>
          <p:cNvSpPr/>
          <p:nvPr/>
        </p:nvSpPr>
        <p:spPr>
          <a:xfrm>
            <a:off x="7573429" y="2857500"/>
            <a:ext cx="325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TEXT</a:t>
            </a:r>
            <a:endParaRPr b="0" i="0" sz="1600" u="none" cap="none" strike="noStrike"/>
          </a:p>
        </p:txBody>
      </p:sp>
      <p:sp>
        <p:nvSpPr>
          <p:cNvPr id="298" name="Google Shape;298;p19"/>
          <p:cNvSpPr/>
          <p:nvPr/>
        </p:nvSpPr>
        <p:spPr>
          <a:xfrm>
            <a:off x="4347083" y="3377406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299" name="Google Shape;299;p19"/>
          <p:cNvSpPr/>
          <p:nvPr/>
        </p:nvSpPr>
        <p:spPr>
          <a:xfrm>
            <a:off x="4347083" y="3151188"/>
            <a:ext cx="349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price</a:t>
            </a:r>
            <a:endParaRPr b="0" i="0" sz="1600" u="none" cap="none" strike="noStrike"/>
          </a:p>
        </p:txBody>
      </p:sp>
      <p:sp>
        <p:nvSpPr>
          <p:cNvPr id="300" name="Google Shape;300;p19"/>
          <p:cNvSpPr/>
          <p:nvPr/>
        </p:nvSpPr>
        <p:spPr>
          <a:xfrm>
            <a:off x="7069956" y="3167063"/>
            <a:ext cx="833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DECIMAL(10,2)</a:t>
            </a:r>
            <a:endParaRPr b="0" i="0" sz="1600" u="none" cap="none" strike="noStrike"/>
          </a:p>
        </p:txBody>
      </p:sp>
      <p:sp>
        <p:nvSpPr>
          <p:cNvPr id="301" name="Google Shape;301;p19"/>
          <p:cNvSpPr/>
          <p:nvPr/>
        </p:nvSpPr>
        <p:spPr>
          <a:xfrm>
            <a:off x="4347083" y="3686969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302" name="Google Shape;302;p19"/>
          <p:cNvSpPr/>
          <p:nvPr/>
        </p:nvSpPr>
        <p:spPr>
          <a:xfrm>
            <a:off x="4347083" y="3460750"/>
            <a:ext cx="61118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image_url</a:t>
            </a:r>
            <a:endParaRPr b="0" i="0" sz="1600" u="none" cap="none" strike="noStrike"/>
          </a:p>
        </p:txBody>
      </p:sp>
      <p:sp>
        <p:nvSpPr>
          <p:cNvPr id="303" name="Google Shape;303;p19"/>
          <p:cNvSpPr/>
          <p:nvPr/>
        </p:nvSpPr>
        <p:spPr>
          <a:xfrm>
            <a:off x="7035167" y="3476625"/>
            <a:ext cx="8651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VARCHAR(500)</a:t>
            </a:r>
            <a:endParaRPr b="0" i="0" sz="1600" u="none" cap="none" strike="noStrike"/>
          </a:p>
        </p:txBody>
      </p:sp>
      <p:sp>
        <p:nvSpPr>
          <p:cNvPr id="304" name="Google Shape;304;p19"/>
          <p:cNvSpPr/>
          <p:nvPr/>
        </p:nvSpPr>
        <p:spPr>
          <a:xfrm>
            <a:off x="4347083" y="3996531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305" name="Google Shape;305;p19"/>
          <p:cNvSpPr/>
          <p:nvPr/>
        </p:nvSpPr>
        <p:spPr>
          <a:xfrm>
            <a:off x="4347083" y="3770313"/>
            <a:ext cx="388938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brand</a:t>
            </a:r>
            <a:endParaRPr b="0" i="0" sz="1600" u="none" cap="none" strike="noStrike"/>
          </a:p>
        </p:txBody>
      </p:sp>
      <p:sp>
        <p:nvSpPr>
          <p:cNvPr id="306" name="Google Shape;306;p19"/>
          <p:cNvSpPr/>
          <p:nvPr/>
        </p:nvSpPr>
        <p:spPr>
          <a:xfrm>
            <a:off x="7054701" y="3786188"/>
            <a:ext cx="84931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VARCHAR(100)</a:t>
            </a:r>
            <a:endParaRPr b="0" i="0" sz="1600" u="none" cap="none" strike="noStrike"/>
          </a:p>
        </p:txBody>
      </p:sp>
      <p:sp>
        <p:nvSpPr>
          <p:cNvPr id="307" name="Google Shape;307;p19"/>
          <p:cNvSpPr/>
          <p:nvPr/>
        </p:nvSpPr>
        <p:spPr>
          <a:xfrm>
            <a:off x="4347083" y="4079875"/>
            <a:ext cx="555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is_active</a:t>
            </a:r>
            <a:endParaRPr b="0" i="0" sz="1600" u="none" cap="none" strike="noStrike"/>
          </a:p>
        </p:txBody>
      </p:sp>
      <p:sp>
        <p:nvSpPr>
          <p:cNvPr id="308" name="Google Shape;308;p19"/>
          <p:cNvSpPr/>
          <p:nvPr/>
        </p:nvSpPr>
        <p:spPr>
          <a:xfrm>
            <a:off x="7292330" y="4095750"/>
            <a:ext cx="6111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TINYINT(1)</a:t>
            </a:r>
            <a:endParaRPr b="0" i="0" sz="1600" u="none" cap="none" strike="noStrike"/>
          </a:p>
        </p:txBody>
      </p:sp>
      <p:sp>
        <p:nvSpPr>
          <p:cNvPr id="309" name="Google Shape;309;p19"/>
          <p:cNvSpPr/>
          <p:nvPr/>
        </p:nvSpPr>
        <p:spPr>
          <a:xfrm>
            <a:off x="4347083" y="4401344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30196"/>
            </a:srgbClr>
          </a:solidFill>
          <a:ln>
            <a:noFill/>
          </a:ln>
        </p:spPr>
      </p:sp>
      <p:sp>
        <p:nvSpPr>
          <p:cNvPr id="310" name="Google Shape;310;p19"/>
          <p:cNvSpPr/>
          <p:nvPr/>
        </p:nvSpPr>
        <p:spPr>
          <a:xfrm>
            <a:off x="4347083" y="4500563"/>
            <a:ext cx="35560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Check:</a:t>
            </a:r>
            <a:r>
              <a:rPr b="0" i="0" lang="en-US" sz="87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price ≥ 0</a:t>
            </a:r>
            <a:endParaRPr b="0" i="0" sz="1600" u="none" cap="none" strike="noStrike"/>
          </a:p>
        </p:txBody>
      </p:sp>
      <p:sp>
        <p:nvSpPr>
          <p:cNvPr id="311" name="Google Shape;311;p19"/>
          <p:cNvSpPr/>
          <p:nvPr/>
        </p:nvSpPr>
        <p:spPr>
          <a:xfrm>
            <a:off x="8110750" y="1273976"/>
            <a:ext cx="3762375" cy="4245948"/>
          </a:xfrm>
          <a:custGeom>
            <a:rect b="b" l="l" r="r" t="t"/>
            <a:pathLst>
              <a:path extrusionOk="0" h="3516313" w="3762375">
                <a:moveTo>
                  <a:pt x="63505" y="0"/>
                </a:moveTo>
                <a:lnTo>
                  <a:pt x="3698870" y="0"/>
                </a:lnTo>
                <a:cubicBezTo>
                  <a:pt x="3733943" y="0"/>
                  <a:pt x="3762375" y="28432"/>
                  <a:pt x="3762375" y="63505"/>
                </a:cubicBezTo>
                <a:lnTo>
                  <a:pt x="3762375" y="3452808"/>
                </a:lnTo>
                <a:cubicBezTo>
                  <a:pt x="3762375" y="3487881"/>
                  <a:pt x="3733943" y="3516313"/>
                  <a:pt x="3698870" y="3516313"/>
                </a:cubicBezTo>
                <a:lnTo>
                  <a:pt x="63505" y="3516313"/>
                </a:lnTo>
                <a:cubicBezTo>
                  <a:pt x="28432" y="3516313"/>
                  <a:pt x="0" y="3487881"/>
                  <a:pt x="0" y="3452808"/>
                </a:cubicBezTo>
                <a:lnTo>
                  <a:pt x="0" y="63505"/>
                </a:lnTo>
                <a:cubicBezTo>
                  <a:pt x="0" y="28455"/>
                  <a:pt x="28455" y="0"/>
                  <a:pt x="63505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9"/>
          <p:cNvSpPr/>
          <p:nvPr/>
        </p:nvSpPr>
        <p:spPr>
          <a:xfrm>
            <a:off x="8241729" y="1436688"/>
            <a:ext cx="317500" cy="317500"/>
          </a:xfrm>
          <a:custGeom>
            <a:rect b="b" l="l" r="r" t="t"/>
            <a:pathLst>
              <a:path extrusionOk="0" h="317500" w="317500">
                <a:moveTo>
                  <a:pt x="63500" y="0"/>
                </a:moveTo>
                <a:lnTo>
                  <a:pt x="254000" y="0"/>
                </a:lnTo>
                <a:cubicBezTo>
                  <a:pt x="289047" y="0"/>
                  <a:pt x="317500" y="28453"/>
                  <a:pt x="317500" y="63500"/>
                </a:cubicBezTo>
                <a:lnTo>
                  <a:pt x="317500" y="254000"/>
                </a:lnTo>
                <a:cubicBezTo>
                  <a:pt x="317500" y="289047"/>
                  <a:pt x="289047" y="317500"/>
                  <a:pt x="254000" y="317500"/>
                </a:cubicBezTo>
                <a:lnTo>
                  <a:pt x="63500" y="317500"/>
                </a:lnTo>
                <a:cubicBezTo>
                  <a:pt x="28453" y="317500"/>
                  <a:pt x="0" y="289047"/>
                  <a:pt x="0" y="254000"/>
                </a:cubicBezTo>
                <a:lnTo>
                  <a:pt x="0" y="63500"/>
                </a:lnTo>
                <a:cubicBezTo>
                  <a:pt x="0" y="28453"/>
                  <a:pt x="28453" y="0"/>
                  <a:pt x="63500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9"/>
          <p:cNvSpPr/>
          <p:nvPr/>
        </p:nvSpPr>
        <p:spPr>
          <a:xfrm>
            <a:off x="8329042" y="1531938"/>
            <a:ext cx="142875" cy="127000"/>
          </a:xfrm>
          <a:custGeom>
            <a:rect b="b" l="l" r="r" t="t"/>
            <a:pathLst>
              <a:path extrusionOk="0" h="127000" w="142875">
                <a:moveTo>
                  <a:pt x="11906" y="5953"/>
                </a:moveTo>
                <a:cubicBezTo>
                  <a:pt x="11906" y="2654"/>
                  <a:pt x="9252" y="0"/>
                  <a:pt x="5953" y="0"/>
                </a:cubicBezTo>
                <a:cubicBezTo>
                  <a:pt x="2654" y="0"/>
                  <a:pt x="0" y="2654"/>
                  <a:pt x="0" y="5953"/>
                </a:cubicBezTo>
                <a:lnTo>
                  <a:pt x="0" y="97234"/>
                </a:lnTo>
                <a:cubicBezTo>
                  <a:pt x="0" y="104899"/>
                  <a:pt x="6226" y="111125"/>
                  <a:pt x="13891" y="111125"/>
                </a:cubicBezTo>
                <a:lnTo>
                  <a:pt x="59531" y="111125"/>
                </a:lnTo>
                <a:lnTo>
                  <a:pt x="59531" y="99219"/>
                </a:lnTo>
                <a:lnTo>
                  <a:pt x="13891" y="99219"/>
                </a:lnTo>
                <a:cubicBezTo>
                  <a:pt x="12799" y="99219"/>
                  <a:pt x="11906" y="98326"/>
                  <a:pt x="11906" y="97234"/>
                </a:cubicBezTo>
                <a:lnTo>
                  <a:pt x="11906" y="39688"/>
                </a:lnTo>
                <a:lnTo>
                  <a:pt x="59531" y="39688"/>
                </a:lnTo>
                <a:lnTo>
                  <a:pt x="59531" y="27781"/>
                </a:lnTo>
                <a:lnTo>
                  <a:pt x="11906" y="27781"/>
                </a:lnTo>
                <a:lnTo>
                  <a:pt x="11906" y="5953"/>
                </a:lnTo>
                <a:close/>
                <a:moveTo>
                  <a:pt x="83344" y="55563"/>
                </a:moveTo>
                <a:lnTo>
                  <a:pt x="130969" y="55563"/>
                </a:lnTo>
                <a:cubicBezTo>
                  <a:pt x="137542" y="55563"/>
                  <a:pt x="142875" y="50229"/>
                  <a:pt x="142875" y="43656"/>
                </a:cubicBezTo>
                <a:lnTo>
                  <a:pt x="142875" y="19844"/>
                </a:lnTo>
                <a:cubicBezTo>
                  <a:pt x="142875" y="13271"/>
                  <a:pt x="137542" y="7938"/>
                  <a:pt x="130969" y="7938"/>
                </a:cubicBezTo>
                <a:lnTo>
                  <a:pt x="110455" y="7938"/>
                </a:lnTo>
                <a:cubicBezTo>
                  <a:pt x="108347" y="7938"/>
                  <a:pt x="106338" y="7094"/>
                  <a:pt x="104849" y="5606"/>
                </a:cubicBezTo>
                <a:lnTo>
                  <a:pt x="102716" y="3473"/>
                </a:lnTo>
                <a:cubicBezTo>
                  <a:pt x="100484" y="1240"/>
                  <a:pt x="97458" y="-25"/>
                  <a:pt x="94307" y="-25"/>
                </a:cubicBezTo>
                <a:lnTo>
                  <a:pt x="83344" y="0"/>
                </a:lnTo>
                <a:cubicBezTo>
                  <a:pt x="76771" y="0"/>
                  <a:pt x="71438" y="5333"/>
                  <a:pt x="71438" y="11906"/>
                </a:cubicBezTo>
                <a:lnTo>
                  <a:pt x="71438" y="43656"/>
                </a:lnTo>
                <a:cubicBezTo>
                  <a:pt x="71438" y="50229"/>
                  <a:pt x="76771" y="55563"/>
                  <a:pt x="83344" y="55563"/>
                </a:cubicBezTo>
                <a:close/>
                <a:moveTo>
                  <a:pt x="83344" y="127000"/>
                </a:moveTo>
                <a:lnTo>
                  <a:pt x="130969" y="127000"/>
                </a:lnTo>
                <a:cubicBezTo>
                  <a:pt x="137542" y="127000"/>
                  <a:pt x="142875" y="121667"/>
                  <a:pt x="142875" y="115094"/>
                </a:cubicBezTo>
                <a:lnTo>
                  <a:pt x="142875" y="91281"/>
                </a:lnTo>
                <a:cubicBezTo>
                  <a:pt x="142875" y="84708"/>
                  <a:pt x="137542" y="79375"/>
                  <a:pt x="130969" y="79375"/>
                </a:cubicBezTo>
                <a:lnTo>
                  <a:pt x="110455" y="79375"/>
                </a:lnTo>
                <a:cubicBezTo>
                  <a:pt x="108347" y="79375"/>
                  <a:pt x="106338" y="78532"/>
                  <a:pt x="104849" y="77043"/>
                </a:cubicBezTo>
                <a:lnTo>
                  <a:pt x="102716" y="74910"/>
                </a:lnTo>
                <a:cubicBezTo>
                  <a:pt x="100484" y="72678"/>
                  <a:pt x="97458" y="71413"/>
                  <a:pt x="94307" y="71413"/>
                </a:cubicBezTo>
                <a:lnTo>
                  <a:pt x="83344" y="71438"/>
                </a:lnTo>
                <a:cubicBezTo>
                  <a:pt x="76771" y="71438"/>
                  <a:pt x="71438" y="76771"/>
                  <a:pt x="71438" y="83344"/>
                </a:cubicBezTo>
                <a:lnTo>
                  <a:pt x="71438" y="115094"/>
                </a:lnTo>
                <a:cubicBezTo>
                  <a:pt x="71438" y="121667"/>
                  <a:pt x="76771" y="127000"/>
                  <a:pt x="83344" y="1270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8654479" y="1404938"/>
            <a:ext cx="841375" cy="222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Categories</a:t>
            </a:r>
            <a:endParaRPr b="0" i="0" sz="1600" u="none" cap="none" strike="noStrike"/>
          </a:p>
        </p:txBody>
      </p:sp>
      <p:sp>
        <p:nvSpPr>
          <p:cNvPr id="315" name="Google Shape;315;p19"/>
          <p:cNvSpPr/>
          <p:nvPr/>
        </p:nvSpPr>
        <p:spPr>
          <a:xfrm>
            <a:off x="8654479" y="1627188"/>
            <a:ext cx="817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category_id</a:t>
            </a:r>
            <a:endParaRPr b="0" i="0" sz="1600" u="none" cap="none" strike="noStrike"/>
          </a:p>
        </p:txBody>
      </p:sp>
      <p:sp>
        <p:nvSpPr>
          <p:cNvPr id="316" name="Google Shape;316;p19"/>
          <p:cNvSpPr/>
          <p:nvPr/>
        </p:nvSpPr>
        <p:spPr>
          <a:xfrm>
            <a:off x="8241729" y="2139156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317" name="Google Shape;317;p19"/>
          <p:cNvSpPr/>
          <p:nvPr/>
        </p:nvSpPr>
        <p:spPr>
          <a:xfrm>
            <a:off x="8241729" y="1912938"/>
            <a:ext cx="722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category_id</a:t>
            </a:r>
            <a:endParaRPr b="0" i="0" sz="1600" u="none" cap="none" strike="noStrike"/>
          </a:p>
        </p:txBody>
      </p:sp>
      <p:sp>
        <p:nvSpPr>
          <p:cNvPr id="318" name="Google Shape;318;p19"/>
          <p:cNvSpPr/>
          <p:nvPr/>
        </p:nvSpPr>
        <p:spPr>
          <a:xfrm>
            <a:off x="10981469" y="1928813"/>
            <a:ext cx="817563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INT UNSIGNED</a:t>
            </a:r>
            <a:endParaRPr b="0" i="0" sz="1600" u="none" cap="none" strike="noStrike"/>
          </a:p>
        </p:txBody>
      </p:sp>
      <p:sp>
        <p:nvSpPr>
          <p:cNvPr id="319" name="Google Shape;319;p19"/>
          <p:cNvSpPr/>
          <p:nvPr/>
        </p:nvSpPr>
        <p:spPr>
          <a:xfrm>
            <a:off x="8241729" y="2448719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320" name="Google Shape;320;p19"/>
          <p:cNvSpPr/>
          <p:nvPr/>
        </p:nvSpPr>
        <p:spPr>
          <a:xfrm>
            <a:off x="8241729" y="2222500"/>
            <a:ext cx="37306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</a:t>
            </a:r>
            <a:endParaRPr b="0" i="0" sz="1600" u="none" cap="none" strike="noStrike"/>
          </a:p>
        </p:txBody>
      </p:sp>
      <p:sp>
        <p:nvSpPr>
          <p:cNvPr id="321" name="Google Shape;321;p19"/>
          <p:cNvSpPr/>
          <p:nvPr/>
        </p:nvSpPr>
        <p:spPr>
          <a:xfrm>
            <a:off x="10780923" y="2238375"/>
            <a:ext cx="10160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VARCHAR(100) UK</a:t>
            </a:r>
            <a:endParaRPr b="0" i="0" sz="1600" u="none" cap="none" strike="noStrike"/>
          </a:p>
        </p:txBody>
      </p:sp>
      <p:sp>
        <p:nvSpPr>
          <p:cNvPr id="322" name="Google Shape;322;p19"/>
          <p:cNvSpPr/>
          <p:nvPr/>
        </p:nvSpPr>
        <p:spPr>
          <a:xfrm>
            <a:off x="8241729" y="2758281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20000"/>
            </a:srgbClr>
          </a:solidFill>
          <a:ln>
            <a:noFill/>
          </a:ln>
        </p:spPr>
      </p:sp>
      <p:sp>
        <p:nvSpPr>
          <p:cNvPr id="323" name="Google Shape;323;p19"/>
          <p:cNvSpPr/>
          <p:nvPr/>
        </p:nvSpPr>
        <p:spPr>
          <a:xfrm>
            <a:off x="8241729" y="2532063"/>
            <a:ext cx="698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description</a:t>
            </a:r>
            <a:endParaRPr b="0" i="0" sz="1600" u="none" cap="none" strike="noStrike"/>
          </a:p>
        </p:txBody>
      </p:sp>
      <p:sp>
        <p:nvSpPr>
          <p:cNvPr id="324" name="Google Shape;324;p19"/>
          <p:cNvSpPr/>
          <p:nvPr/>
        </p:nvSpPr>
        <p:spPr>
          <a:xfrm>
            <a:off x="11468075" y="2547938"/>
            <a:ext cx="32543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TEXT</a:t>
            </a:r>
            <a:endParaRPr b="0" i="0" sz="1600" u="none" cap="none" strike="noStrike"/>
          </a:p>
        </p:txBody>
      </p:sp>
      <p:sp>
        <p:nvSpPr>
          <p:cNvPr id="325" name="Google Shape;325;p19"/>
          <p:cNvSpPr/>
          <p:nvPr/>
        </p:nvSpPr>
        <p:spPr>
          <a:xfrm>
            <a:off x="8241729" y="2841625"/>
            <a:ext cx="595313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parent_id</a:t>
            </a:r>
            <a:endParaRPr b="0" i="0" sz="1600" u="none" cap="none" strike="noStrike"/>
          </a:p>
        </p:txBody>
      </p:sp>
      <p:sp>
        <p:nvSpPr>
          <p:cNvPr id="326" name="Google Shape;326;p19"/>
          <p:cNvSpPr/>
          <p:nvPr/>
        </p:nvSpPr>
        <p:spPr>
          <a:xfrm>
            <a:off x="11140715" y="2857500"/>
            <a:ext cx="650875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FK (self-ref)</a:t>
            </a:r>
            <a:endParaRPr b="0" i="0" sz="1600" u="none" cap="none" strike="noStrike"/>
          </a:p>
        </p:txBody>
      </p:sp>
      <p:sp>
        <p:nvSpPr>
          <p:cNvPr id="327" name="Google Shape;327;p19"/>
          <p:cNvSpPr/>
          <p:nvPr/>
        </p:nvSpPr>
        <p:spPr>
          <a:xfrm>
            <a:off x="8241729" y="4401344"/>
            <a:ext cx="3500438" cy="7938"/>
          </a:xfrm>
          <a:custGeom>
            <a:rect b="b" l="l" r="r" t="t"/>
            <a:pathLst>
              <a:path extrusionOk="0" h="7938" w="3500438">
                <a:moveTo>
                  <a:pt x="0" y="0"/>
                </a:moveTo>
                <a:lnTo>
                  <a:pt x="3500438" y="0"/>
                </a:lnTo>
                <a:lnTo>
                  <a:pt x="3500438" y="7938"/>
                </a:lnTo>
                <a:lnTo>
                  <a:pt x="0" y="7938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30196"/>
            </a:srgbClr>
          </a:solidFill>
          <a:ln>
            <a:noFill/>
          </a:ln>
        </p:spPr>
      </p:sp>
      <p:sp>
        <p:nvSpPr>
          <p:cNvPr id="328" name="Google Shape;328;p19"/>
          <p:cNvSpPr/>
          <p:nvPr/>
        </p:nvSpPr>
        <p:spPr>
          <a:xfrm>
            <a:off x="8241729" y="4500563"/>
            <a:ext cx="3556000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7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Note:</a:t>
            </a:r>
            <a:r>
              <a:rPr b="0" i="0" lang="en-US" sz="875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Self-referencing for sub-categories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Entity Definition</a:t>
            </a:r>
            <a:endParaRPr b="0" i="0" sz="1600" u="none" cap="none" strike="noStrike"/>
          </a:p>
        </p:txBody>
      </p:sp>
      <p:sp>
        <p:nvSpPr>
          <p:cNvPr id="335" name="Google Shape;335;p20"/>
          <p:cNvSpPr/>
          <p:nvPr/>
        </p:nvSpPr>
        <p:spPr>
          <a:xfrm>
            <a:off x="317500" y="571500"/>
            <a:ext cx="11747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Core Entities &amp; Attributes</a:t>
            </a:r>
            <a:endParaRPr b="0" i="0" sz="1600" u="none" cap="none" strike="noStrike"/>
          </a:p>
        </p:txBody>
      </p:sp>
      <p:sp>
        <p:nvSpPr>
          <p:cNvPr id="336" name="Google Shape;336;p20"/>
          <p:cNvSpPr/>
          <p:nvPr/>
        </p:nvSpPr>
        <p:spPr>
          <a:xfrm>
            <a:off x="317500" y="1079500"/>
            <a:ext cx="762000" cy="31750"/>
          </a:xfrm>
          <a:custGeom>
            <a:rect b="b" l="l" r="r" t="t"/>
            <a:pathLst>
              <a:path extrusionOk="0" h="31750" w="76200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grpSp>
        <p:nvGrpSpPr>
          <p:cNvPr id="337" name="Google Shape;337;p20"/>
          <p:cNvGrpSpPr/>
          <p:nvPr/>
        </p:nvGrpSpPr>
        <p:grpSpPr>
          <a:xfrm>
            <a:off x="4205175" y="1670834"/>
            <a:ext cx="3762375" cy="4017388"/>
            <a:chOff x="4216115" y="4925219"/>
            <a:chExt cx="3762375" cy="3516313"/>
          </a:xfrm>
        </p:grpSpPr>
        <p:sp>
          <p:nvSpPr>
            <p:cNvPr id="338" name="Google Shape;338;p20"/>
            <p:cNvSpPr/>
            <p:nvPr/>
          </p:nvSpPr>
          <p:spPr>
            <a:xfrm>
              <a:off x="4216115" y="4925219"/>
              <a:ext cx="3762375" cy="3516313"/>
            </a:xfrm>
            <a:custGeom>
              <a:rect b="b" l="l" r="r" t="t"/>
              <a:pathLst>
                <a:path extrusionOk="0" h="3516313" w="3762375">
                  <a:moveTo>
                    <a:pt x="63505" y="0"/>
                  </a:moveTo>
                  <a:lnTo>
                    <a:pt x="3698870" y="0"/>
                  </a:lnTo>
                  <a:cubicBezTo>
                    <a:pt x="3733943" y="0"/>
                    <a:pt x="3762375" y="28432"/>
                    <a:pt x="3762375" y="63505"/>
                  </a:cubicBezTo>
                  <a:lnTo>
                    <a:pt x="3762375" y="3452808"/>
                  </a:lnTo>
                  <a:cubicBezTo>
                    <a:pt x="3762375" y="3487881"/>
                    <a:pt x="3733943" y="3516313"/>
                    <a:pt x="3698870" y="3516313"/>
                  </a:cubicBezTo>
                  <a:lnTo>
                    <a:pt x="63505" y="3516313"/>
                  </a:lnTo>
                  <a:cubicBezTo>
                    <a:pt x="28432" y="3516313"/>
                    <a:pt x="0" y="3487881"/>
                    <a:pt x="0" y="3452808"/>
                  </a:cubicBezTo>
                  <a:lnTo>
                    <a:pt x="0" y="63505"/>
                  </a:lnTo>
                  <a:cubicBezTo>
                    <a:pt x="0" y="28455"/>
                    <a:pt x="28455" y="0"/>
                    <a:pt x="63505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4347083" y="5087938"/>
              <a:ext cx="317500" cy="317500"/>
            </a:xfrm>
            <a:custGeom>
              <a:rect b="b" l="l" r="r" t="t"/>
              <a:pathLst>
                <a:path extrusionOk="0" h="317500" w="317500">
                  <a:moveTo>
                    <a:pt x="63500" y="0"/>
                  </a:moveTo>
                  <a:lnTo>
                    <a:pt x="254000" y="0"/>
                  </a:lnTo>
                  <a:cubicBezTo>
                    <a:pt x="289047" y="0"/>
                    <a:pt x="317500" y="28453"/>
                    <a:pt x="317500" y="63500"/>
                  </a:cubicBezTo>
                  <a:lnTo>
                    <a:pt x="317500" y="254000"/>
                  </a:lnTo>
                  <a:cubicBezTo>
                    <a:pt x="317500" y="289047"/>
                    <a:pt x="289047" y="317500"/>
                    <a:pt x="254000" y="317500"/>
                  </a:cubicBezTo>
                  <a:lnTo>
                    <a:pt x="63500" y="317500"/>
                  </a:lnTo>
                  <a:cubicBezTo>
                    <a:pt x="28453" y="317500"/>
                    <a:pt x="0" y="289047"/>
                    <a:pt x="0" y="2540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0"/>
            <p:cNvSpPr/>
            <p:nvPr/>
          </p:nvSpPr>
          <p:spPr>
            <a:xfrm>
              <a:off x="4442333" y="5183188"/>
              <a:ext cx="127000" cy="127000"/>
            </a:xfrm>
            <a:custGeom>
              <a:rect b="b" l="l" r="r" t="t"/>
              <a:pathLst>
                <a:path extrusionOk="0" h="127000" w="127000">
                  <a:moveTo>
                    <a:pt x="0" y="31750"/>
                  </a:moveTo>
                  <a:lnTo>
                    <a:pt x="0" y="39688"/>
                  </a:lnTo>
                  <a:lnTo>
                    <a:pt x="127000" y="39688"/>
                  </a:lnTo>
                  <a:lnTo>
                    <a:pt x="127000" y="31750"/>
                  </a:lnTo>
                  <a:cubicBezTo>
                    <a:pt x="127000" y="22994"/>
                    <a:pt x="119881" y="15875"/>
                    <a:pt x="111125" y="15875"/>
                  </a:cubicBezTo>
                  <a:lnTo>
                    <a:pt x="15875" y="15875"/>
                  </a:lnTo>
                  <a:cubicBezTo>
                    <a:pt x="7119" y="15875"/>
                    <a:pt x="0" y="22994"/>
                    <a:pt x="0" y="31750"/>
                  </a:cubicBezTo>
                  <a:close/>
                  <a:moveTo>
                    <a:pt x="0" y="51594"/>
                  </a:moveTo>
                  <a:lnTo>
                    <a:pt x="0" y="95250"/>
                  </a:lnTo>
                  <a:cubicBezTo>
                    <a:pt x="0" y="104006"/>
                    <a:pt x="7119" y="111125"/>
                    <a:pt x="15875" y="111125"/>
                  </a:cubicBezTo>
                  <a:lnTo>
                    <a:pt x="111125" y="111125"/>
                  </a:lnTo>
                  <a:cubicBezTo>
                    <a:pt x="119881" y="111125"/>
                    <a:pt x="127000" y="104006"/>
                    <a:pt x="127000" y="95250"/>
                  </a:cubicBezTo>
                  <a:lnTo>
                    <a:pt x="127000" y="51594"/>
                  </a:lnTo>
                  <a:lnTo>
                    <a:pt x="0" y="51594"/>
                  </a:lnTo>
                  <a:close/>
                  <a:moveTo>
                    <a:pt x="15875" y="89297"/>
                  </a:moveTo>
                  <a:cubicBezTo>
                    <a:pt x="15875" y="85998"/>
                    <a:pt x="18529" y="83344"/>
                    <a:pt x="21828" y="83344"/>
                  </a:cubicBezTo>
                  <a:lnTo>
                    <a:pt x="33734" y="83344"/>
                  </a:lnTo>
                  <a:cubicBezTo>
                    <a:pt x="37033" y="83344"/>
                    <a:pt x="39688" y="85998"/>
                    <a:pt x="39688" y="89297"/>
                  </a:cubicBezTo>
                  <a:cubicBezTo>
                    <a:pt x="39688" y="92596"/>
                    <a:pt x="37033" y="95250"/>
                    <a:pt x="33734" y="95250"/>
                  </a:cubicBezTo>
                  <a:lnTo>
                    <a:pt x="21828" y="95250"/>
                  </a:lnTo>
                  <a:cubicBezTo>
                    <a:pt x="18529" y="95250"/>
                    <a:pt x="15875" y="92596"/>
                    <a:pt x="15875" y="89297"/>
                  </a:cubicBezTo>
                  <a:close/>
                  <a:moveTo>
                    <a:pt x="51594" y="89297"/>
                  </a:moveTo>
                  <a:cubicBezTo>
                    <a:pt x="51594" y="85998"/>
                    <a:pt x="54248" y="83344"/>
                    <a:pt x="57547" y="83344"/>
                  </a:cubicBezTo>
                  <a:lnTo>
                    <a:pt x="73422" y="83344"/>
                  </a:lnTo>
                  <a:cubicBezTo>
                    <a:pt x="76721" y="83344"/>
                    <a:pt x="79375" y="85998"/>
                    <a:pt x="79375" y="89297"/>
                  </a:cubicBezTo>
                  <a:cubicBezTo>
                    <a:pt x="79375" y="92596"/>
                    <a:pt x="76721" y="95250"/>
                    <a:pt x="73422" y="95250"/>
                  </a:cubicBezTo>
                  <a:lnTo>
                    <a:pt x="57547" y="95250"/>
                  </a:lnTo>
                  <a:cubicBezTo>
                    <a:pt x="54248" y="95250"/>
                    <a:pt x="51594" y="92596"/>
                    <a:pt x="51594" y="8929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0"/>
            <p:cNvSpPr/>
            <p:nvPr/>
          </p:nvSpPr>
          <p:spPr>
            <a:xfrm>
              <a:off x="4759833" y="5056188"/>
              <a:ext cx="841375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Payments</a:t>
              </a:r>
              <a:endParaRPr b="0" i="0" sz="1600" u="none" cap="none" strike="noStrike"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4759833" y="5278438"/>
              <a:ext cx="817563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payment_id</a:t>
              </a:r>
              <a:endParaRPr b="0" i="0" sz="1600" u="none" cap="none" strike="noStrike"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4347083" y="5790406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44" name="Google Shape;344;p20"/>
            <p:cNvSpPr/>
            <p:nvPr/>
          </p:nvSpPr>
          <p:spPr>
            <a:xfrm>
              <a:off x="4347083" y="5564188"/>
              <a:ext cx="7223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payment_id</a:t>
              </a:r>
              <a:endParaRPr b="0" i="0" sz="1600" u="none" cap="none" strike="noStrike"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7086823" y="5580063"/>
              <a:ext cx="817563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INT UNSIGNED</a:t>
              </a:r>
              <a:endParaRPr b="0" i="0" sz="1600" u="none" cap="none" strike="noStrike"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4347083" y="6099969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47" name="Google Shape;347;p20"/>
            <p:cNvSpPr/>
            <p:nvPr/>
          </p:nvSpPr>
          <p:spPr>
            <a:xfrm>
              <a:off x="4347083" y="5873750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order_id</a:t>
              </a:r>
              <a:endParaRPr b="0" i="0" sz="1600" u="none" cap="none" strike="noStrike"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7278005" y="5889625"/>
              <a:ext cx="619125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 UNIQUE</a:t>
              </a:r>
              <a:endParaRPr b="0" i="0" sz="1600" u="none" cap="none" strike="noStrike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4347083" y="6409531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50" name="Google Shape;350;p20"/>
            <p:cNvSpPr/>
            <p:nvPr/>
          </p:nvSpPr>
          <p:spPr>
            <a:xfrm>
              <a:off x="4347083" y="6183313"/>
              <a:ext cx="4921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method</a:t>
              </a:r>
              <a:endParaRPr b="0" i="0" sz="1600" u="none" cap="none" strike="noStrike"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7520223" y="6199188"/>
              <a:ext cx="381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ENUM</a:t>
              </a:r>
              <a:endParaRPr b="0" i="0" sz="1600" u="none" cap="none" strike="noStrike"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4347083" y="6719094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53" name="Google Shape;353;p20"/>
            <p:cNvSpPr/>
            <p:nvPr/>
          </p:nvSpPr>
          <p:spPr>
            <a:xfrm>
              <a:off x="4347083" y="6492875"/>
              <a:ext cx="5318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provider</a:t>
              </a:r>
              <a:endParaRPr b="0" i="0" sz="1600" u="none" cap="none" strike="noStrike"/>
            </a:p>
          </p:txBody>
        </p:sp>
        <p:sp>
          <p:nvSpPr>
            <p:cNvPr id="354" name="Google Shape;354;p20"/>
            <p:cNvSpPr/>
            <p:nvPr/>
          </p:nvSpPr>
          <p:spPr>
            <a:xfrm>
              <a:off x="7106047" y="6508750"/>
              <a:ext cx="79375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VARCHAR(50)</a:t>
              </a:r>
              <a:endParaRPr b="0" i="0" sz="1600" u="none" cap="none" strike="noStrike"/>
            </a:p>
          </p:txBody>
        </p:sp>
        <p:sp>
          <p:nvSpPr>
            <p:cNvPr id="355" name="Google Shape;355;p20"/>
            <p:cNvSpPr/>
            <p:nvPr/>
          </p:nvSpPr>
          <p:spPr>
            <a:xfrm>
              <a:off x="4347083" y="7028656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56" name="Google Shape;356;p20"/>
            <p:cNvSpPr/>
            <p:nvPr/>
          </p:nvSpPr>
          <p:spPr>
            <a:xfrm>
              <a:off x="4347083" y="6802438"/>
              <a:ext cx="9128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transaction_ref</a:t>
              </a:r>
              <a:endParaRPr b="0" i="0" sz="1600" u="none" cap="none" strike="noStrike"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6886277" y="6818313"/>
              <a:ext cx="1016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VARCHAR(100) UK</a:t>
              </a:r>
              <a:endParaRPr b="0" i="0" sz="1600" u="none" cap="none" strike="noStrike"/>
            </a:p>
          </p:txBody>
        </p:sp>
        <p:sp>
          <p:nvSpPr>
            <p:cNvPr id="358" name="Google Shape;358;p20"/>
            <p:cNvSpPr/>
            <p:nvPr/>
          </p:nvSpPr>
          <p:spPr>
            <a:xfrm>
              <a:off x="4347083" y="7338219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59" name="Google Shape;359;p20"/>
            <p:cNvSpPr/>
            <p:nvPr/>
          </p:nvSpPr>
          <p:spPr>
            <a:xfrm>
              <a:off x="4347083" y="7112000"/>
              <a:ext cx="49212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amount</a:t>
              </a:r>
              <a:endParaRPr b="0" i="0" sz="1600" u="none" cap="none" strike="noStrike"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7069956" y="7127875"/>
              <a:ext cx="833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DECIMAL(10,2)</a:t>
              </a:r>
              <a:endParaRPr b="0" i="0" sz="1600" u="none" cap="none" strike="noStrike"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4347083" y="7421563"/>
              <a:ext cx="412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status</a:t>
              </a:r>
              <a:endParaRPr b="0" i="0" sz="1600" u="none" cap="none" strike="noStrike"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7520223" y="7437438"/>
              <a:ext cx="381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ENUM</a:t>
              </a:r>
              <a:endParaRPr b="0" i="0" sz="1600" u="none" cap="none" strike="noStrike"/>
            </a:p>
          </p:txBody>
        </p:sp>
        <p:sp>
          <p:nvSpPr>
            <p:cNvPr id="363" name="Google Shape;363;p20"/>
            <p:cNvSpPr/>
            <p:nvPr/>
          </p:nvSpPr>
          <p:spPr>
            <a:xfrm>
              <a:off x="4347083" y="8052594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30196"/>
              </a:srgbClr>
            </a:solidFill>
            <a:ln>
              <a:noFill/>
            </a:ln>
          </p:spPr>
        </p:sp>
        <p:sp>
          <p:nvSpPr>
            <p:cNvPr id="364" name="Google Shape;364;p20"/>
            <p:cNvSpPr/>
            <p:nvPr/>
          </p:nvSpPr>
          <p:spPr>
            <a:xfrm>
              <a:off x="4347083" y="8151813"/>
              <a:ext cx="3556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Methods: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credit_card, debit_card, UPI, net_banking, COD, wallet</a:t>
              </a:r>
              <a:endParaRPr b="0" i="0" sz="1600" u="none" cap="none" strike="noStrike"/>
            </a:p>
          </p:txBody>
        </p:sp>
      </p:grpSp>
      <p:grpSp>
        <p:nvGrpSpPr>
          <p:cNvPr id="365" name="Google Shape;365;p20"/>
          <p:cNvGrpSpPr/>
          <p:nvPr/>
        </p:nvGrpSpPr>
        <p:grpSpPr>
          <a:xfrm>
            <a:off x="8110750" y="1647051"/>
            <a:ext cx="3762375" cy="4017388"/>
            <a:chOff x="8110750" y="4508501"/>
            <a:chExt cx="3762375" cy="4017388"/>
          </a:xfrm>
        </p:grpSpPr>
        <p:sp>
          <p:nvSpPr>
            <p:cNvPr id="366" name="Google Shape;366;p20"/>
            <p:cNvSpPr/>
            <p:nvPr/>
          </p:nvSpPr>
          <p:spPr>
            <a:xfrm>
              <a:off x="8110750" y="4508501"/>
              <a:ext cx="3762375" cy="4017388"/>
            </a:xfrm>
            <a:custGeom>
              <a:rect b="b" l="l" r="r" t="t"/>
              <a:pathLst>
                <a:path extrusionOk="0" h="3516313" w="3762375">
                  <a:moveTo>
                    <a:pt x="63505" y="0"/>
                  </a:moveTo>
                  <a:lnTo>
                    <a:pt x="3698870" y="0"/>
                  </a:lnTo>
                  <a:cubicBezTo>
                    <a:pt x="3733943" y="0"/>
                    <a:pt x="3762375" y="28432"/>
                    <a:pt x="3762375" y="63505"/>
                  </a:cubicBezTo>
                  <a:lnTo>
                    <a:pt x="3762375" y="3452808"/>
                  </a:lnTo>
                  <a:cubicBezTo>
                    <a:pt x="3762375" y="3487881"/>
                    <a:pt x="3733943" y="3516313"/>
                    <a:pt x="3698870" y="3516313"/>
                  </a:cubicBezTo>
                  <a:lnTo>
                    <a:pt x="63505" y="3516313"/>
                  </a:lnTo>
                  <a:cubicBezTo>
                    <a:pt x="28432" y="3516313"/>
                    <a:pt x="0" y="3487881"/>
                    <a:pt x="0" y="3452808"/>
                  </a:cubicBezTo>
                  <a:lnTo>
                    <a:pt x="0" y="63505"/>
                  </a:lnTo>
                  <a:cubicBezTo>
                    <a:pt x="0" y="28455"/>
                    <a:pt x="28455" y="0"/>
                    <a:pt x="63505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0"/>
            <p:cNvSpPr/>
            <p:nvPr/>
          </p:nvSpPr>
          <p:spPr>
            <a:xfrm>
              <a:off x="9736584" y="5520531"/>
              <a:ext cx="508000" cy="508000"/>
            </a:xfrm>
            <a:custGeom>
              <a:rect b="b" l="l" r="r" t="t"/>
              <a:pathLst>
                <a:path extrusionOk="0" h="508000" w="508000">
                  <a:moveTo>
                    <a:pt x="254000" y="0"/>
                  </a:moveTo>
                  <a:lnTo>
                    <a:pt x="254000" y="0"/>
                  </a:lnTo>
                  <a:cubicBezTo>
                    <a:pt x="394186" y="0"/>
                    <a:pt x="508000" y="113814"/>
                    <a:pt x="508000" y="254000"/>
                  </a:cubicBezTo>
                  <a:lnTo>
                    <a:pt x="508000" y="254000"/>
                  </a:lnTo>
                  <a:cubicBezTo>
                    <a:pt x="508000" y="394186"/>
                    <a:pt x="394186" y="508000"/>
                    <a:pt x="254000" y="508000"/>
                  </a:cubicBezTo>
                  <a:lnTo>
                    <a:pt x="254000" y="508000"/>
                  </a:lnTo>
                  <a:cubicBezTo>
                    <a:pt x="113814" y="508000"/>
                    <a:pt x="0" y="394186"/>
                    <a:pt x="0" y="254000"/>
                  </a:cubicBezTo>
                  <a:lnTo>
                    <a:pt x="0" y="254000"/>
                  </a:lnTo>
                  <a:cubicBezTo>
                    <a:pt x="0" y="113814"/>
                    <a:pt x="113814" y="0"/>
                    <a:pt x="254000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0"/>
            <p:cNvSpPr/>
            <p:nvPr/>
          </p:nvSpPr>
          <p:spPr>
            <a:xfrm>
              <a:off x="9873506" y="5655469"/>
              <a:ext cx="238125" cy="238125"/>
            </a:xfrm>
            <a:custGeom>
              <a:rect b="b" l="l" r="r" t="t"/>
              <a:pathLst>
                <a:path extrusionOk="0" h="238125" w="238125">
                  <a:moveTo>
                    <a:pt x="119062" y="238125"/>
                  </a:moveTo>
                  <a:cubicBezTo>
                    <a:pt x="184775" y="238125"/>
                    <a:pt x="238125" y="184775"/>
                    <a:pt x="238125" y="119062"/>
                  </a:cubicBezTo>
                  <a:cubicBezTo>
                    <a:pt x="238125" y="53350"/>
                    <a:pt x="184775" y="0"/>
                    <a:pt x="119062" y="0"/>
                  </a:cubicBezTo>
                  <a:cubicBezTo>
                    <a:pt x="53350" y="0"/>
                    <a:pt x="0" y="53350"/>
                    <a:pt x="0" y="119062"/>
                  </a:cubicBezTo>
                  <a:cubicBezTo>
                    <a:pt x="0" y="184775"/>
                    <a:pt x="53350" y="238125"/>
                    <a:pt x="119062" y="238125"/>
                  </a:cubicBezTo>
                  <a:close/>
                  <a:moveTo>
                    <a:pt x="104180" y="74414"/>
                  </a:moveTo>
                  <a:cubicBezTo>
                    <a:pt x="104180" y="66200"/>
                    <a:pt x="110848" y="59531"/>
                    <a:pt x="119062" y="59531"/>
                  </a:cubicBezTo>
                  <a:cubicBezTo>
                    <a:pt x="127277" y="59531"/>
                    <a:pt x="133945" y="66200"/>
                    <a:pt x="133945" y="74414"/>
                  </a:cubicBezTo>
                  <a:cubicBezTo>
                    <a:pt x="133945" y="82628"/>
                    <a:pt x="127277" y="89297"/>
                    <a:pt x="119062" y="89297"/>
                  </a:cubicBezTo>
                  <a:cubicBezTo>
                    <a:pt x="110848" y="89297"/>
                    <a:pt x="104180" y="82628"/>
                    <a:pt x="104180" y="74414"/>
                  </a:cubicBezTo>
                  <a:close/>
                  <a:moveTo>
                    <a:pt x="100459" y="104180"/>
                  </a:moveTo>
                  <a:lnTo>
                    <a:pt x="122783" y="104180"/>
                  </a:lnTo>
                  <a:cubicBezTo>
                    <a:pt x="128969" y="104180"/>
                    <a:pt x="133945" y="109156"/>
                    <a:pt x="133945" y="115342"/>
                  </a:cubicBezTo>
                  <a:lnTo>
                    <a:pt x="133945" y="156270"/>
                  </a:lnTo>
                  <a:lnTo>
                    <a:pt x="137666" y="156270"/>
                  </a:lnTo>
                  <a:cubicBezTo>
                    <a:pt x="143852" y="156270"/>
                    <a:pt x="148828" y="161246"/>
                    <a:pt x="148828" y="167432"/>
                  </a:cubicBezTo>
                  <a:cubicBezTo>
                    <a:pt x="148828" y="173617"/>
                    <a:pt x="143852" y="178594"/>
                    <a:pt x="137666" y="178594"/>
                  </a:cubicBezTo>
                  <a:lnTo>
                    <a:pt x="100459" y="178594"/>
                  </a:lnTo>
                  <a:cubicBezTo>
                    <a:pt x="94273" y="178594"/>
                    <a:pt x="89297" y="173617"/>
                    <a:pt x="89297" y="167432"/>
                  </a:cubicBezTo>
                  <a:cubicBezTo>
                    <a:pt x="89297" y="161246"/>
                    <a:pt x="94273" y="156270"/>
                    <a:pt x="100459" y="156270"/>
                  </a:cubicBezTo>
                  <a:lnTo>
                    <a:pt x="111621" y="156270"/>
                  </a:lnTo>
                  <a:lnTo>
                    <a:pt x="111621" y="126504"/>
                  </a:lnTo>
                  <a:lnTo>
                    <a:pt x="100459" y="126504"/>
                  </a:lnTo>
                  <a:cubicBezTo>
                    <a:pt x="94273" y="126504"/>
                    <a:pt x="89297" y="121527"/>
                    <a:pt x="89297" y="115342"/>
                  </a:cubicBezTo>
                  <a:cubicBezTo>
                    <a:pt x="89297" y="109156"/>
                    <a:pt x="94273" y="104180"/>
                    <a:pt x="100459" y="10418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9197578" y="6155531"/>
              <a:ext cx="1587500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Key Design Principles</a:t>
              </a:r>
              <a:endParaRPr b="0" i="0" sz="1600" u="none" cap="none" strike="noStrike"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9518923" y="6473031"/>
              <a:ext cx="9445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</a:t>
              </a: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Primary Key</a:t>
              </a:r>
              <a:endParaRPr b="0" i="0" sz="1600" u="none" cap="none" strike="noStrike"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9518923" y="6727031"/>
              <a:ext cx="9445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FK:</a:t>
              </a: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Foreign Key</a:t>
              </a:r>
              <a:endParaRPr b="0" i="0" sz="1600" u="none" cap="none" strike="noStrike"/>
            </a:p>
          </p:txBody>
        </p:sp>
        <p:sp>
          <p:nvSpPr>
            <p:cNvPr id="372" name="Google Shape;372;p20"/>
            <p:cNvSpPr/>
            <p:nvPr/>
          </p:nvSpPr>
          <p:spPr>
            <a:xfrm>
              <a:off x="9518923" y="6981031"/>
              <a:ext cx="9445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UK:</a:t>
              </a: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Unique Key</a:t>
              </a:r>
              <a:endParaRPr b="0" i="0" sz="1600" u="none" cap="none" strike="noStrike"/>
            </a:p>
          </p:txBody>
        </p:sp>
        <p:sp>
          <p:nvSpPr>
            <p:cNvPr id="373" name="Google Shape;373;p20"/>
            <p:cNvSpPr/>
            <p:nvPr/>
          </p:nvSpPr>
          <p:spPr>
            <a:xfrm>
              <a:off x="9518923" y="7235031"/>
              <a:ext cx="94456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NULL:</a:t>
              </a: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Nullable</a:t>
              </a:r>
              <a:endParaRPr b="0" i="0" sz="1600" u="none" cap="none" strike="noStrike"/>
            </a:p>
          </p:txBody>
        </p:sp>
        <p:sp>
          <p:nvSpPr>
            <p:cNvPr id="374" name="Google Shape;374;p20"/>
            <p:cNvSpPr/>
            <p:nvPr/>
          </p:nvSpPr>
          <p:spPr>
            <a:xfrm>
              <a:off x="8359490" y="7556500"/>
              <a:ext cx="3262313" cy="7938"/>
            </a:xfrm>
            <a:custGeom>
              <a:rect b="b" l="l" r="r" t="t"/>
              <a:pathLst>
                <a:path extrusionOk="0" h="7938" w="3262313">
                  <a:moveTo>
                    <a:pt x="0" y="0"/>
                  </a:moveTo>
                  <a:lnTo>
                    <a:pt x="3262313" y="0"/>
                  </a:lnTo>
                  <a:lnTo>
                    <a:pt x="3262313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>
                <a:alpha val="30196"/>
              </a:srgbClr>
            </a:solidFill>
            <a:ln>
              <a:noFill/>
            </a:ln>
          </p:spPr>
        </p:sp>
        <p:sp>
          <p:nvSpPr>
            <p:cNvPr id="375" name="Google Shape;375;p20"/>
            <p:cNvSpPr/>
            <p:nvPr/>
          </p:nvSpPr>
          <p:spPr>
            <a:xfrm>
              <a:off x="8331708" y="7687469"/>
              <a:ext cx="3317875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All tables include created_at/updated_at timestamps for audit trails</a:t>
              </a:r>
              <a:endParaRPr b="0" i="0" sz="1600" u="none" cap="none" strike="noStrike"/>
            </a:p>
          </p:txBody>
        </p:sp>
      </p:grpSp>
      <p:grpSp>
        <p:nvGrpSpPr>
          <p:cNvPr id="376" name="Google Shape;376;p20"/>
          <p:cNvGrpSpPr/>
          <p:nvPr/>
        </p:nvGrpSpPr>
        <p:grpSpPr>
          <a:xfrm>
            <a:off x="248499" y="1682733"/>
            <a:ext cx="3813457" cy="4017388"/>
            <a:chOff x="270387" y="4925219"/>
            <a:chExt cx="3813457" cy="3516313"/>
          </a:xfrm>
        </p:grpSpPr>
        <p:sp>
          <p:nvSpPr>
            <p:cNvPr id="377" name="Google Shape;377;p20"/>
            <p:cNvSpPr/>
            <p:nvPr/>
          </p:nvSpPr>
          <p:spPr>
            <a:xfrm>
              <a:off x="321469" y="4925219"/>
              <a:ext cx="3762375" cy="3516313"/>
            </a:xfrm>
            <a:custGeom>
              <a:rect b="b" l="l" r="r" t="t"/>
              <a:pathLst>
                <a:path extrusionOk="0" h="3516313" w="3762375">
                  <a:moveTo>
                    <a:pt x="63505" y="0"/>
                  </a:moveTo>
                  <a:lnTo>
                    <a:pt x="3698870" y="0"/>
                  </a:lnTo>
                  <a:cubicBezTo>
                    <a:pt x="3733943" y="0"/>
                    <a:pt x="3762375" y="28432"/>
                    <a:pt x="3762375" y="63505"/>
                  </a:cubicBezTo>
                  <a:lnTo>
                    <a:pt x="3762375" y="3452808"/>
                  </a:lnTo>
                  <a:cubicBezTo>
                    <a:pt x="3762375" y="3487881"/>
                    <a:pt x="3733943" y="3516313"/>
                    <a:pt x="3698870" y="3516313"/>
                  </a:cubicBezTo>
                  <a:lnTo>
                    <a:pt x="63505" y="3516313"/>
                  </a:lnTo>
                  <a:cubicBezTo>
                    <a:pt x="28432" y="3516313"/>
                    <a:pt x="0" y="3487881"/>
                    <a:pt x="0" y="3452808"/>
                  </a:cubicBezTo>
                  <a:lnTo>
                    <a:pt x="0" y="63505"/>
                  </a:lnTo>
                  <a:cubicBezTo>
                    <a:pt x="0" y="28455"/>
                    <a:pt x="28455" y="0"/>
                    <a:pt x="63505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0"/>
            <p:cNvSpPr/>
            <p:nvPr/>
          </p:nvSpPr>
          <p:spPr>
            <a:xfrm>
              <a:off x="452438" y="5087938"/>
              <a:ext cx="317500" cy="317500"/>
            </a:xfrm>
            <a:custGeom>
              <a:rect b="b" l="l" r="r" t="t"/>
              <a:pathLst>
                <a:path extrusionOk="0" h="317500" w="317500">
                  <a:moveTo>
                    <a:pt x="63500" y="0"/>
                  </a:moveTo>
                  <a:lnTo>
                    <a:pt x="254000" y="0"/>
                  </a:lnTo>
                  <a:cubicBezTo>
                    <a:pt x="289047" y="0"/>
                    <a:pt x="317500" y="28453"/>
                    <a:pt x="317500" y="63500"/>
                  </a:cubicBezTo>
                  <a:lnTo>
                    <a:pt x="317500" y="254000"/>
                  </a:lnTo>
                  <a:cubicBezTo>
                    <a:pt x="317500" y="289047"/>
                    <a:pt x="289047" y="317500"/>
                    <a:pt x="254000" y="317500"/>
                  </a:cubicBezTo>
                  <a:lnTo>
                    <a:pt x="63500" y="317500"/>
                  </a:lnTo>
                  <a:cubicBezTo>
                    <a:pt x="28453" y="317500"/>
                    <a:pt x="0" y="289047"/>
                    <a:pt x="0" y="254000"/>
                  </a:cubicBezTo>
                  <a:lnTo>
                    <a:pt x="0" y="63500"/>
                  </a:lnTo>
                  <a:cubicBezTo>
                    <a:pt x="0" y="28453"/>
                    <a:pt x="28453" y="0"/>
                    <a:pt x="63500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0"/>
            <p:cNvSpPr/>
            <p:nvPr/>
          </p:nvSpPr>
          <p:spPr>
            <a:xfrm>
              <a:off x="563563" y="5183188"/>
              <a:ext cx="95250" cy="127000"/>
            </a:xfrm>
            <a:custGeom>
              <a:rect b="b" l="l" r="r" t="t"/>
              <a:pathLst>
                <a:path extrusionOk="0" h="127000" w="95250">
                  <a:moveTo>
                    <a:pt x="77242" y="7938"/>
                  </a:moveTo>
                  <a:lnTo>
                    <a:pt x="79375" y="7938"/>
                  </a:lnTo>
                  <a:cubicBezTo>
                    <a:pt x="88131" y="7938"/>
                    <a:pt x="95250" y="15056"/>
                    <a:pt x="95250" y="23812"/>
                  </a:cubicBezTo>
                  <a:lnTo>
                    <a:pt x="95250" y="111125"/>
                  </a:lnTo>
                  <a:cubicBezTo>
                    <a:pt x="95250" y="119881"/>
                    <a:pt x="88131" y="127000"/>
                    <a:pt x="79375" y="127000"/>
                  </a:cubicBezTo>
                  <a:lnTo>
                    <a:pt x="15875" y="127000"/>
                  </a:lnTo>
                  <a:cubicBezTo>
                    <a:pt x="7119" y="127000"/>
                    <a:pt x="0" y="119881"/>
                    <a:pt x="0" y="111125"/>
                  </a:cubicBezTo>
                  <a:lnTo>
                    <a:pt x="0" y="23812"/>
                  </a:lnTo>
                  <a:cubicBezTo>
                    <a:pt x="0" y="15056"/>
                    <a:pt x="7119" y="7938"/>
                    <a:pt x="15875" y="7938"/>
                  </a:cubicBezTo>
                  <a:lnTo>
                    <a:pt x="18008" y="7938"/>
                  </a:lnTo>
                  <a:cubicBezTo>
                    <a:pt x="20737" y="3200"/>
                    <a:pt x="25871" y="0"/>
                    <a:pt x="31750" y="0"/>
                  </a:cubicBezTo>
                  <a:lnTo>
                    <a:pt x="63500" y="0"/>
                  </a:lnTo>
                  <a:cubicBezTo>
                    <a:pt x="69379" y="0"/>
                    <a:pt x="74513" y="3200"/>
                    <a:pt x="77242" y="7938"/>
                  </a:cubicBezTo>
                  <a:close/>
                  <a:moveTo>
                    <a:pt x="61516" y="27781"/>
                  </a:moveTo>
                  <a:cubicBezTo>
                    <a:pt x="64815" y="27781"/>
                    <a:pt x="67469" y="25127"/>
                    <a:pt x="67469" y="21828"/>
                  </a:cubicBezTo>
                  <a:cubicBezTo>
                    <a:pt x="67469" y="18529"/>
                    <a:pt x="64815" y="15875"/>
                    <a:pt x="61516" y="15875"/>
                  </a:cubicBezTo>
                  <a:lnTo>
                    <a:pt x="33734" y="15875"/>
                  </a:lnTo>
                  <a:cubicBezTo>
                    <a:pt x="30435" y="15875"/>
                    <a:pt x="27781" y="18529"/>
                    <a:pt x="27781" y="21828"/>
                  </a:cubicBezTo>
                  <a:cubicBezTo>
                    <a:pt x="27781" y="25127"/>
                    <a:pt x="30435" y="27781"/>
                    <a:pt x="33734" y="27781"/>
                  </a:cubicBezTo>
                  <a:lnTo>
                    <a:pt x="61516" y="27781"/>
                  </a:lnTo>
                  <a:close/>
                  <a:moveTo>
                    <a:pt x="68560" y="64666"/>
                  </a:moveTo>
                  <a:cubicBezTo>
                    <a:pt x="70296" y="61888"/>
                    <a:pt x="69453" y="58217"/>
                    <a:pt x="66675" y="56455"/>
                  </a:cubicBezTo>
                  <a:cubicBezTo>
                    <a:pt x="63897" y="54694"/>
                    <a:pt x="60226" y="55563"/>
                    <a:pt x="58465" y="58341"/>
                  </a:cubicBezTo>
                  <a:lnTo>
                    <a:pt x="43235" y="82724"/>
                  </a:lnTo>
                  <a:lnTo>
                    <a:pt x="36537" y="73794"/>
                  </a:lnTo>
                  <a:cubicBezTo>
                    <a:pt x="34553" y="71165"/>
                    <a:pt x="30832" y="70619"/>
                    <a:pt x="28203" y="72603"/>
                  </a:cubicBezTo>
                  <a:cubicBezTo>
                    <a:pt x="25574" y="74588"/>
                    <a:pt x="25028" y="78308"/>
                    <a:pt x="27012" y="80938"/>
                  </a:cubicBezTo>
                  <a:lnTo>
                    <a:pt x="38919" y="96813"/>
                  </a:lnTo>
                  <a:cubicBezTo>
                    <a:pt x="40084" y="98375"/>
                    <a:pt x="41970" y="99268"/>
                    <a:pt x="43929" y="99194"/>
                  </a:cubicBezTo>
                  <a:cubicBezTo>
                    <a:pt x="45889" y="99120"/>
                    <a:pt x="47675" y="98078"/>
                    <a:pt x="48716" y="96391"/>
                  </a:cubicBezTo>
                  <a:lnTo>
                    <a:pt x="68560" y="6464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0"/>
            <p:cNvSpPr/>
            <p:nvPr/>
          </p:nvSpPr>
          <p:spPr>
            <a:xfrm>
              <a:off x="865188" y="5056188"/>
              <a:ext cx="666750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Orders</a:t>
              </a:r>
              <a:endParaRPr b="0" i="0" sz="1600" u="none" cap="none" strike="noStrike"/>
            </a:p>
          </p:txBody>
        </p:sp>
        <p:sp>
          <p:nvSpPr>
            <p:cNvPr id="381" name="Google Shape;381;p20"/>
            <p:cNvSpPr/>
            <p:nvPr/>
          </p:nvSpPr>
          <p:spPr>
            <a:xfrm>
              <a:off x="865188" y="5278438"/>
              <a:ext cx="6429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order_id</a:t>
              </a:r>
              <a:endParaRPr b="0" i="0" sz="1600" u="none" cap="none" strike="noStrike"/>
            </a:p>
          </p:txBody>
        </p:sp>
        <p:sp>
          <p:nvSpPr>
            <p:cNvPr id="382" name="Google Shape;382;p20"/>
            <p:cNvSpPr/>
            <p:nvPr/>
          </p:nvSpPr>
          <p:spPr>
            <a:xfrm>
              <a:off x="452438" y="5790406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83" name="Google Shape;383;p20"/>
            <p:cNvSpPr/>
            <p:nvPr/>
          </p:nvSpPr>
          <p:spPr>
            <a:xfrm>
              <a:off x="452438" y="5564188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order_id</a:t>
              </a:r>
              <a:endParaRPr b="0" i="0" sz="1600" u="none" cap="none" strike="noStrike"/>
            </a:p>
          </p:txBody>
        </p:sp>
        <p:sp>
          <p:nvSpPr>
            <p:cNvPr id="384" name="Google Shape;384;p20"/>
            <p:cNvSpPr/>
            <p:nvPr/>
          </p:nvSpPr>
          <p:spPr>
            <a:xfrm>
              <a:off x="3192177" y="5580063"/>
              <a:ext cx="817563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INT UNSIGNED</a:t>
              </a:r>
              <a:endParaRPr b="0" i="0" sz="1600" u="none" cap="none" strike="noStrike"/>
            </a:p>
          </p:txBody>
        </p:sp>
        <p:sp>
          <p:nvSpPr>
            <p:cNvPr id="385" name="Google Shape;385;p20"/>
            <p:cNvSpPr/>
            <p:nvPr/>
          </p:nvSpPr>
          <p:spPr>
            <a:xfrm>
              <a:off x="452438" y="6099969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86" name="Google Shape;386;p20"/>
            <p:cNvSpPr/>
            <p:nvPr/>
          </p:nvSpPr>
          <p:spPr>
            <a:xfrm>
              <a:off x="452438" y="5873750"/>
              <a:ext cx="468313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user_id</a:t>
              </a:r>
              <a:endParaRPr b="0" i="0" sz="1600" u="none" cap="none" strike="noStrike"/>
            </a:p>
          </p:txBody>
        </p:sp>
        <p:sp>
          <p:nvSpPr>
            <p:cNvPr id="387" name="Google Shape;387;p20"/>
            <p:cNvSpPr/>
            <p:nvPr/>
          </p:nvSpPr>
          <p:spPr>
            <a:xfrm>
              <a:off x="3819488" y="5889625"/>
              <a:ext cx="182563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</a:t>
              </a:r>
              <a:endParaRPr b="0" i="0" sz="1600" u="none" cap="none" strike="noStrike"/>
            </a:p>
          </p:txBody>
        </p:sp>
        <p:sp>
          <p:nvSpPr>
            <p:cNvPr id="388" name="Google Shape;388;p20"/>
            <p:cNvSpPr/>
            <p:nvPr/>
          </p:nvSpPr>
          <p:spPr>
            <a:xfrm>
              <a:off x="452438" y="6409531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89" name="Google Shape;389;p20"/>
            <p:cNvSpPr/>
            <p:nvPr/>
          </p:nvSpPr>
          <p:spPr>
            <a:xfrm>
              <a:off x="452438" y="6183313"/>
              <a:ext cx="674688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address_id</a:t>
              </a:r>
              <a:endParaRPr b="0" i="0" sz="1600" u="none" cap="none" strike="noStrike"/>
            </a:p>
          </p:txBody>
        </p:sp>
        <p:sp>
          <p:nvSpPr>
            <p:cNvPr id="390" name="Google Shape;390;p20"/>
            <p:cNvSpPr/>
            <p:nvPr/>
          </p:nvSpPr>
          <p:spPr>
            <a:xfrm>
              <a:off x="3429124" y="6199188"/>
              <a:ext cx="579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 (NULL)</a:t>
              </a:r>
              <a:endParaRPr b="0" i="0" sz="1600" u="none" cap="none" strike="noStrike"/>
            </a:p>
          </p:txBody>
        </p:sp>
        <p:sp>
          <p:nvSpPr>
            <p:cNvPr id="391" name="Google Shape;391;p20"/>
            <p:cNvSpPr/>
            <p:nvPr/>
          </p:nvSpPr>
          <p:spPr>
            <a:xfrm>
              <a:off x="452438" y="6719094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92" name="Google Shape;392;p20"/>
            <p:cNvSpPr/>
            <p:nvPr/>
          </p:nvSpPr>
          <p:spPr>
            <a:xfrm>
              <a:off x="452438" y="6492875"/>
              <a:ext cx="650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coupon_id</a:t>
              </a:r>
              <a:endParaRPr b="0" i="0" sz="1600" u="none" cap="none" strike="noStrike"/>
            </a:p>
          </p:txBody>
        </p:sp>
        <p:sp>
          <p:nvSpPr>
            <p:cNvPr id="393" name="Google Shape;393;p20"/>
            <p:cNvSpPr/>
            <p:nvPr/>
          </p:nvSpPr>
          <p:spPr>
            <a:xfrm>
              <a:off x="3429124" y="6508750"/>
              <a:ext cx="579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 (NULL)</a:t>
              </a:r>
              <a:endParaRPr b="0" i="0" sz="1600" u="none" cap="none" strike="noStrike"/>
            </a:p>
          </p:txBody>
        </p:sp>
        <p:sp>
          <p:nvSpPr>
            <p:cNvPr id="394" name="Google Shape;394;p20"/>
            <p:cNvSpPr/>
            <p:nvPr/>
          </p:nvSpPr>
          <p:spPr>
            <a:xfrm>
              <a:off x="452438" y="7028656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95" name="Google Shape;395;p20"/>
            <p:cNvSpPr/>
            <p:nvPr/>
          </p:nvSpPr>
          <p:spPr>
            <a:xfrm>
              <a:off x="452438" y="6802438"/>
              <a:ext cx="523875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subtotal</a:t>
              </a:r>
              <a:endParaRPr b="0" i="0" sz="1600" u="none" cap="none" strike="noStrike"/>
            </a:p>
          </p:txBody>
        </p:sp>
        <p:sp>
          <p:nvSpPr>
            <p:cNvPr id="396" name="Google Shape;396;p20"/>
            <p:cNvSpPr/>
            <p:nvPr/>
          </p:nvSpPr>
          <p:spPr>
            <a:xfrm>
              <a:off x="3175310" y="6818313"/>
              <a:ext cx="833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DECIMAL(10,2)</a:t>
              </a:r>
              <a:endParaRPr b="0" i="0" sz="1600" u="none" cap="none" strike="noStrike"/>
            </a:p>
          </p:txBody>
        </p:sp>
        <p:sp>
          <p:nvSpPr>
            <p:cNvPr id="397" name="Google Shape;397;p20"/>
            <p:cNvSpPr/>
            <p:nvPr/>
          </p:nvSpPr>
          <p:spPr>
            <a:xfrm>
              <a:off x="452438" y="7338219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398" name="Google Shape;398;p20"/>
            <p:cNvSpPr/>
            <p:nvPr/>
          </p:nvSpPr>
          <p:spPr>
            <a:xfrm>
              <a:off x="452438" y="7112000"/>
              <a:ext cx="547688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discount</a:t>
              </a:r>
              <a:endParaRPr b="0" i="0" sz="1600" u="none" cap="none" strike="noStrike"/>
            </a:p>
          </p:txBody>
        </p:sp>
        <p:sp>
          <p:nvSpPr>
            <p:cNvPr id="399" name="Google Shape;399;p20"/>
            <p:cNvSpPr/>
            <p:nvPr/>
          </p:nvSpPr>
          <p:spPr>
            <a:xfrm>
              <a:off x="3175310" y="7127875"/>
              <a:ext cx="833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DECIMAL(10,2)</a:t>
              </a:r>
              <a:endParaRPr b="0" i="0" sz="1600" u="none" cap="none" strike="noStrike"/>
            </a:p>
          </p:txBody>
        </p:sp>
        <p:sp>
          <p:nvSpPr>
            <p:cNvPr id="400" name="Google Shape;400;p20"/>
            <p:cNvSpPr/>
            <p:nvPr/>
          </p:nvSpPr>
          <p:spPr>
            <a:xfrm>
              <a:off x="452438" y="7647781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</p:sp>
        <p:sp>
          <p:nvSpPr>
            <p:cNvPr id="401" name="Google Shape;401;p20"/>
            <p:cNvSpPr/>
            <p:nvPr/>
          </p:nvSpPr>
          <p:spPr>
            <a:xfrm>
              <a:off x="452438" y="7421563"/>
              <a:ext cx="801688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total_amount</a:t>
              </a:r>
              <a:endParaRPr b="0" i="0" sz="1600" u="none" cap="none" strike="noStrike"/>
            </a:p>
          </p:txBody>
        </p:sp>
        <p:sp>
          <p:nvSpPr>
            <p:cNvPr id="402" name="Google Shape;402;p20"/>
            <p:cNvSpPr/>
            <p:nvPr/>
          </p:nvSpPr>
          <p:spPr>
            <a:xfrm>
              <a:off x="3175310" y="7437438"/>
              <a:ext cx="83343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DECIMAL(10,2)</a:t>
              </a:r>
              <a:endParaRPr b="0" i="0" sz="1600" u="none" cap="none" strike="noStrike"/>
            </a:p>
          </p:txBody>
        </p:sp>
        <p:sp>
          <p:nvSpPr>
            <p:cNvPr id="403" name="Google Shape;403;p20"/>
            <p:cNvSpPr/>
            <p:nvPr/>
          </p:nvSpPr>
          <p:spPr>
            <a:xfrm>
              <a:off x="452438" y="7731125"/>
              <a:ext cx="41275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status</a:t>
              </a:r>
              <a:endParaRPr b="0" i="0" sz="1600" u="none" cap="none" strike="noStrike"/>
            </a:p>
          </p:txBody>
        </p:sp>
        <p:sp>
          <p:nvSpPr>
            <p:cNvPr id="404" name="Google Shape;404;p20"/>
            <p:cNvSpPr/>
            <p:nvPr/>
          </p:nvSpPr>
          <p:spPr>
            <a:xfrm>
              <a:off x="3625577" y="7747000"/>
              <a:ext cx="381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ENUM</a:t>
              </a:r>
              <a:endParaRPr b="0" i="0" sz="1600" u="none" cap="none" strike="noStrike"/>
            </a:p>
          </p:txBody>
        </p:sp>
        <p:sp>
          <p:nvSpPr>
            <p:cNvPr id="405" name="Google Shape;405;p20"/>
            <p:cNvSpPr/>
            <p:nvPr/>
          </p:nvSpPr>
          <p:spPr>
            <a:xfrm>
              <a:off x="452438" y="8052594"/>
              <a:ext cx="3500438" cy="7938"/>
            </a:xfrm>
            <a:custGeom>
              <a:rect b="b" l="l" r="r" t="t"/>
              <a:pathLst>
                <a:path extrusionOk="0" h="7938" w="3500438">
                  <a:moveTo>
                    <a:pt x="0" y="0"/>
                  </a:moveTo>
                  <a:lnTo>
                    <a:pt x="3500438" y="0"/>
                  </a:lnTo>
                  <a:lnTo>
                    <a:pt x="3500438" y="7938"/>
                  </a:lnTo>
                  <a:lnTo>
                    <a:pt x="0" y="79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30196"/>
              </a:srgbClr>
            </a:solidFill>
            <a:ln>
              <a:noFill/>
            </a:ln>
          </p:spPr>
        </p:sp>
        <p:sp>
          <p:nvSpPr>
            <p:cNvPr id="406" name="Google Shape;406;p20"/>
            <p:cNvSpPr/>
            <p:nvPr/>
          </p:nvSpPr>
          <p:spPr>
            <a:xfrm>
              <a:off x="452438" y="8151813"/>
              <a:ext cx="3556000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87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Status: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pending, confirmed, shipped, delivered, cancelled</a:t>
              </a:r>
              <a:endParaRPr b="0" i="0" sz="1600" u="none" cap="none" strike="noStrike"/>
            </a:p>
          </p:txBody>
        </p:sp>
        <p:sp>
          <p:nvSpPr>
            <p:cNvPr id="407" name="Google Shape;407;p20"/>
            <p:cNvSpPr/>
            <p:nvPr/>
          </p:nvSpPr>
          <p:spPr>
            <a:xfrm>
              <a:off x="270387" y="4991237"/>
              <a:ext cx="2184946" cy="269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 u="none" cap="none" strike="noStrike">
                  <a:solidFill>
                    <a:srgbClr val="333333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endParaRPr b="0" i="0" sz="1600" u="none" cap="none" strike="noStrike"/>
            </a:p>
          </p:txBody>
        </p:sp>
      </p:grpSp>
      <p:sp>
        <p:nvSpPr>
          <p:cNvPr id="408" name="Google Shape;408;p20"/>
          <p:cNvSpPr/>
          <p:nvPr/>
        </p:nvSpPr>
        <p:spPr>
          <a:xfrm>
            <a:off x="567862" y="1595569"/>
            <a:ext cx="3174769" cy="26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 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1"/>
          <p:cNvSpPr/>
          <p:nvPr/>
        </p:nvSpPr>
        <p:spPr>
          <a:xfrm>
            <a:off x="348094" y="348094"/>
            <a:ext cx="11565430" cy="2088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96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Extended Entity Model</a:t>
            </a:r>
            <a:endParaRPr b="0" i="0" sz="1600" u="none" cap="none" strike="noStrike"/>
          </a:p>
        </p:txBody>
      </p:sp>
      <p:sp>
        <p:nvSpPr>
          <p:cNvPr id="415" name="Google Shape;415;p21"/>
          <p:cNvSpPr/>
          <p:nvPr/>
        </p:nvSpPr>
        <p:spPr>
          <a:xfrm>
            <a:off x="348094" y="626570"/>
            <a:ext cx="11704668" cy="417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Supporting Entities &amp; Weak Entities</a:t>
            </a:r>
            <a:endParaRPr b="0" i="0" sz="1600" u="none" cap="none" strike="noStrike"/>
          </a:p>
        </p:txBody>
      </p:sp>
      <p:sp>
        <p:nvSpPr>
          <p:cNvPr id="416" name="Google Shape;416;p21"/>
          <p:cNvSpPr/>
          <p:nvPr/>
        </p:nvSpPr>
        <p:spPr>
          <a:xfrm>
            <a:off x="348094" y="1183520"/>
            <a:ext cx="835426" cy="34809"/>
          </a:xfrm>
          <a:custGeom>
            <a:rect b="b" l="l" r="r" t="t"/>
            <a:pathLst>
              <a:path extrusionOk="0" h="34809" w="835426">
                <a:moveTo>
                  <a:pt x="0" y="0"/>
                </a:moveTo>
                <a:lnTo>
                  <a:pt x="835426" y="0"/>
                </a:lnTo>
                <a:lnTo>
                  <a:pt x="835426" y="34809"/>
                </a:lnTo>
                <a:lnTo>
                  <a:pt x="0" y="34809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grpSp>
        <p:nvGrpSpPr>
          <p:cNvPr id="417" name="Google Shape;417;p21"/>
          <p:cNvGrpSpPr/>
          <p:nvPr/>
        </p:nvGrpSpPr>
        <p:grpSpPr>
          <a:xfrm>
            <a:off x="352451" y="1396795"/>
            <a:ext cx="3733310" cy="1735137"/>
            <a:chOff x="352445" y="1396728"/>
            <a:chExt cx="3733310" cy="2001542"/>
          </a:xfrm>
        </p:grpSpPr>
        <p:sp>
          <p:nvSpPr>
            <p:cNvPr id="418" name="Google Shape;418;p21"/>
            <p:cNvSpPr/>
            <p:nvPr/>
          </p:nvSpPr>
          <p:spPr>
            <a:xfrm>
              <a:off x="352445" y="1396728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1"/>
            <p:cNvSpPr/>
            <p:nvPr/>
          </p:nvSpPr>
          <p:spPr>
            <a:xfrm>
              <a:off x="496034" y="1575126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1"/>
            <p:cNvSpPr/>
            <p:nvPr/>
          </p:nvSpPr>
          <p:spPr>
            <a:xfrm>
              <a:off x="617867" y="1679555"/>
              <a:ext cx="104428" cy="139238"/>
            </a:xfrm>
            <a:custGeom>
              <a:rect b="b" l="l" r="r" t="t"/>
              <a:pathLst>
                <a:path extrusionOk="0" h="139238" w="104428">
                  <a:moveTo>
                    <a:pt x="0" y="51290"/>
                  </a:moveTo>
                  <a:cubicBezTo>
                    <a:pt x="0" y="22952"/>
                    <a:pt x="23388" y="0"/>
                    <a:pt x="52214" y="0"/>
                  </a:cubicBezTo>
                  <a:cubicBezTo>
                    <a:pt x="81041" y="0"/>
                    <a:pt x="104428" y="22952"/>
                    <a:pt x="104428" y="51290"/>
                  </a:cubicBezTo>
                  <a:cubicBezTo>
                    <a:pt x="104428" y="83733"/>
                    <a:pt x="71740" y="122622"/>
                    <a:pt x="58088" y="137443"/>
                  </a:cubicBezTo>
                  <a:cubicBezTo>
                    <a:pt x="54879" y="140924"/>
                    <a:pt x="49522" y="140924"/>
                    <a:pt x="46313" y="137443"/>
                  </a:cubicBezTo>
                  <a:cubicBezTo>
                    <a:pt x="32661" y="122622"/>
                    <a:pt x="-27" y="83733"/>
                    <a:pt x="-27" y="51290"/>
                  </a:cubicBezTo>
                  <a:close/>
                  <a:moveTo>
                    <a:pt x="52214" y="69619"/>
                  </a:moveTo>
                  <a:cubicBezTo>
                    <a:pt x="61820" y="69619"/>
                    <a:pt x="69619" y="61820"/>
                    <a:pt x="69619" y="52214"/>
                  </a:cubicBezTo>
                  <a:cubicBezTo>
                    <a:pt x="69619" y="42608"/>
                    <a:pt x="61820" y="34809"/>
                    <a:pt x="52214" y="34809"/>
                  </a:cubicBezTo>
                  <a:cubicBezTo>
                    <a:pt x="42608" y="34809"/>
                    <a:pt x="34809" y="42608"/>
                    <a:pt x="34809" y="52214"/>
                  </a:cubicBezTo>
                  <a:cubicBezTo>
                    <a:pt x="34809" y="61820"/>
                    <a:pt x="42608" y="69619"/>
                    <a:pt x="52214" y="696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1"/>
            <p:cNvSpPr/>
            <p:nvPr/>
          </p:nvSpPr>
          <p:spPr>
            <a:xfrm>
              <a:off x="948557" y="1540317"/>
              <a:ext cx="1540317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Addresses</a:t>
              </a:r>
              <a:endParaRPr b="0" i="0" sz="1600" u="none" cap="none" strike="noStrike"/>
            </a:p>
          </p:txBody>
        </p:sp>
        <p:sp>
          <p:nvSpPr>
            <p:cNvPr id="422" name="Google Shape;422;p21"/>
            <p:cNvSpPr/>
            <p:nvPr/>
          </p:nvSpPr>
          <p:spPr>
            <a:xfrm>
              <a:off x="948557" y="1783983"/>
              <a:ext cx="1522912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address_id | FK: user_id</a:t>
              </a:r>
              <a:endParaRPr b="0" i="0" sz="1600" u="none" cap="none" strike="noStrike"/>
            </a:p>
          </p:txBody>
        </p:sp>
        <p:sp>
          <p:nvSpPr>
            <p:cNvPr id="423" name="Google Shape;423;p21"/>
            <p:cNvSpPr/>
            <p:nvPr/>
          </p:nvSpPr>
          <p:spPr>
            <a:xfrm>
              <a:off x="496034" y="2062458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label (Home/Office)</a:t>
              </a:r>
              <a:endParaRPr b="0" i="0" sz="1600" u="none" cap="none" strike="noStrike"/>
            </a:p>
          </p:txBody>
        </p:sp>
        <p:sp>
          <p:nvSpPr>
            <p:cNvPr id="424" name="Google Shape;424;p21"/>
            <p:cNvSpPr/>
            <p:nvPr/>
          </p:nvSpPr>
          <p:spPr>
            <a:xfrm>
              <a:off x="496034" y="2271315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street, city, state, zip</a:t>
              </a:r>
              <a:endParaRPr b="0" i="0" sz="1600" u="none" cap="none" strike="noStrike"/>
            </a:p>
          </p:txBody>
        </p:sp>
        <p:sp>
          <p:nvSpPr>
            <p:cNvPr id="425" name="Google Shape;425;p21"/>
            <p:cNvSpPr/>
            <p:nvPr/>
          </p:nvSpPr>
          <p:spPr>
            <a:xfrm>
              <a:off x="496034" y="2480171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country (default: India)</a:t>
              </a:r>
              <a:endParaRPr b="0" i="0" sz="1600" u="none" cap="none" strike="noStrike"/>
            </a:p>
          </p:txBody>
        </p:sp>
        <p:sp>
          <p:nvSpPr>
            <p:cNvPr id="426" name="Google Shape;426;p21"/>
            <p:cNvSpPr/>
            <p:nvPr/>
          </p:nvSpPr>
          <p:spPr>
            <a:xfrm>
              <a:off x="496034" y="2689028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is_default flag</a:t>
              </a:r>
              <a:endParaRPr b="0" i="0" sz="1600" u="none" cap="none" strike="noStrike"/>
            </a:p>
          </p:txBody>
        </p:sp>
        <p:sp>
          <p:nvSpPr>
            <p:cNvPr id="427" name="Google Shape;427;p21"/>
            <p:cNvSpPr/>
            <p:nvPr/>
          </p:nvSpPr>
          <p:spPr>
            <a:xfrm>
              <a:off x="496034" y="2971854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8B8E">
                <a:alpha val="30196"/>
              </a:srgbClr>
            </a:solidFill>
            <a:ln>
              <a:noFill/>
            </a:ln>
          </p:spPr>
        </p:sp>
        <p:sp>
          <p:nvSpPr>
            <p:cNvPr id="428" name="Google Shape;428;p21"/>
            <p:cNvSpPr/>
            <p:nvPr/>
          </p:nvSpPr>
          <p:spPr>
            <a:xfrm>
              <a:off x="496034" y="3080634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Weak entity dependent on Users</a:t>
              </a:r>
              <a:endParaRPr b="0" i="0" sz="1600" u="none" cap="none" strike="noStrike"/>
            </a:p>
          </p:txBody>
        </p:sp>
      </p:grpSp>
      <p:grpSp>
        <p:nvGrpSpPr>
          <p:cNvPr id="429" name="Google Shape;429;p21"/>
          <p:cNvGrpSpPr/>
          <p:nvPr/>
        </p:nvGrpSpPr>
        <p:grpSpPr>
          <a:xfrm>
            <a:off x="352451" y="3310316"/>
            <a:ext cx="3733310" cy="1819602"/>
            <a:chOff x="352445" y="3546210"/>
            <a:chExt cx="3733310" cy="2001542"/>
          </a:xfrm>
        </p:grpSpPr>
        <p:sp>
          <p:nvSpPr>
            <p:cNvPr id="430" name="Google Shape;430;p21"/>
            <p:cNvSpPr/>
            <p:nvPr/>
          </p:nvSpPr>
          <p:spPr>
            <a:xfrm>
              <a:off x="352445" y="3546210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1"/>
            <p:cNvSpPr/>
            <p:nvPr/>
          </p:nvSpPr>
          <p:spPr>
            <a:xfrm>
              <a:off x="496034" y="3724608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1"/>
            <p:cNvSpPr/>
            <p:nvPr/>
          </p:nvSpPr>
          <p:spPr>
            <a:xfrm>
              <a:off x="591760" y="3829036"/>
              <a:ext cx="156642" cy="139238"/>
            </a:xfrm>
            <a:custGeom>
              <a:rect b="b" l="l" r="r" t="t"/>
              <a:pathLst>
                <a:path extrusionOk="0" h="139238" w="156642">
                  <a:moveTo>
                    <a:pt x="78321" y="0"/>
                  </a:moveTo>
                  <a:cubicBezTo>
                    <a:pt x="80116" y="0"/>
                    <a:pt x="81829" y="734"/>
                    <a:pt x="83053" y="2040"/>
                  </a:cubicBezTo>
                  <a:lnTo>
                    <a:pt x="122214" y="43376"/>
                  </a:lnTo>
                  <a:lnTo>
                    <a:pt x="122350" y="43512"/>
                  </a:lnTo>
                  <a:lnTo>
                    <a:pt x="143589" y="43512"/>
                  </a:lnTo>
                  <a:cubicBezTo>
                    <a:pt x="148402" y="43512"/>
                    <a:pt x="152291" y="47401"/>
                    <a:pt x="152291" y="52214"/>
                  </a:cubicBezTo>
                  <a:cubicBezTo>
                    <a:pt x="152291" y="56157"/>
                    <a:pt x="149681" y="59475"/>
                    <a:pt x="146091" y="60563"/>
                  </a:cubicBezTo>
                  <a:lnTo>
                    <a:pt x="133554" y="116911"/>
                  </a:lnTo>
                  <a:cubicBezTo>
                    <a:pt x="131786" y="124879"/>
                    <a:pt x="124716" y="130535"/>
                    <a:pt x="116557" y="130535"/>
                  </a:cubicBezTo>
                  <a:lnTo>
                    <a:pt x="40058" y="130535"/>
                  </a:lnTo>
                  <a:cubicBezTo>
                    <a:pt x="31900" y="130535"/>
                    <a:pt x="24829" y="124879"/>
                    <a:pt x="23061" y="116911"/>
                  </a:cubicBezTo>
                  <a:lnTo>
                    <a:pt x="10552" y="60563"/>
                  </a:lnTo>
                  <a:cubicBezTo>
                    <a:pt x="6962" y="59502"/>
                    <a:pt x="4351" y="56157"/>
                    <a:pt x="4351" y="52214"/>
                  </a:cubicBezTo>
                  <a:cubicBezTo>
                    <a:pt x="4351" y="47401"/>
                    <a:pt x="8240" y="43512"/>
                    <a:pt x="13054" y="43512"/>
                  </a:cubicBezTo>
                  <a:lnTo>
                    <a:pt x="34293" y="43512"/>
                  </a:lnTo>
                  <a:lnTo>
                    <a:pt x="34429" y="43376"/>
                  </a:lnTo>
                  <a:lnTo>
                    <a:pt x="73589" y="2040"/>
                  </a:lnTo>
                  <a:cubicBezTo>
                    <a:pt x="74813" y="734"/>
                    <a:pt x="76526" y="0"/>
                    <a:pt x="78321" y="0"/>
                  </a:cubicBezTo>
                  <a:close/>
                  <a:moveTo>
                    <a:pt x="78321" y="16018"/>
                  </a:moveTo>
                  <a:lnTo>
                    <a:pt x="52269" y="43512"/>
                  </a:lnTo>
                  <a:lnTo>
                    <a:pt x="104374" y="43512"/>
                  </a:lnTo>
                  <a:lnTo>
                    <a:pt x="78321" y="16018"/>
                  </a:lnTo>
                  <a:close/>
                  <a:moveTo>
                    <a:pt x="56565" y="71794"/>
                  </a:moveTo>
                  <a:cubicBezTo>
                    <a:pt x="56565" y="68178"/>
                    <a:pt x="53655" y="65268"/>
                    <a:pt x="50039" y="65268"/>
                  </a:cubicBezTo>
                  <a:cubicBezTo>
                    <a:pt x="46422" y="65268"/>
                    <a:pt x="43512" y="68178"/>
                    <a:pt x="43512" y="71794"/>
                  </a:cubicBezTo>
                  <a:lnTo>
                    <a:pt x="43512" y="102253"/>
                  </a:lnTo>
                  <a:cubicBezTo>
                    <a:pt x="43512" y="105870"/>
                    <a:pt x="46422" y="108779"/>
                    <a:pt x="50039" y="108779"/>
                  </a:cubicBezTo>
                  <a:cubicBezTo>
                    <a:pt x="53655" y="108779"/>
                    <a:pt x="56565" y="105870"/>
                    <a:pt x="56565" y="102253"/>
                  </a:cubicBezTo>
                  <a:lnTo>
                    <a:pt x="56565" y="71794"/>
                  </a:lnTo>
                  <a:close/>
                  <a:moveTo>
                    <a:pt x="78321" y="65268"/>
                  </a:moveTo>
                  <a:cubicBezTo>
                    <a:pt x="74704" y="65268"/>
                    <a:pt x="71794" y="68178"/>
                    <a:pt x="71794" y="71794"/>
                  </a:cubicBezTo>
                  <a:lnTo>
                    <a:pt x="71794" y="102253"/>
                  </a:lnTo>
                  <a:cubicBezTo>
                    <a:pt x="71794" y="105870"/>
                    <a:pt x="74704" y="108779"/>
                    <a:pt x="78321" y="108779"/>
                  </a:cubicBezTo>
                  <a:cubicBezTo>
                    <a:pt x="81938" y="108779"/>
                    <a:pt x="84848" y="105870"/>
                    <a:pt x="84848" y="102253"/>
                  </a:cubicBezTo>
                  <a:lnTo>
                    <a:pt x="84848" y="71794"/>
                  </a:lnTo>
                  <a:cubicBezTo>
                    <a:pt x="84848" y="68178"/>
                    <a:pt x="81938" y="65268"/>
                    <a:pt x="78321" y="65268"/>
                  </a:cubicBezTo>
                  <a:close/>
                  <a:moveTo>
                    <a:pt x="113131" y="71794"/>
                  </a:moveTo>
                  <a:cubicBezTo>
                    <a:pt x="113131" y="68178"/>
                    <a:pt x="110221" y="65268"/>
                    <a:pt x="106604" y="65268"/>
                  </a:cubicBezTo>
                  <a:cubicBezTo>
                    <a:pt x="102987" y="65268"/>
                    <a:pt x="100077" y="68178"/>
                    <a:pt x="100077" y="71794"/>
                  </a:cubicBezTo>
                  <a:lnTo>
                    <a:pt x="100077" y="102253"/>
                  </a:lnTo>
                  <a:cubicBezTo>
                    <a:pt x="100077" y="105870"/>
                    <a:pt x="102987" y="108779"/>
                    <a:pt x="106604" y="108779"/>
                  </a:cubicBezTo>
                  <a:cubicBezTo>
                    <a:pt x="110221" y="108779"/>
                    <a:pt x="113131" y="105870"/>
                    <a:pt x="113131" y="102253"/>
                  </a:cubicBezTo>
                  <a:lnTo>
                    <a:pt x="113131" y="7179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1"/>
            <p:cNvSpPr/>
            <p:nvPr/>
          </p:nvSpPr>
          <p:spPr>
            <a:xfrm>
              <a:off x="948557" y="3689799"/>
              <a:ext cx="1314056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Cart</a:t>
              </a:r>
              <a:endParaRPr b="0" i="0" sz="1600" u="none" cap="none" strike="noStrike"/>
            </a:p>
          </p:txBody>
        </p:sp>
        <p:sp>
          <p:nvSpPr>
            <p:cNvPr id="434" name="Google Shape;434;p21"/>
            <p:cNvSpPr/>
            <p:nvPr/>
          </p:nvSpPr>
          <p:spPr>
            <a:xfrm>
              <a:off x="948557" y="3933465"/>
              <a:ext cx="1296651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cart_id | FK: user_id</a:t>
              </a:r>
              <a:endParaRPr b="0" i="0" sz="1600" u="none" cap="none" strike="noStrike"/>
            </a:p>
          </p:txBody>
        </p:sp>
        <p:sp>
          <p:nvSpPr>
            <p:cNvPr id="435" name="Google Shape;435;p21"/>
            <p:cNvSpPr/>
            <p:nvPr/>
          </p:nvSpPr>
          <p:spPr>
            <a:xfrm>
              <a:off x="496034" y="4211940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One active cart per user</a:t>
              </a:r>
              <a:endParaRPr b="0" i="0" sz="1600" u="none" cap="none" strike="noStrike"/>
            </a:p>
          </p:txBody>
        </p:sp>
        <p:sp>
          <p:nvSpPr>
            <p:cNvPr id="436" name="Google Shape;436;p21"/>
            <p:cNvSpPr/>
            <p:nvPr/>
          </p:nvSpPr>
          <p:spPr>
            <a:xfrm>
              <a:off x="496034" y="4420797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created_at timestamp</a:t>
              </a:r>
              <a:endParaRPr b="0" i="0" sz="1600" u="none" cap="none" strike="noStrike"/>
            </a:p>
          </p:txBody>
        </p:sp>
        <p:sp>
          <p:nvSpPr>
            <p:cNvPr id="437" name="Google Shape;437;p21"/>
            <p:cNvSpPr/>
            <p:nvPr/>
          </p:nvSpPr>
          <p:spPr>
            <a:xfrm>
              <a:off x="496034" y="4629653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UNIQUE constraint on user_id</a:t>
              </a:r>
              <a:endParaRPr b="0" i="0" sz="1600" u="none" cap="none" strike="noStrike"/>
            </a:p>
          </p:txBody>
        </p:sp>
        <p:sp>
          <p:nvSpPr>
            <p:cNvPr id="438" name="Google Shape;438;p21"/>
            <p:cNvSpPr/>
            <p:nvPr/>
          </p:nvSpPr>
          <p:spPr>
            <a:xfrm>
              <a:off x="496034" y="4912480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8B8E">
                <a:alpha val="30196"/>
              </a:srgbClr>
            </a:solidFill>
            <a:ln>
              <a:noFill/>
            </a:ln>
          </p:spPr>
        </p:sp>
        <p:sp>
          <p:nvSpPr>
            <p:cNvPr id="439" name="Google Shape;439;p21"/>
            <p:cNvSpPr/>
            <p:nvPr/>
          </p:nvSpPr>
          <p:spPr>
            <a:xfrm>
              <a:off x="496034" y="5021259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1:1 with Users</a:t>
              </a:r>
              <a:endParaRPr b="0" i="0" sz="1600" u="none" cap="none" strike="noStrike"/>
            </a:p>
          </p:txBody>
        </p:sp>
      </p:grpSp>
      <p:grpSp>
        <p:nvGrpSpPr>
          <p:cNvPr id="440" name="Google Shape;440;p21"/>
          <p:cNvGrpSpPr/>
          <p:nvPr/>
        </p:nvGrpSpPr>
        <p:grpSpPr>
          <a:xfrm>
            <a:off x="4230408" y="1396734"/>
            <a:ext cx="3733310" cy="1735137"/>
            <a:chOff x="4230433" y="1396728"/>
            <a:chExt cx="3733310" cy="2001542"/>
          </a:xfrm>
        </p:grpSpPr>
        <p:sp>
          <p:nvSpPr>
            <p:cNvPr id="441" name="Google Shape;441;p21"/>
            <p:cNvSpPr/>
            <p:nvPr/>
          </p:nvSpPr>
          <p:spPr>
            <a:xfrm>
              <a:off x="4230433" y="1396728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1"/>
            <p:cNvSpPr/>
            <p:nvPr/>
          </p:nvSpPr>
          <p:spPr>
            <a:xfrm>
              <a:off x="4374021" y="1575126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1"/>
            <p:cNvSpPr/>
            <p:nvPr/>
          </p:nvSpPr>
          <p:spPr>
            <a:xfrm>
              <a:off x="4478450" y="1679555"/>
              <a:ext cx="139238" cy="139238"/>
            </a:xfrm>
            <a:custGeom>
              <a:rect b="b" l="l" r="r" t="t"/>
              <a:pathLst>
                <a:path extrusionOk="0" h="139238" w="139238">
                  <a:moveTo>
                    <a:pt x="13054" y="39161"/>
                  </a:moveTo>
                  <a:cubicBezTo>
                    <a:pt x="20258" y="39161"/>
                    <a:pt x="26107" y="33312"/>
                    <a:pt x="26107" y="26107"/>
                  </a:cubicBezTo>
                  <a:cubicBezTo>
                    <a:pt x="26107" y="18903"/>
                    <a:pt x="20258" y="13054"/>
                    <a:pt x="13054" y="13054"/>
                  </a:cubicBezTo>
                  <a:cubicBezTo>
                    <a:pt x="5849" y="13054"/>
                    <a:pt x="0" y="18903"/>
                    <a:pt x="0" y="26107"/>
                  </a:cubicBezTo>
                  <a:cubicBezTo>
                    <a:pt x="0" y="33312"/>
                    <a:pt x="5849" y="39161"/>
                    <a:pt x="13054" y="39161"/>
                  </a:cubicBezTo>
                  <a:close/>
                  <a:moveTo>
                    <a:pt x="52214" y="17405"/>
                  </a:moveTo>
                  <a:cubicBezTo>
                    <a:pt x="47401" y="17405"/>
                    <a:pt x="43512" y="21294"/>
                    <a:pt x="43512" y="26107"/>
                  </a:cubicBezTo>
                  <a:cubicBezTo>
                    <a:pt x="43512" y="30921"/>
                    <a:pt x="47401" y="34809"/>
                    <a:pt x="52214" y="34809"/>
                  </a:cubicBezTo>
                  <a:lnTo>
                    <a:pt x="130535" y="34809"/>
                  </a:lnTo>
                  <a:cubicBezTo>
                    <a:pt x="135349" y="34809"/>
                    <a:pt x="139238" y="30921"/>
                    <a:pt x="139238" y="26107"/>
                  </a:cubicBezTo>
                  <a:cubicBezTo>
                    <a:pt x="139238" y="21294"/>
                    <a:pt x="135349" y="17405"/>
                    <a:pt x="130535" y="17405"/>
                  </a:cubicBezTo>
                  <a:lnTo>
                    <a:pt x="52214" y="17405"/>
                  </a:lnTo>
                  <a:close/>
                  <a:moveTo>
                    <a:pt x="52214" y="60916"/>
                  </a:moveTo>
                  <a:cubicBezTo>
                    <a:pt x="47401" y="60916"/>
                    <a:pt x="43512" y="64805"/>
                    <a:pt x="43512" y="69619"/>
                  </a:cubicBezTo>
                  <a:cubicBezTo>
                    <a:pt x="43512" y="74432"/>
                    <a:pt x="47401" y="78321"/>
                    <a:pt x="52214" y="78321"/>
                  </a:cubicBezTo>
                  <a:lnTo>
                    <a:pt x="130535" y="78321"/>
                  </a:lnTo>
                  <a:cubicBezTo>
                    <a:pt x="135349" y="78321"/>
                    <a:pt x="139238" y="74432"/>
                    <a:pt x="139238" y="69619"/>
                  </a:cubicBezTo>
                  <a:cubicBezTo>
                    <a:pt x="139238" y="64805"/>
                    <a:pt x="135349" y="60916"/>
                    <a:pt x="130535" y="60916"/>
                  </a:cubicBezTo>
                  <a:lnTo>
                    <a:pt x="52214" y="60916"/>
                  </a:lnTo>
                  <a:close/>
                  <a:moveTo>
                    <a:pt x="52214" y="104428"/>
                  </a:moveTo>
                  <a:cubicBezTo>
                    <a:pt x="47401" y="104428"/>
                    <a:pt x="43512" y="108317"/>
                    <a:pt x="43512" y="113131"/>
                  </a:cubicBezTo>
                  <a:cubicBezTo>
                    <a:pt x="43512" y="117944"/>
                    <a:pt x="47401" y="121833"/>
                    <a:pt x="52214" y="121833"/>
                  </a:cubicBezTo>
                  <a:lnTo>
                    <a:pt x="130535" y="121833"/>
                  </a:lnTo>
                  <a:cubicBezTo>
                    <a:pt x="135349" y="121833"/>
                    <a:pt x="139238" y="117944"/>
                    <a:pt x="139238" y="113131"/>
                  </a:cubicBezTo>
                  <a:cubicBezTo>
                    <a:pt x="139238" y="108317"/>
                    <a:pt x="135349" y="104428"/>
                    <a:pt x="130535" y="104428"/>
                  </a:cubicBezTo>
                  <a:lnTo>
                    <a:pt x="52214" y="104428"/>
                  </a:lnTo>
                  <a:close/>
                  <a:moveTo>
                    <a:pt x="13054" y="126184"/>
                  </a:moveTo>
                  <a:cubicBezTo>
                    <a:pt x="20258" y="126184"/>
                    <a:pt x="26107" y="120335"/>
                    <a:pt x="26107" y="113131"/>
                  </a:cubicBezTo>
                  <a:cubicBezTo>
                    <a:pt x="26107" y="105926"/>
                    <a:pt x="20258" y="100077"/>
                    <a:pt x="13054" y="100077"/>
                  </a:cubicBezTo>
                  <a:cubicBezTo>
                    <a:pt x="5849" y="100077"/>
                    <a:pt x="0" y="105926"/>
                    <a:pt x="0" y="113131"/>
                  </a:cubicBezTo>
                  <a:cubicBezTo>
                    <a:pt x="0" y="120335"/>
                    <a:pt x="5849" y="126184"/>
                    <a:pt x="13054" y="126184"/>
                  </a:cubicBezTo>
                  <a:close/>
                  <a:moveTo>
                    <a:pt x="26107" y="69619"/>
                  </a:moveTo>
                  <a:cubicBezTo>
                    <a:pt x="26107" y="62414"/>
                    <a:pt x="20258" y="56565"/>
                    <a:pt x="13054" y="56565"/>
                  </a:cubicBezTo>
                  <a:cubicBezTo>
                    <a:pt x="5849" y="56565"/>
                    <a:pt x="0" y="62414"/>
                    <a:pt x="0" y="69619"/>
                  </a:cubicBezTo>
                  <a:cubicBezTo>
                    <a:pt x="0" y="76823"/>
                    <a:pt x="5849" y="82672"/>
                    <a:pt x="13054" y="82672"/>
                  </a:cubicBezTo>
                  <a:cubicBezTo>
                    <a:pt x="20258" y="82672"/>
                    <a:pt x="26107" y="76823"/>
                    <a:pt x="26107" y="6961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>
              <a:off x="4826544" y="1540317"/>
              <a:ext cx="2288719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Cart_Items</a:t>
              </a:r>
              <a:endParaRPr b="0" i="0" sz="1600" u="none" cap="none" strike="noStrike"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4826544" y="1783983"/>
              <a:ext cx="2271315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cart_item_id | FKs: cart_id, product_id</a:t>
              </a:r>
              <a:endParaRPr b="0" i="0" sz="1600" u="none" cap="none" strike="noStrike"/>
            </a:p>
          </p:txBody>
        </p:sp>
        <p:sp>
          <p:nvSpPr>
            <p:cNvPr id="446" name="Google Shape;446;p21"/>
            <p:cNvSpPr/>
            <p:nvPr/>
          </p:nvSpPr>
          <p:spPr>
            <a:xfrm>
              <a:off x="4374021" y="2062458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quantity (≥ 1)</a:t>
              </a:r>
              <a:endParaRPr b="0" i="0" sz="1600" u="none" cap="none" strike="noStrike"/>
            </a:p>
          </p:txBody>
        </p:sp>
        <p:sp>
          <p:nvSpPr>
            <p:cNvPr id="447" name="Google Shape;447;p21"/>
            <p:cNvSpPr/>
            <p:nvPr/>
          </p:nvSpPr>
          <p:spPr>
            <a:xfrm>
              <a:off x="4374021" y="2271315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added_at timestamp</a:t>
              </a:r>
              <a:endParaRPr b="0" i="0" sz="1600" u="none" cap="none" strike="noStrike"/>
            </a:p>
          </p:txBody>
        </p:sp>
        <p:sp>
          <p:nvSpPr>
            <p:cNvPr id="448" name="Google Shape;448;p21"/>
            <p:cNvSpPr/>
            <p:nvPr/>
          </p:nvSpPr>
          <p:spPr>
            <a:xfrm>
              <a:off x="4374021" y="2480171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UNIQUE (cart_id, product_id)</a:t>
              </a:r>
              <a:endParaRPr b="0" i="0" sz="1600" u="none" cap="none" strike="noStrike"/>
            </a:p>
          </p:txBody>
        </p:sp>
        <p:sp>
          <p:nvSpPr>
            <p:cNvPr id="449" name="Google Shape;449;p21"/>
            <p:cNvSpPr/>
            <p:nvPr/>
          </p:nvSpPr>
          <p:spPr>
            <a:xfrm>
              <a:off x="4374021" y="2762998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30196"/>
              </a:srgbClr>
            </a:solidFill>
            <a:ln>
              <a:noFill/>
            </a:ln>
          </p:spPr>
        </p:sp>
        <p:sp>
          <p:nvSpPr>
            <p:cNvPr id="450" name="Google Shape;450;p21"/>
            <p:cNvSpPr/>
            <p:nvPr/>
          </p:nvSpPr>
          <p:spPr>
            <a:xfrm>
              <a:off x="4374021" y="2871777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Weak entity dependent on Cart</a:t>
              </a:r>
              <a:endParaRPr b="0" i="0" sz="1600" u="none" cap="none" strike="noStrike"/>
            </a:p>
          </p:txBody>
        </p:sp>
      </p:grpSp>
      <p:grpSp>
        <p:nvGrpSpPr>
          <p:cNvPr id="451" name="Google Shape;451;p21"/>
          <p:cNvGrpSpPr/>
          <p:nvPr/>
        </p:nvGrpSpPr>
        <p:grpSpPr>
          <a:xfrm>
            <a:off x="4230408" y="3298203"/>
            <a:ext cx="3733310" cy="1819602"/>
            <a:chOff x="4230433" y="3546210"/>
            <a:chExt cx="3733310" cy="2001542"/>
          </a:xfrm>
        </p:grpSpPr>
        <p:sp>
          <p:nvSpPr>
            <p:cNvPr id="452" name="Google Shape;452;p21"/>
            <p:cNvSpPr/>
            <p:nvPr/>
          </p:nvSpPr>
          <p:spPr>
            <a:xfrm>
              <a:off x="4230433" y="3546210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1"/>
            <p:cNvSpPr/>
            <p:nvPr/>
          </p:nvSpPr>
          <p:spPr>
            <a:xfrm>
              <a:off x="4374021" y="3724608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1"/>
            <p:cNvSpPr/>
            <p:nvPr/>
          </p:nvSpPr>
          <p:spPr>
            <a:xfrm>
              <a:off x="4478450" y="3829036"/>
              <a:ext cx="139238" cy="139238"/>
            </a:xfrm>
            <a:custGeom>
              <a:rect b="b" l="l" r="r" t="t"/>
              <a:pathLst>
                <a:path extrusionOk="0" h="139238" w="139238">
                  <a:moveTo>
                    <a:pt x="60916" y="0"/>
                  </a:moveTo>
                  <a:lnTo>
                    <a:pt x="60916" y="17405"/>
                  </a:lnTo>
                  <a:cubicBezTo>
                    <a:pt x="60916" y="19798"/>
                    <a:pt x="62875" y="21756"/>
                    <a:pt x="65268" y="21756"/>
                  </a:cubicBezTo>
                  <a:lnTo>
                    <a:pt x="73970" y="21756"/>
                  </a:lnTo>
                  <a:cubicBezTo>
                    <a:pt x="76363" y="21756"/>
                    <a:pt x="78321" y="19798"/>
                    <a:pt x="78321" y="17405"/>
                  </a:cubicBezTo>
                  <a:lnTo>
                    <a:pt x="78321" y="0"/>
                  </a:lnTo>
                  <a:lnTo>
                    <a:pt x="87024" y="0"/>
                  </a:lnTo>
                  <a:cubicBezTo>
                    <a:pt x="96623" y="0"/>
                    <a:pt x="104428" y="7805"/>
                    <a:pt x="104428" y="17405"/>
                  </a:cubicBezTo>
                  <a:lnTo>
                    <a:pt x="104428" y="52214"/>
                  </a:lnTo>
                  <a:cubicBezTo>
                    <a:pt x="104428" y="53710"/>
                    <a:pt x="104238" y="55178"/>
                    <a:pt x="103884" y="56565"/>
                  </a:cubicBezTo>
                  <a:lnTo>
                    <a:pt x="35353" y="56565"/>
                  </a:lnTo>
                  <a:cubicBezTo>
                    <a:pt x="35000" y="55178"/>
                    <a:pt x="34809" y="53710"/>
                    <a:pt x="34809" y="52214"/>
                  </a:cubicBezTo>
                  <a:lnTo>
                    <a:pt x="34809" y="17405"/>
                  </a:lnTo>
                  <a:cubicBezTo>
                    <a:pt x="34809" y="7805"/>
                    <a:pt x="42614" y="0"/>
                    <a:pt x="52214" y="0"/>
                  </a:cubicBezTo>
                  <a:lnTo>
                    <a:pt x="60916" y="0"/>
                  </a:lnTo>
                  <a:close/>
                  <a:moveTo>
                    <a:pt x="87024" y="139238"/>
                  </a:moveTo>
                  <a:cubicBezTo>
                    <a:pt x="83978" y="139238"/>
                    <a:pt x="81095" y="138449"/>
                    <a:pt x="78593" y="137062"/>
                  </a:cubicBezTo>
                  <a:cubicBezTo>
                    <a:pt x="81177" y="132575"/>
                    <a:pt x="82672" y="127381"/>
                    <a:pt x="82672" y="121833"/>
                  </a:cubicBezTo>
                  <a:lnTo>
                    <a:pt x="82672" y="87024"/>
                  </a:lnTo>
                  <a:cubicBezTo>
                    <a:pt x="82672" y="81476"/>
                    <a:pt x="81177" y="76282"/>
                    <a:pt x="78593" y="71794"/>
                  </a:cubicBezTo>
                  <a:cubicBezTo>
                    <a:pt x="81095" y="70407"/>
                    <a:pt x="83951" y="69619"/>
                    <a:pt x="87024" y="69619"/>
                  </a:cubicBezTo>
                  <a:lnTo>
                    <a:pt x="95726" y="69619"/>
                  </a:lnTo>
                  <a:lnTo>
                    <a:pt x="95726" y="87024"/>
                  </a:lnTo>
                  <a:cubicBezTo>
                    <a:pt x="95726" y="89417"/>
                    <a:pt x="97684" y="91375"/>
                    <a:pt x="100077" y="91375"/>
                  </a:cubicBezTo>
                  <a:lnTo>
                    <a:pt x="108779" y="91375"/>
                  </a:lnTo>
                  <a:cubicBezTo>
                    <a:pt x="111173" y="91375"/>
                    <a:pt x="113131" y="89417"/>
                    <a:pt x="113131" y="87024"/>
                  </a:cubicBezTo>
                  <a:lnTo>
                    <a:pt x="113131" y="69619"/>
                  </a:lnTo>
                  <a:lnTo>
                    <a:pt x="121833" y="69619"/>
                  </a:lnTo>
                  <a:cubicBezTo>
                    <a:pt x="131433" y="69619"/>
                    <a:pt x="139238" y="77424"/>
                    <a:pt x="139238" y="87024"/>
                  </a:cubicBezTo>
                  <a:lnTo>
                    <a:pt x="139238" y="121833"/>
                  </a:lnTo>
                  <a:cubicBezTo>
                    <a:pt x="139238" y="131433"/>
                    <a:pt x="131433" y="139238"/>
                    <a:pt x="121833" y="139238"/>
                  </a:cubicBezTo>
                  <a:lnTo>
                    <a:pt x="87024" y="139238"/>
                  </a:lnTo>
                  <a:close/>
                  <a:moveTo>
                    <a:pt x="0" y="87024"/>
                  </a:moveTo>
                  <a:cubicBezTo>
                    <a:pt x="0" y="77424"/>
                    <a:pt x="7805" y="69619"/>
                    <a:pt x="17405" y="69619"/>
                  </a:cubicBezTo>
                  <a:lnTo>
                    <a:pt x="26107" y="69619"/>
                  </a:lnTo>
                  <a:lnTo>
                    <a:pt x="26107" y="87024"/>
                  </a:lnTo>
                  <a:cubicBezTo>
                    <a:pt x="26107" y="89417"/>
                    <a:pt x="28065" y="91375"/>
                    <a:pt x="30458" y="91375"/>
                  </a:cubicBezTo>
                  <a:lnTo>
                    <a:pt x="39161" y="91375"/>
                  </a:lnTo>
                  <a:cubicBezTo>
                    <a:pt x="41554" y="91375"/>
                    <a:pt x="43512" y="89417"/>
                    <a:pt x="43512" y="87024"/>
                  </a:cubicBezTo>
                  <a:lnTo>
                    <a:pt x="43512" y="69619"/>
                  </a:lnTo>
                  <a:lnTo>
                    <a:pt x="52214" y="69619"/>
                  </a:lnTo>
                  <a:cubicBezTo>
                    <a:pt x="61814" y="69619"/>
                    <a:pt x="69619" y="77424"/>
                    <a:pt x="69619" y="87024"/>
                  </a:cubicBezTo>
                  <a:lnTo>
                    <a:pt x="69619" y="121833"/>
                  </a:lnTo>
                  <a:cubicBezTo>
                    <a:pt x="69619" y="131433"/>
                    <a:pt x="61814" y="139238"/>
                    <a:pt x="52214" y="139238"/>
                  </a:cubicBezTo>
                  <a:lnTo>
                    <a:pt x="17405" y="139238"/>
                  </a:lnTo>
                  <a:cubicBezTo>
                    <a:pt x="7805" y="139238"/>
                    <a:pt x="0" y="131433"/>
                    <a:pt x="0" y="121833"/>
                  </a:cubicBezTo>
                  <a:lnTo>
                    <a:pt x="0" y="870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1"/>
            <p:cNvSpPr/>
            <p:nvPr/>
          </p:nvSpPr>
          <p:spPr>
            <a:xfrm>
              <a:off x="4826544" y="3689799"/>
              <a:ext cx="2436660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Order_Items</a:t>
              </a:r>
              <a:endParaRPr b="0" i="0" sz="1600" u="none" cap="none" strike="noStrike"/>
            </a:p>
          </p:txBody>
        </p:sp>
        <p:sp>
          <p:nvSpPr>
            <p:cNvPr id="456" name="Google Shape;456;p21"/>
            <p:cNvSpPr/>
            <p:nvPr/>
          </p:nvSpPr>
          <p:spPr>
            <a:xfrm>
              <a:off x="4826544" y="3933465"/>
              <a:ext cx="2419255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order_item_id | FKs: order_id, product_id</a:t>
              </a:r>
              <a:endParaRPr b="0" i="0" sz="1600" u="none" cap="none" strike="noStrike"/>
            </a:p>
          </p:txBody>
        </p:sp>
        <p:sp>
          <p:nvSpPr>
            <p:cNvPr id="457" name="Google Shape;457;p21"/>
            <p:cNvSpPr/>
            <p:nvPr/>
          </p:nvSpPr>
          <p:spPr>
            <a:xfrm>
              <a:off x="4374021" y="4211940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quantity (≥ 1)</a:t>
              </a:r>
              <a:endParaRPr b="0" i="0" sz="1600" u="none" cap="none" strike="noStrike"/>
            </a:p>
          </p:txBody>
        </p:sp>
        <p:sp>
          <p:nvSpPr>
            <p:cNvPr id="458" name="Google Shape;458;p21"/>
            <p:cNvSpPr/>
            <p:nvPr/>
          </p:nvSpPr>
          <p:spPr>
            <a:xfrm>
              <a:off x="4374021" y="4420797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unit_price (historical)</a:t>
              </a:r>
              <a:endParaRPr b="0" i="0" sz="1600" u="none" cap="none" strike="noStrike"/>
            </a:p>
          </p:txBody>
        </p:sp>
        <p:sp>
          <p:nvSpPr>
            <p:cNvPr id="459" name="Google Shape;459;p21"/>
            <p:cNvSpPr/>
            <p:nvPr/>
          </p:nvSpPr>
          <p:spPr>
            <a:xfrm>
              <a:off x="4374021" y="4629653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Denormalized for accuracy</a:t>
              </a:r>
              <a:endParaRPr b="0" i="0" sz="1600" u="none" cap="none" strike="noStrike"/>
            </a:p>
          </p:txBody>
        </p:sp>
        <p:sp>
          <p:nvSpPr>
            <p:cNvPr id="460" name="Google Shape;460;p21"/>
            <p:cNvSpPr/>
            <p:nvPr/>
          </p:nvSpPr>
          <p:spPr>
            <a:xfrm>
              <a:off x="4374021" y="4912480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30196"/>
              </a:srgbClr>
            </a:solidFill>
            <a:ln>
              <a:noFill/>
            </a:ln>
          </p:spPr>
        </p:sp>
        <p:sp>
          <p:nvSpPr>
            <p:cNvPr id="461" name="Google Shape;461;p21"/>
            <p:cNvSpPr/>
            <p:nvPr/>
          </p:nvSpPr>
          <p:spPr>
            <a:xfrm>
              <a:off x="4374021" y="5021259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Weak entity dependent on Orders</a:t>
              </a:r>
              <a:endParaRPr b="0" i="0" sz="1600" u="none" cap="none" strike="noStrike"/>
            </a:p>
          </p:txBody>
        </p:sp>
      </p:grpSp>
      <p:grpSp>
        <p:nvGrpSpPr>
          <p:cNvPr id="462" name="Google Shape;462;p21"/>
          <p:cNvGrpSpPr/>
          <p:nvPr/>
        </p:nvGrpSpPr>
        <p:grpSpPr>
          <a:xfrm>
            <a:off x="8108447" y="1396734"/>
            <a:ext cx="3733310" cy="1735137"/>
            <a:chOff x="8108420" y="1396728"/>
            <a:chExt cx="3733310" cy="2001542"/>
          </a:xfrm>
        </p:grpSpPr>
        <p:sp>
          <p:nvSpPr>
            <p:cNvPr id="463" name="Google Shape;463;p21"/>
            <p:cNvSpPr/>
            <p:nvPr/>
          </p:nvSpPr>
          <p:spPr>
            <a:xfrm>
              <a:off x="8108420" y="1396728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1"/>
            <p:cNvSpPr/>
            <p:nvPr/>
          </p:nvSpPr>
          <p:spPr>
            <a:xfrm>
              <a:off x="8252009" y="1575126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1"/>
            <p:cNvSpPr/>
            <p:nvPr/>
          </p:nvSpPr>
          <p:spPr>
            <a:xfrm>
              <a:off x="8347734" y="1679555"/>
              <a:ext cx="156642" cy="139238"/>
            </a:xfrm>
            <a:custGeom>
              <a:rect b="b" l="l" r="r" t="t"/>
              <a:pathLst>
                <a:path extrusionOk="0" h="139238" w="156642">
                  <a:moveTo>
                    <a:pt x="0" y="38644"/>
                  </a:moveTo>
                  <a:lnTo>
                    <a:pt x="0" y="130535"/>
                  </a:lnTo>
                  <a:cubicBezTo>
                    <a:pt x="0" y="135349"/>
                    <a:pt x="3889" y="139238"/>
                    <a:pt x="8702" y="139238"/>
                  </a:cubicBezTo>
                  <a:cubicBezTo>
                    <a:pt x="13516" y="139238"/>
                    <a:pt x="17405" y="135349"/>
                    <a:pt x="17405" y="130535"/>
                  </a:cubicBezTo>
                  <a:lnTo>
                    <a:pt x="17405" y="65268"/>
                  </a:lnTo>
                  <a:cubicBezTo>
                    <a:pt x="17405" y="60454"/>
                    <a:pt x="21294" y="56565"/>
                    <a:pt x="26107" y="56565"/>
                  </a:cubicBezTo>
                  <a:lnTo>
                    <a:pt x="130535" y="56565"/>
                  </a:lnTo>
                  <a:cubicBezTo>
                    <a:pt x="135349" y="56565"/>
                    <a:pt x="139238" y="60454"/>
                    <a:pt x="139238" y="65268"/>
                  </a:cubicBezTo>
                  <a:lnTo>
                    <a:pt x="139238" y="130535"/>
                  </a:lnTo>
                  <a:cubicBezTo>
                    <a:pt x="139238" y="135349"/>
                    <a:pt x="143127" y="139238"/>
                    <a:pt x="147940" y="139238"/>
                  </a:cubicBezTo>
                  <a:cubicBezTo>
                    <a:pt x="152754" y="139238"/>
                    <a:pt x="156642" y="135349"/>
                    <a:pt x="156642" y="130535"/>
                  </a:cubicBezTo>
                  <a:lnTo>
                    <a:pt x="156642" y="38644"/>
                  </a:lnTo>
                  <a:cubicBezTo>
                    <a:pt x="156642" y="31165"/>
                    <a:pt x="151856" y="24503"/>
                    <a:pt x="144731" y="22137"/>
                  </a:cubicBezTo>
                  <a:lnTo>
                    <a:pt x="82455" y="1387"/>
                  </a:lnTo>
                  <a:cubicBezTo>
                    <a:pt x="79763" y="490"/>
                    <a:pt x="76880" y="490"/>
                    <a:pt x="74188" y="1387"/>
                  </a:cubicBezTo>
                  <a:lnTo>
                    <a:pt x="11911" y="22137"/>
                  </a:lnTo>
                  <a:cubicBezTo>
                    <a:pt x="4786" y="24503"/>
                    <a:pt x="0" y="31165"/>
                    <a:pt x="0" y="38644"/>
                  </a:cubicBezTo>
                  <a:close/>
                  <a:moveTo>
                    <a:pt x="126184" y="69619"/>
                  </a:moveTo>
                  <a:lnTo>
                    <a:pt x="30458" y="69619"/>
                  </a:lnTo>
                  <a:lnTo>
                    <a:pt x="30458" y="87024"/>
                  </a:lnTo>
                  <a:lnTo>
                    <a:pt x="126184" y="87024"/>
                  </a:lnTo>
                  <a:lnTo>
                    <a:pt x="126184" y="69619"/>
                  </a:lnTo>
                  <a:close/>
                  <a:moveTo>
                    <a:pt x="30458" y="113131"/>
                  </a:moveTo>
                  <a:lnTo>
                    <a:pt x="126184" y="113131"/>
                  </a:lnTo>
                  <a:lnTo>
                    <a:pt x="126184" y="95726"/>
                  </a:lnTo>
                  <a:lnTo>
                    <a:pt x="30458" y="95726"/>
                  </a:lnTo>
                  <a:lnTo>
                    <a:pt x="30458" y="113131"/>
                  </a:lnTo>
                  <a:close/>
                  <a:moveTo>
                    <a:pt x="126184" y="121833"/>
                  </a:moveTo>
                  <a:lnTo>
                    <a:pt x="30458" y="121833"/>
                  </a:lnTo>
                  <a:lnTo>
                    <a:pt x="30458" y="139238"/>
                  </a:lnTo>
                  <a:lnTo>
                    <a:pt x="126184" y="139238"/>
                  </a:lnTo>
                  <a:lnTo>
                    <a:pt x="126184" y="1218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1"/>
            <p:cNvSpPr/>
            <p:nvPr/>
          </p:nvSpPr>
          <p:spPr>
            <a:xfrm>
              <a:off x="8704531" y="1540317"/>
              <a:ext cx="1801388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Inventory</a:t>
              </a:r>
              <a:endParaRPr b="0" i="0" sz="1600" u="none" cap="none" strike="noStrike"/>
            </a:p>
          </p:txBody>
        </p:sp>
        <p:sp>
          <p:nvSpPr>
            <p:cNvPr id="467" name="Google Shape;467;p21"/>
            <p:cNvSpPr/>
            <p:nvPr/>
          </p:nvSpPr>
          <p:spPr>
            <a:xfrm>
              <a:off x="8704531" y="1783983"/>
              <a:ext cx="1783983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inventory_id | FK: product_id</a:t>
              </a:r>
              <a:endParaRPr b="0" i="0" sz="1600" u="none" cap="none" strike="noStrike"/>
            </a:p>
          </p:txBody>
        </p:sp>
        <p:sp>
          <p:nvSpPr>
            <p:cNvPr id="468" name="Google Shape;468;p21"/>
            <p:cNvSpPr/>
            <p:nvPr/>
          </p:nvSpPr>
          <p:spPr>
            <a:xfrm>
              <a:off x="8252009" y="2062458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quantity (UNSIGNED)</a:t>
              </a:r>
              <a:endParaRPr b="0" i="0" sz="1600" u="none" cap="none" strike="noStrike"/>
            </a:p>
          </p:txBody>
        </p:sp>
        <p:sp>
          <p:nvSpPr>
            <p:cNvPr id="469" name="Google Shape;469;p21"/>
            <p:cNvSpPr/>
            <p:nvPr/>
          </p:nvSpPr>
          <p:spPr>
            <a:xfrm>
              <a:off x="8252009" y="2271315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updated_at timestamp</a:t>
              </a:r>
              <a:endParaRPr b="0" i="0" sz="1600" u="none" cap="none" strike="noStrike"/>
            </a:p>
          </p:txBody>
        </p:sp>
        <p:sp>
          <p:nvSpPr>
            <p:cNvPr id="470" name="Google Shape;470;p21"/>
            <p:cNvSpPr/>
            <p:nvPr/>
          </p:nvSpPr>
          <p:spPr>
            <a:xfrm>
              <a:off x="8252009" y="2480171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UNIQUE on product_id</a:t>
              </a:r>
              <a:endParaRPr b="0" i="0" sz="1600" u="none" cap="none" strike="noStrike"/>
            </a:p>
          </p:txBody>
        </p:sp>
        <p:sp>
          <p:nvSpPr>
            <p:cNvPr id="471" name="Google Shape;471;p21"/>
            <p:cNvSpPr/>
            <p:nvPr/>
          </p:nvSpPr>
          <p:spPr>
            <a:xfrm>
              <a:off x="8252009" y="2689028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Auto-updated via triggers</a:t>
              </a:r>
              <a:endParaRPr b="0" i="0" sz="1600" u="none" cap="none" strike="noStrike"/>
            </a:p>
          </p:txBody>
        </p:sp>
        <p:sp>
          <p:nvSpPr>
            <p:cNvPr id="472" name="Google Shape;472;p21"/>
            <p:cNvSpPr/>
            <p:nvPr/>
          </p:nvSpPr>
          <p:spPr>
            <a:xfrm>
              <a:off x="8252009" y="2971854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>
                <a:alpha val="30196"/>
              </a:srgbClr>
            </a:solidFill>
            <a:ln>
              <a:noFill/>
            </a:ln>
          </p:spPr>
        </p:sp>
        <p:sp>
          <p:nvSpPr>
            <p:cNvPr id="473" name="Google Shape;473;p21"/>
            <p:cNvSpPr/>
            <p:nvPr/>
          </p:nvSpPr>
          <p:spPr>
            <a:xfrm>
              <a:off x="8252009" y="3080634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1:1 with Products</a:t>
              </a:r>
              <a:endParaRPr b="0" i="0" sz="1600" u="none" cap="none" strike="noStrike"/>
            </a:p>
          </p:txBody>
        </p:sp>
      </p:grpSp>
      <p:grpSp>
        <p:nvGrpSpPr>
          <p:cNvPr id="474" name="Google Shape;474;p21"/>
          <p:cNvGrpSpPr/>
          <p:nvPr/>
        </p:nvGrpSpPr>
        <p:grpSpPr>
          <a:xfrm>
            <a:off x="8108397" y="3298204"/>
            <a:ext cx="3733310" cy="1819602"/>
            <a:chOff x="8108420" y="3546210"/>
            <a:chExt cx="3733310" cy="2001542"/>
          </a:xfrm>
        </p:grpSpPr>
        <p:sp>
          <p:nvSpPr>
            <p:cNvPr id="475" name="Google Shape;475;p21"/>
            <p:cNvSpPr/>
            <p:nvPr/>
          </p:nvSpPr>
          <p:spPr>
            <a:xfrm>
              <a:off x="8108420" y="3546210"/>
              <a:ext cx="3733310" cy="2001542"/>
            </a:xfrm>
            <a:custGeom>
              <a:rect b="b" l="l" r="r" t="t"/>
              <a:pathLst>
                <a:path extrusionOk="0" h="2001542" w="3733310">
                  <a:moveTo>
                    <a:pt x="69614" y="0"/>
                  </a:moveTo>
                  <a:lnTo>
                    <a:pt x="3663697" y="0"/>
                  </a:lnTo>
                  <a:cubicBezTo>
                    <a:pt x="3702143" y="0"/>
                    <a:pt x="3733310" y="31167"/>
                    <a:pt x="3733310" y="69614"/>
                  </a:cubicBezTo>
                  <a:lnTo>
                    <a:pt x="3733310" y="1931928"/>
                  </a:lnTo>
                  <a:cubicBezTo>
                    <a:pt x="3733310" y="1970375"/>
                    <a:pt x="3702143" y="2001542"/>
                    <a:pt x="3663697" y="2001542"/>
                  </a:cubicBezTo>
                  <a:lnTo>
                    <a:pt x="69614" y="2001542"/>
                  </a:lnTo>
                  <a:cubicBezTo>
                    <a:pt x="31167" y="2001542"/>
                    <a:pt x="0" y="1970375"/>
                    <a:pt x="0" y="1931928"/>
                  </a:cubicBezTo>
                  <a:lnTo>
                    <a:pt x="0" y="69614"/>
                  </a:lnTo>
                  <a:cubicBezTo>
                    <a:pt x="0" y="31193"/>
                    <a:pt x="31193" y="0"/>
                    <a:pt x="69614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1"/>
            <p:cNvSpPr/>
            <p:nvPr/>
          </p:nvSpPr>
          <p:spPr>
            <a:xfrm>
              <a:off x="8252009" y="3724608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21"/>
            <p:cNvSpPr/>
            <p:nvPr/>
          </p:nvSpPr>
          <p:spPr>
            <a:xfrm>
              <a:off x="8347734" y="3829036"/>
              <a:ext cx="156642" cy="139238"/>
            </a:xfrm>
            <a:custGeom>
              <a:rect b="b" l="l" r="r" t="t"/>
              <a:pathLst>
                <a:path extrusionOk="0" h="139238" w="156642">
                  <a:moveTo>
                    <a:pt x="78348" y="96161"/>
                  </a:moveTo>
                  <a:cubicBezTo>
                    <a:pt x="81068" y="96161"/>
                    <a:pt x="83760" y="96787"/>
                    <a:pt x="86235" y="98065"/>
                  </a:cubicBezTo>
                  <a:lnTo>
                    <a:pt x="106468" y="108372"/>
                  </a:lnTo>
                  <a:lnTo>
                    <a:pt x="102933" y="85936"/>
                  </a:lnTo>
                  <a:cubicBezTo>
                    <a:pt x="102062" y="80442"/>
                    <a:pt x="103884" y="74867"/>
                    <a:pt x="107800" y="70924"/>
                  </a:cubicBezTo>
                  <a:lnTo>
                    <a:pt x="123845" y="54852"/>
                  </a:lnTo>
                  <a:lnTo>
                    <a:pt x="101410" y="51290"/>
                  </a:lnTo>
                  <a:cubicBezTo>
                    <a:pt x="95916" y="50419"/>
                    <a:pt x="91157" y="46966"/>
                    <a:pt x="88628" y="42016"/>
                  </a:cubicBezTo>
                  <a:lnTo>
                    <a:pt x="78294" y="21783"/>
                  </a:lnTo>
                  <a:lnTo>
                    <a:pt x="78294" y="96188"/>
                  </a:lnTo>
                  <a:close/>
                  <a:moveTo>
                    <a:pt x="124389" y="132983"/>
                  </a:moveTo>
                  <a:cubicBezTo>
                    <a:pt x="122404" y="134424"/>
                    <a:pt x="119766" y="134642"/>
                    <a:pt x="117591" y="133527"/>
                  </a:cubicBezTo>
                  <a:lnTo>
                    <a:pt x="78348" y="113566"/>
                  </a:lnTo>
                  <a:lnTo>
                    <a:pt x="39106" y="133527"/>
                  </a:lnTo>
                  <a:cubicBezTo>
                    <a:pt x="36931" y="134642"/>
                    <a:pt x="34293" y="134424"/>
                    <a:pt x="32307" y="132983"/>
                  </a:cubicBezTo>
                  <a:cubicBezTo>
                    <a:pt x="30322" y="131542"/>
                    <a:pt x="29316" y="129121"/>
                    <a:pt x="29697" y="126674"/>
                  </a:cubicBezTo>
                  <a:lnTo>
                    <a:pt x="36550" y="83189"/>
                  </a:lnTo>
                  <a:lnTo>
                    <a:pt x="5439" y="52051"/>
                  </a:lnTo>
                  <a:cubicBezTo>
                    <a:pt x="3699" y="50310"/>
                    <a:pt x="3100" y="47754"/>
                    <a:pt x="3862" y="45415"/>
                  </a:cubicBezTo>
                  <a:cubicBezTo>
                    <a:pt x="4623" y="43077"/>
                    <a:pt x="6608" y="41363"/>
                    <a:pt x="9056" y="40983"/>
                  </a:cubicBezTo>
                  <a:lnTo>
                    <a:pt x="52540" y="34075"/>
                  </a:lnTo>
                  <a:lnTo>
                    <a:pt x="72556" y="-5140"/>
                  </a:lnTo>
                  <a:cubicBezTo>
                    <a:pt x="73671" y="-7315"/>
                    <a:pt x="75928" y="-8702"/>
                    <a:pt x="78376" y="-8702"/>
                  </a:cubicBezTo>
                  <a:cubicBezTo>
                    <a:pt x="80823" y="-8702"/>
                    <a:pt x="83080" y="-7315"/>
                    <a:pt x="84195" y="-5140"/>
                  </a:cubicBezTo>
                  <a:lnTo>
                    <a:pt x="104156" y="34075"/>
                  </a:lnTo>
                  <a:lnTo>
                    <a:pt x="147641" y="40983"/>
                  </a:lnTo>
                  <a:cubicBezTo>
                    <a:pt x="150061" y="41363"/>
                    <a:pt x="152074" y="43077"/>
                    <a:pt x="152835" y="45415"/>
                  </a:cubicBezTo>
                  <a:cubicBezTo>
                    <a:pt x="153597" y="47754"/>
                    <a:pt x="152971" y="50310"/>
                    <a:pt x="151258" y="52051"/>
                  </a:cubicBezTo>
                  <a:lnTo>
                    <a:pt x="120120" y="83189"/>
                  </a:lnTo>
                  <a:lnTo>
                    <a:pt x="127000" y="126674"/>
                  </a:lnTo>
                  <a:cubicBezTo>
                    <a:pt x="127381" y="129094"/>
                    <a:pt x="126375" y="131542"/>
                    <a:pt x="124389" y="13298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21"/>
            <p:cNvSpPr/>
            <p:nvPr/>
          </p:nvSpPr>
          <p:spPr>
            <a:xfrm>
              <a:off x="8704531" y="3689799"/>
              <a:ext cx="2158184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Reviews</a:t>
              </a:r>
              <a:endParaRPr b="0" i="0" sz="1600" u="none" cap="none" strike="noStrike"/>
            </a:p>
          </p:txBody>
        </p:sp>
        <p:sp>
          <p:nvSpPr>
            <p:cNvPr id="479" name="Google Shape;479;p21"/>
            <p:cNvSpPr/>
            <p:nvPr/>
          </p:nvSpPr>
          <p:spPr>
            <a:xfrm>
              <a:off x="8704531" y="3933465"/>
              <a:ext cx="214077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review_id | FKs: product_id, user_id</a:t>
              </a:r>
              <a:endParaRPr b="0" i="0" sz="1600" u="none" cap="none" strike="noStrike"/>
            </a:p>
          </p:txBody>
        </p:sp>
        <p:sp>
          <p:nvSpPr>
            <p:cNvPr id="480" name="Google Shape;480;p21"/>
            <p:cNvSpPr/>
            <p:nvPr/>
          </p:nvSpPr>
          <p:spPr>
            <a:xfrm>
              <a:off x="8252009" y="4211940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rating (1-5)</a:t>
              </a:r>
              <a:endParaRPr b="0" i="0" sz="1600" u="none" cap="none" strike="noStrike"/>
            </a:p>
          </p:txBody>
        </p:sp>
        <p:sp>
          <p:nvSpPr>
            <p:cNvPr id="481" name="Google Shape;481;p21"/>
            <p:cNvSpPr/>
            <p:nvPr/>
          </p:nvSpPr>
          <p:spPr>
            <a:xfrm>
              <a:off x="8252009" y="4420797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title, body (TEXT)</a:t>
              </a:r>
              <a:endParaRPr b="0" i="0" sz="1600" u="none" cap="none" strike="noStrike"/>
            </a:p>
          </p:txBody>
        </p:sp>
        <p:sp>
          <p:nvSpPr>
            <p:cNvPr id="482" name="Google Shape;482;p21"/>
            <p:cNvSpPr/>
            <p:nvPr/>
          </p:nvSpPr>
          <p:spPr>
            <a:xfrm>
              <a:off x="8252009" y="4629653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UNIQUE (product_id, user_id)</a:t>
              </a:r>
              <a:endParaRPr b="0" i="0" sz="1600" u="none" cap="none" strike="noStrike"/>
            </a:p>
          </p:txBody>
        </p:sp>
        <p:sp>
          <p:nvSpPr>
            <p:cNvPr id="483" name="Google Shape;483;p21"/>
            <p:cNvSpPr/>
            <p:nvPr/>
          </p:nvSpPr>
          <p:spPr>
            <a:xfrm>
              <a:off x="8252009" y="4838510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• One review per product/user</a:t>
              </a:r>
              <a:endParaRPr b="0" i="0" sz="1600" u="none" cap="none" strike="noStrike"/>
            </a:p>
          </p:txBody>
        </p:sp>
        <p:sp>
          <p:nvSpPr>
            <p:cNvPr id="484" name="Google Shape;484;p21"/>
            <p:cNvSpPr/>
            <p:nvPr/>
          </p:nvSpPr>
          <p:spPr>
            <a:xfrm>
              <a:off x="8252009" y="5121336"/>
              <a:ext cx="3446133" cy="8702"/>
            </a:xfrm>
            <a:custGeom>
              <a:rect b="b" l="l" r="r" t="t"/>
              <a:pathLst>
                <a:path extrusionOk="0" h="8702" w="3446133">
                  <a:moveTo>
                    <a:pt x="0" y="0"/>
                  </a:moveTo>
                  <a:lnTo>
                    <a:pt x="3446133" y="0"/>
                  </a:lnTo>
                  <a:lnTo>
                    <a:pt x="3446133" y="8702"/>
                  </a:lnTo>
                  <a:lnTo>
                    <a:pt x="0" y="87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>
                <a:alpha val="30196"/>
              </a:srgbClr>
            </a:solidFill>
            <a:ln>
              <a:noFill/>
            </a:ln>
          </p:spPr>
        </p:sp>
        <p:sp>
          <p:nvSpPr>
            <p:cNvPr id="485" name="Google Shape;485;p21"/>
            <p:cNvSpPr/>
            <p:nvPr/>
          </p:nvSpPr>
          <p:spPr>
            <a:xfrm>
              <a:off x="8252009" y="5230116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Relationship:</a:t>
              </a: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M:N between Users &amp; Products</a:t>
              </a:r>
              <a:endParaRPr b="0" i="0" sz="1600" u="none" cap="none" strike="noStrike"/>
            </a:p>
          </p:txBody>
        </p:sp>
      </p:grpSp>
      <p:grpSp>
        <p:nvGrpSpPr>
          <p:cNvPr id="486" name="Google Shape;486;p21"/>
          <p:cNvGrpSpPr/>
          <p:nvPr/>
        </p:nvGrpSpPr>
        <p:grpSpPr>
          <a:xfrm>
            <a:off x="352445" y="5382405"/>
            <a:ext cx="3733310" cy="1157413"/>
            <a:chOff x="352445" y="5695692"/>
            <a:chExt cx="3733310" cy="1157413"/>
          </a:xfrm>
        </p:grpSpPr>
        <p:sp>
          <p:nvSpPr>
            <p:cNvPr id="487" name="Google Shape;487;p21"/>
            <p:cNvSpPr/>
            <p:nvPr/>
          </p:nvSpPr>
          <p:spPr>
            <a:xfrm>
              <a:off x="352445" y="5695692"/>
              <a:ext cx="3733310" cy="1157413"/>
            </a:xfrm>
            <a:custGeom>
              <a:rect b="b" l="l" r="r" t="t"/>
              <a:pathLst>
                <a:path extrusionOk="0" h="1157413" w="3733310">
                  <a:moveTo>
                    <a:pt x="69618" y="0"/>
                  </a:moveTo>
                  <a:lnTo>
                    <a:pt x="3663692" y="0"/>
                  </a:lnTo>
                  <a:cubicBezTo>
                    <a:pt x="3702141" y="0"/>
                    <a:pt x="3733310" y="31169"/>
                    <a:pt x="3733310" y="69618"/>
                  </a:cubicBezTo>
                  <a:lnTo>
                    <a:pt x="3733310" y="1087795"/>
                  </a:lnTo>
                  <a:cubicBezTo>
                    <a:pt x="3733310" y="1126244"/>
                    <a:pt x="3702141" y="1157413"/>
                    <a:pt x="3663692" y="1157413"/>
                  </a:cubicBezTo>
                  <a:lnTo>
                    <a:pt x="69618" y="1157413"/>
                  </a:lnTo>
                  <a:cubicBezTo>
                    <a:pt x="31169" y="1157413"/>
                    <a:pt x="0" y="1126244"/>
                    <a:pt x="0" y="1087795"/>
                  </a:cubicBezTo>
                  <a:lnTo>
                    <a:pt x="0" y="69618"/>
                  </a:lnTo>
                  <a:cubicBezTo>
                    <a:pt x="0" y="31195"/>
                    <a:pt x="31195" y="0"/>
                    <a:pt x="69618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21"/>
            <p:cNvSpPr/>
            <p:nvPr/>
          </p:nvSpPr>
          <p:spPr>
            <a:xfrm>
              <a:off x="496034" y="5874090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1"/>
            <p:cNvSpPr/>
            <p:nvPr/>
          </p:nvSpPr>
          <p:spPr>
            <a:xfrm>
              <a:off x="600463" y="5978518"/>
              <a:ext cx="139238" cy="139238"/>
            </a:xfrm>
            <a:custGeom>
              <a:rect b="b" l="l" r="r" t="t"/>
              <a:pathLst>
                <a:path extrusionOk="0" h="139238" w="139238">
                  <a:moveTo>
                    <a:pt x="65540" y="23687"/>
                  </a:moveTo>
                  <a:lnTo>
                    <a:pt x="69619" y="29316"/>
                  </a:lnTo>
                  <a:lnTo>
                    <a:pt x="73698" y="23687"/>
                  </a:lnTo>
                  <a:cubicBezTo>
                    <a:pt x="80497" y="14277"/>
                    <a:pt x="91429" y="8702"/>
                    <a:pt x="103041" y="8702"/>
                  </a:cubicBezTo>
                  <a:cubicBezTo>
                    <a:pt x="123030" y="8702"/>
                    <a:pt x="139238" y="24910"/>
                    <a:pt x="139238" y="44899"/>
                  </a:cubicBezTo>
                  <a:lnTo>
                    <a:pt x="139238" y="45606"/>
                  </a:lnTo>
                  <a:cubicBezTo>
                    <a:pt x="139238" y="76118"/>
                    <a:pt x="101192" y="111553"/>
                    <a:pt x="81340" y="126701"/>
                  </a:cubicBezTo>
                  <a:cubicBezTo>
                    <a:pt x="77968" y="129257"/>
                    <a:pt x="73834" y="130535"/>
                    <a:pt x="69619" y="130535"/>
                  </a:cubicBezTo>
                  <a:cubicBezTo>
                    <a:pt x="65404" y="130535"/>
                    <a:pt x="61243" y="129284"/>
                    <a:pt x="57898" y="126701"/>
                  </a:cubicBezTo>
                  <a:cubicBezTo>
                    <a:pt x="38046" y="111553"/>
                    <a:pt x="0" y="76118"/>
                    <a:pt x="0" y="45606"/>
                  </a:cubicBezTo>
                  <a:lnTo>
                    <a:pt x="0" y="44899"/>
                  </a:lnTo>
                  <a:cubicBezTo>
                    <a:pt x="0" y="24910"/>
                    <a:pt x="16208" y="8702"/>
                    <a:pt x="36196" y="8702"/>
                  </a:cubicBezTo>
                  <a:cubicBezTo>
                    <a:pt x="47809" y="8702"/>
                    <a:pt x="58741" y="14277"/>
                    <a:pt x="65540" y="2368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1"/>
            <p:cNvSpPr/>
            <p:nvPr/>
          </p:nvSpPr>
          <p:spPr>
            <a:xfrm>
              <a:off x="948557" y="5839281"/>
              <a:ext cx="844128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Wishlist</a:t>
              </a:r>
              <a:endParaRPr b="0" i="0" sz="1600" u="none" cap="none" strike="noStrike"/>
            </a:p>
          </p:txBody>
        </p:sp>
        <p:sp>
          <p:nvSpPr>
            <p:cNvPr id="491" name="Google Shape;491;p21"/>
            <p:cNvSpPr/>
            <p:nvPr/>
          </p:nvSpPr>
          <p:spPr>
            <a:xfrm>
              <a:off x="948557" y="6082946"/>
              <a:ext cx="826724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wishlist_id</a:t>
              </a:r>
              <a:endParaRPr b="0" i="0" sz="1600" u="none" cap="none" strike="noStrike"/>
            </a:p>
          </p:txBody>
        </p:sp>
        <p:sp>
          <p:nvSpPr>
            <p:cNvPr id="492" name="Google Shape;492;p21"/>
            <p:cNvSpPr/>
            <p:nvPr/>
          </p:nvSpPr>
          <p:spPr>
            <a:xfrm>
              <a:off x="496034" y="6361422"/>
              <a:ext cx="3507049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FKs: user_id, product_id | UNIQUE (user_id, product_id)</a:t>
              </a:r>
              <a:endParaRPr b="0" i="0" sz="1600" u="none" cap="none" strike="noStrike"/>
            </a:p>
          </p:txBody>
        </p:sp>
      </p:grpSp>
      <p:grpSp>
        <p:nvGrpSpPr>
          <p:cNvPr id="493" name="Google Shape;493;p21"/>
          <p:cNvGrpSpPr/>
          <p:nvPr/>
        </p:nvGrpSpPr>
        <p:grpSpPr>
          <a:xfrm>
            <a:off x="4230433" y="5382405"/>
            <a:ext cx="3733310" cy="1157413"/>
            <a:chOff x="4230433" y="5695692"/>
            <a:chExt cx="3733310" cy="1157413"/>
          </a:xfrm>
        </p:grpSpPr>
        <p:sp>
          <p:nvSpPr>
            <p:cNvPr id="494" name="Google Shape;494;p21"/>
            <p:cNvSpPr/>
            <p:nvPr/>
          </p:nvSpPr>
          <p:spPr>
            <a:xfrm>
              <a:off x="4230433" y="5695692"/>
              <a:ext cx="3733310" cy="1157413"/>
            </a:xfrm>
            <a:custGeom>
              <a:rect b="b" l="l" r="r" t="t"/>
              <a:pathLst>
                <a:path extrusionOk="0" h="1157413" w="3733310">
                  <a:moveTo>
                    <a:pt x="69618" y="0"/>
                  </a:moveTo>
                  <a:lnTo>
                    <a:pt x="3663692" y="0"/>
                  </a:lnTo>
                  <a:cubicBezTo>
                    <a:pt x="3702141" y="0"/>
                    <a:pt x="3733310" y="31169"/>
                    <a:pt x="3733310" y="69618"/>
                  </a:cubicBezTo>
                  <a:lnTo>
                    <a:pt x="3733310" y="1087795"/>
                  </a:lnTo>
                  <a:cubicBezTo>
                    <a:pt x="3733310" y="1126244"/>
                    <a:pt x="3702141" y="1157413"/>
                    <a:pt x="3663692" y="1157413"/>
                  </a:cubicBezTo>
                  <a:lnTo>
                    <a:pt x="69618" y="1157413"/>
                  </a:lnTo>
                  <a:cubicBezTo>
                    <a:pt x="31169" y="1157413"/>
                    <a:pt x="0" y="1126244"/>
                    <a:pt x="0" y="1087795"/>
                  </a:cubicBezTo>
                  <a:lnTo>
                    <a:pt x="0" y="69618"/>
                  </a:lnTo>
                  <a:cubicBezTo>
                    <a:pt x="0" y="31195"/>
                    <a:pt x="31195" y="0"/>
                    <a:pt x="69618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21"/>
            <p:cNvSpPr/>
            <p:nvPr/>
          </p:nvSpPr>
          <p:spPr>
            <a:xfrm>
              <a:off x="4374021" y="5874090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21"/>
            <p:cNvSpPr/>
            <p:nvPr/>
          </p:nvSpPr>
          <p:spPr>
            <a:xfrm>
              <a:off x="4469747" y="5978518"/>
              <a:ext cx="156642" cy="139238"/>
            </a:xfrm>
            <a:custGeom>
              <a:rect b="b" l="l" r="r" t="t"/>
              <a:pathLst>
                <a:path extrusionOk="0" h="139238" w="156642">
                  <a:moveTo>
                    <a:pt x="0" y="34809"/>
                  </a:moveTo>
                  <a:cubicBezTo>
                    <a:pt x="0" y="25210"/>
                    <a:pt x="7805" y="17405"/>
                    <a:pt x="17405" y="17405"/>
                  </a:cubicBezTo>
                  <a:lnTo>
                    <a:pt x="139238" y="17405"/>
                  </a:lnTo>
                  <a:cubicBezTo>
                    <a:pt x="148837" y="17405"/>
                    <a:pt x="156642" y="25210"/>
                    <a:pt x="156642" y="34809"/>
                  </a:cubicBezTo>
                  <a:lnTo>
                    <a:pt x="156642" y="52214"/>
                  </a:lnTo>
                  <a:cubicBezTo>
                    <a:pt x="156642" y="54607"/>
                    <a:pt x="154630" y="56484"/>
                    <a:pt x="152373" y="57272"/>
                  </a:cubicBezTo>
                  <a:cubicBezTo>
                    <a:pt x="147260" y="59040"/>
                    <a:pt x="143589" y="63908"/>
                    <a:pt x="143589" y="69619"/>
                  </a:cubicBezTo>
                  <a:cubicBezTo>
                    <a:pt x="143589" y="75330"/>
                    <a:pt x="147260" y="80198"/>
                    <a:pt x="152373" y="81965"/>
                  </a:cubicBezTo>
                  <a:cubicBezTo>
                    <a:pt x="154630" y="82754"/>
                    <a:pt x="156642" y="84630"/>
                    <a:pt x="156642" y="87024"/>
                  </a:cubicBezTo>
                  <a:lnTo>
                    <a:pt x="156642" y="104428"/>
                  </a:lnTo>
                  <a:cubicBezTo>
                    <a:pt x="156642" y="114028"/>
                    <a:pt x="148837" y="121833"/>
                    <a:pt x="139238" y="121833"/>
                  </a:cubicBezTo>
                  <a:lnTo>
                    <a:pt x="17405" y="121833"/>
                  </a:lnTo>
                  <a:cubicBezTo>
                    <a:pt x="7805" y="121833"/>
                    <a:pt x="0" y="114028"/>
                    <a:pt x="0" y="104428"/>
                  </a:cubicBezTo>
                  <a:lnTo>
                    <a:pt x="0" y="87024"/>
                  </a:lnTo>
                  <a:cubicBezTo>
                    <a:pt x="0" y="84630"/>
                    <a:pt x="2012" y="82754"/>
                    <a:pt x="4270" y="81965"/>
                  </a:cubicBezTo>
                  <a:cubicBezTo>
                    <a:pt x="9382" y="80198"/>
                    <a:pt x="13054" y="75330"/>
                    <a:pt x="13054" y="69619"/>
                  </a:cubicBezTo>
                  <a:cubicBezTo>
                    <a:pt x="13054" y="63908"/>
                    <a:pt x="9382" y="59040"/>
                    <a:pt x="4270" y="57272"/>
                  </a:cubicBezTo>
                  <a:cubicBezTo>
                    <a:pt x="2012" y="56484"/>
                    <a:pt x="0" y="54607"/>
                    <a:pt x="0" y="52214"/>
                  </a:cubicBezTo>
                  <a:lnTo>
                    <a:pt x="0" y="3480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1"/>
            <p:cNvSpPr/>
            <p:nvPr/>
          </p:nvSpPr>
          <p:spPr>
            <a:xfrm>
              <a:off x="4826544" y="5839281"/>
              <a:ext cx="844128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Coupons</a:t>
              </a:r>
              <a:endParaRPr b="0" i="0" sz="1600" u="none" cap="none" strike="noStrike"/>
            </a:p>
          </p:txBody>
        </p:sp>
        <p:sp>
          <p:nvSpPr>
            <p:cNvPr id="498" name="Google Shape;498;p21"/>
            <p:cNvSpPr/>
            <p:nvPr/>
          </p:nvSpPr>
          <p:spPr>
            <a:xfrm>
              <a:off x="4826544" y="6082946"/>
              <a:ext cx="826724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coupon_id</a:t>
              </a:r>
              <a:endParaRPr b="0" i="0" sz="1600" u="none" cap="none" strike="noStrike"/>
            </a:p>
          </p:txBody>
        </p:sp>
        <p:sp>
          <p:nvSpPr>
            <p:cNvPr id="499" name="Google Shape;499;p21"/>
            <p:cNvSpPr/>
            <p:nvPr/>
          </p:nvSpPr>
          <p:spPr>
            <a:xfrm>
              <a:off x="4374021" y="6361422"/>
              <a:ext cx="3507049" cy="348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code (UK), discount_type, discount_value, min_order_amt, max_uses, uses_count, expires_at</a:t>
              </a:r>
              <a:endParaRPr b="0" i="0" sz="1600" u="none" cap="none" strike="noStrike"/>
            </a:p>
          </p:txBody>
        </p:sp>
      </p:grpSp>
      <p:grpSp>
        <p:nvGrpSpPr>
          <p:cNvPr id="500" name="Google Shape;500;p21"/>
          <p:cNvGrpSpPr/>
          <p:nvPr/>
        </p:nvGrpSpPr>
        <p:grpSpPr>
          <a:xfrm>
            <a:off x="8108420" y="5382405"/>
            <a:ext cx="3733310" cy="1157413"/>
            <a:chOff x="8108420" y="5695692"/>
            <a:chExt cx="3733310" cy="1157413"/>
          </a:xfrm>
        </p:grpSpPr>
        <p:sp>
          <p:nvSpPr>
            <p:cNvPr id="501" name="Google Shape;501;p21"/>
            <p:cNvSpPr/>
            <p:nvPr/>
          </p:nvSpPr>
          <p:spPr>
            <a:xfrm>
              <a:off x="8108420" y="5695692"/>
              <a:ext cx="3733310" cy="1157413"/>
            </a:xfrm>
            <a:custGeom>
              <a:rect b="b" l="l" r="r" t="t"/>
              <a:pathLst>
                <a:path extrusionOk="0" h="1157413" w="3733310">
                  <a:moveTo>
                    <a:pt x="69618" y="0"/>
                  </a:moveTo>
                  <a:lnTo>
                    <a:pt x="3663692" y="0"/>
                  </a:lnTo>
                  <a:cubicBezTo>
                    <a:pt x="3702141" y="0"/>
                    <a:pt x="3733310" y="31169"/>
                    <a:pt x="3733310" y="69618"/>
                  </a:cubicBezTo>
                  <a:lnTo>
                    <a:pt x="3733310" y="1087795"/>
                  </a:lnTo>
                  <a:cubicBezTo>
                    <a:pt x="3733310" y="1126244"/>
                    <a:pt x="3702141" y="1157413"/>
                    <a:pt x="3663692" y="1157413"/>
                  </a:cubicBezTo>
                  <a:lnTo>
                    <a:pt x="69618" y="1157413"/>
                  </a:lnTo>
                  <a:cubicBezTo>
                    <a:pt x="31169" y="1157413"/>
                    <a:pt x="0" y="1126244"/>
                    <a:pt x="0" y="1087795"/>
                  </a:cubicBezTo>
                  <a:lnTo>
                    <a:pt x="0" y="69618"/>
                  </a:lnTo>
                  <a:cubicBezTo>
                    <a:pt x="0" y="31195"/>
                    <a:pt x="31195" y="0"/>
                    <a:pt x="69618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8252009" y="5874090"/>
              <a:ext cx="348094" cy="348094"/>
            </a:xfrm>
            <a:custGeom>
              <a:rect b="b" l="l" r="r" t="t"/>
              <a:pathLst>
                <a:path extrusionOk="0" h="348094" w="348094">
                  <a:moveTo>
                    <a:pt x="69619" y="0"/>
                  </a:moveTo>
                  <a:lnTo>
                    <a:pt x="278475" y="0"/>
                  </a:lnTo>
                  <a:cubicBezTo>
                    <a:pt x="316899" y="0"/>
                    <a:pt x="348094" y="31195"/>
                    <a:pt x="348094" y="69619"/>
                  </a:cubicBezTo>
                  <a:lnTo>
                    <a:pt x="348094" y="278475"/>
                  </a:lnTo>
                  <a:cubicBezTo>
                    <a:pt x="348094" y="316925"/>
                    <a:pt x="316925" y="348094"/>
                    <a:pt x="278475" y="348094"/>
                  </a:cubicBezTo>
                  <a:lnTo>
                    <a:pt x="69619" y="348094"/>
                  </a:lnTo>
                  <a:cubicBezTo>
                    <a:pt x="31195" y="348094"/>
                    <a:pt x="0" y="316899"/>
                    <a:pt x="0" y="278475"/>
                  </a:cubicBezTo>
                  <a:lnTo>
                    <a:pt x="0" y="69619"/>
                  </a:lnTo>
                  <a:cubicBezTo>
                    <a:pt x="0" y="31169"/>
                    <a:pt x="31169" y="0"/>
                    <a:pt x="69619" y="0"/>
                  </a:cubicBez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8373842" y="5978518"/>
              <a:ext cx="104428" cy="139238"/>
            </a:xfrm>
            <a:custGeom>
              <a:rect b="b" l="l" r="r" t="t"/>
              <a:pathLst>
                <a:path extrusionOk="0" h="139238" w="104428">
                  <a:moveTo>
                    <a:pt x="3807" y="598"/>
                  </a:moveTo>
                  <a:cubicBezTo>
                    <a:pt x="6119" y="-462"/>
                    <a:pt x="8838" y="-82"/>
                    <a:pt x="10769" y="1577"/>
                  </a:cubicBezTo>
                  <a:lnTo>
                    <a:pt x="21756" y="10987"/>
                  </a:lnTo>
                  <a:lnTo>
                    <a:pt x="32743" y="1577"/>
                  </a:lnTo>
                  <a:cubicBezTo>
                    <a:pt x="35190" y="-517"/>
                    <a:pt x="38807" y="-517"/>
                    <a:pt x="41227" y="1577"/>
                  </a:cubicBezTo>
                  <a:lnTo>
                    <a:pt x="52214" y="10987"/>
                  </a:lnTo>
                  <a:lnTo>
                    <a:pt x="63201" y="1577"/>
                  </a:lnTo>
                  <a:cubicBezTo>
                    <a:pt x="65648" y="-517"/>
                    <a:pt x="69238" y="-517"/>
                    <a:pt x="71686" y="1577"/>
                  </a:cubicBezTo>
                  <a:lnTo>
                    <a:pt x="82672" y="10987"/>
                  </a:lnTo>
                  <a:lnTo>
                    <a:pt x="93659" y="1577"/>
                  </a:lnTo>
                  <a:cubicBezTo>
                    <a:pt x="95590" y="-82"/>
                    <a:pt x="98309" y="-462"/>
                    <a:pt x="100621" y="598"/>
                  </a:cubicBezTo>
                  <a:cubicBezTo>
                    <a:pt x="102933" y="1659"/>
                    <a:pt x="104428" y="3970"/>
                    <a:pt x="104428" y="6527"/>
                  </a:cubicBezTo>
                  <a:lnTo>
                    <a:pt x="104428" y="132711"/>
                  </a:lnTo>
                  <a:cubicBezTo>
                    <a:pt x="104428" y="135267"/>
                    <a:pt x="102933" y="137579"/>
                    <a:pt x="100621" y="138639"/>
                  </a:cubicBezTo>
                  <a:cubicBezTo>
                    <a:pt x="98309" y="139700"/>
                    <a:pt x="95590" y="139319"/>
                    <a:pt x="93659" y="137660"/>
                  </a:cubicBezTo>
                  <a:lnTo>
                    <a:pt x="82672" y="128251"/>
                  </a:lnTo>
                  <a:lnTo>
                    <a:pt x="71686" y="137660"/>
                  </a:lnTo>
                  <a:cubicBezTo>
                    <a:pt x="69238" y="139754"/>
                    <a:pt x="65648" y="139754"/>
                    <a:pt x="63201" y="137660"/>
                  </a:cubicBezTo>
                  <a:lnTo>
                    <a:pt x="52214" y="128251"/>
                  </a:lnTo>
                  <a:lnTo>
                    <a:pt x="41227" y="137660"/>
                  </a:lnTo>
                  <a:cubicBezTo>
                    <a:pt x="38780" y="139754"/>
                    <a:pt x="35163" y="139754"/>
                    <a:pt x="32743" y="137660"/>
                  </a:cubicBezTo>
                  <a:lnTo>
                    <a:pt x="21756" y="128251"/>
                  </a:lnTo>
                  <a:lnTo>
                    <a:pt x="10769" y="137660"/>
                  </a:lnTo>
                  <a:cubicBezTo>
                    <a:pt x="8838" y="139319"/>
                    <a:pt x="6119" y="139700"/>
                    <a:pt x="3807" y="138639"/>
                  </a:cubicBezTo>
                  <a:cubicBezTo>
                    <a:pt x="1496" y="137579"/>
                    <a:pt x="0" y="135267"/>
                    <a:pt x="0" y="132711"/>
                  </a:cubicBezTo>
                  <a:lnTo>
                    <a:pt x="0" y="6527"/>
                  </a:lnTo>
                  <a:cubicBezTo>
                    <a:pt x="0" y="3970"/>
                    <a:pt x="1496" y="1659"/>
                    <a:pt x="3807" y="598"/>
                  </a:cubicBezTo>
                  <a:close/>
                  <a:moveTo>
                    <a:pt x="28283" y="36985"/>
                  </a:moveTo>
                  <a:cubicBezTo>
                    <a:pt x="24666" y="36985"/>
                    <a:pt x="21756" y="39895"/>
                    <a:pt x="21756" y="43512"/>
                  </a:cubicBezTo>
                  <a:cubicBezTo>
                    <a:pt x="21756" y="47129"/>
                    <a:pt x="24666" y="50039"/>
                    <a:pt x="28283" y="50039"/>
                  </a:cubicBezTo>
                  <a:lnTo>
                    <a:pt x="76146" y="50039"/>
                  </a:lnTo>
                  <a:cubicBezTo>
                    <a:pt x="79763" y="50039"/>
                    <a:pt x="82672" y="47129"/>
                    <a:pt x="82672" y="43512"/>
                  </a:cubicBezTo>
                  <a:cubicBezTo>
                    <a:pt x="82672" y="39895"/>
                    <a:pt x="79763" y="36985"/>
                    <a:pt x="76146" y="36985"/>
                  </a:cubicBezTo>
                  <a:lnTo>
                    <a:pt x="28283" y="36985"/>
                  </a:lnTo>
                  <a:close/>
                  <a:moveTo>
                    <a:pt x="21756" y="95726"/>
                  </a:moveTo>
                  <a:cubicBezTo>
                    <a:pt x="21756" y="99343"/>
                    <a:pt x="24666" y="102253"/>
                    <a:pt x="28283" y="102253"/>
                  </a:cubicBezTo>
                  <a:lnTo>
                    <a:pt x="76146" y="102253"/>
                  </a:lnTo>
                  <a:cubicBezTo>
                    <a:pt x="79763" y="102253"/>
                    <a:pt x="82672" y="99343"/>
                    <a:pt x="82672" y="95726"/>
                  </a:cubicBezTo>
                  <a:cubicBezTo>
                    <a:pt x="82672" y="92109"/>
                    <a:pt x="79763" y="89199"/>
                    <a:pt x="76146" y="89199"/>
                  </a:cubicBezTo>
                  <a:lnTo>
                    <a:pt x="28283" y="89199"/>
                  </a:lnTo>
                  <a:cubicBezTo>
                    <a:pt x="24666" y="89199"/>
                    <a:pt x="21756" y="92109"/>
                    <a:pt x="21756" y="95726"/>
                  </a:cubicBezTo>
                  <a:close/>
                  <a:moveTo>
                    <a:pt x="28283" y="63092"/>
                  </a:moveTo>
                  <a:cubicBezTo>
                    <a:pt x="24666" y="63092"/>
                    <a:pt x="21756" y="66002"/>
                    <a:pt x="21756" y="69619"/>
                  </a:cubicBezTo>
                  <a:cubicBezTo>
                    <a:pt x="21756" y="73236"/>
                    <a:pt x="24666" y="76146"/>
                    <a:pt x="28283" y="76146"/>
                  </a:cubicBezTo>
                  <a:lnTo>
                    <a:pt x="76146" y="76146"/>
                  </a:lnTo>
                  <a:cubicBezTo>
                    <a:pt x="79763" y="76146"/>
                    <a:pt x="82672" y="73236"/>
                    <a:pt x="82672" y="69619"/>
                  </a:cubicBezTo>
                  <a:cubicBezTo>
                    <a:pt x="82672" y="66002"/>
                    <a:pt x="79763" y="63092"/>
                    <a:pt x="76146" y="63092"/>
                  </a:cubicBezTo>
                  <a:lnTo>
                    <a:pt x="28283" y="630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8704531" y="5839281"/>
              <a:ext cx="1140009" cy="243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3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Coupon_Usage</a:t>
              </a:r>
              <a:endParaRPr b="0" i="0" sz="1600" u="none" cap="none" strike="noStrike"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8704531" y="6082946"/>
              <a:ext cx="1122604" cy="174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usage_id</a:t>
              </a:r>
              <a:endParaRPr b="0" i="0" sz="1600" u="none" cap="none" strike="noStrike"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8252009" y="6361422"/>
              <a:ext cx="3507049" cy="3480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5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FKs: coupon_id, user_id | UNIQUE (coupon_id, user_id) | Tracks per-user usage</a:t>
              </a:r>
              <a:endParaRPr b="0" i="0" sz="1600" u="none" cap="none" strike="noStrike"/>
            </a:p>
          </p:txBody>
        </p:sp>
      </p:grp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thumbs.dreamstime.com/83ebf5a43e128a36721e1b9f91086d2165493012.jpg" id="512" name="Google Shape;512;p22"/>
          <p:cNvPicPr preferRelativeResize="0"/>
          <p:nvPr/>
        </p:nvPicPr>
        <p:blipFill rotWithShape="1">
          <a:blip r:embed="rId3">
            <a:alphaModFix amt="20000"/>
          </a:blip>
          <a:srcRect b="0" l="110" r="11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13" name="Google Shape;513;p22"/>
          <p:cNvSpPr/>
          <p:nvPr/>
        </p:nvSpPr>
        <p:spPr>
          <a:xfrm>
            <a:off x="-30" y="4775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8039"/>
                </a:srgbClr>
              </a:gs>
              <a:gs pos="50000">
                <a:srgbClr val="1A1D21">
                  <a:alpha val="94901"/>
                </a:srgbClr>
              </a:gs>
              <a:gs pos="100000">
                <a:srgbClr val="1A1D21">
                  <a:alpha val="90196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514" name="Google Shape;514;p22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Data Model Visualization</a:t>
            </a:r>
            <a:endParaRPr b="0" i="0" sz="1600" u="none" cap="none" strike="noStrike"/>
          </a:p>
        </p:txBody>
      </p:sp>
      <p:sp>
        <p:nvSpPr>
          <p:cNvPr id="515" name="Google Shape;515;p2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Complete ER Diagram</a:t>
            </a:r>
            <a:endParaRPr b="0" i="0" sz="1600" u="none" cap="none" strike="noStrike"/>
          </a:p>
        </p:txBody>
      </p:sp>
      <p:sp>
        <p:nvSpPr>
          <p:cNvPr id="516" name="Google Shape;516;p22"/>
          <p:cNvSpPr/>
          <p:nvPr/>
        </p:nvSpPr>
        <p:spPr>
          <a:xfrm>
            <a:off x="381000" y="1295400"/>
            <a:ext cx="914400" cy="38100"/>
          </a:xfrm>
          <a:custGeom>
            <a:rect b="b" l="l" r="r" t="t"/>
            <a:pathLst>
              <a:path extrusionOk="0" h="38100" w="9144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517" name="Google Shape;517;p22"/>
          <p:cNvSpPr/>
          <p:nvPr/>
        </p:nvSpPr>
        <p:spPr>
          <a:xfrm>
            <a:off x="385750" y="1507325"/>
            <a:ext cx="11420475" cy="4807220"/>
          </a:xfrm>
          <a:custGeom>
            <a:rect b="b" l="l" r="r" t="t"/>
            <a:pathLst>
              <a:path extrusionOk="0" h="4981575" w="11420475">
                <a:moveTo>
                  <a:pt x="76218" y="0"/>
                </a:moveTo>
                <a:lnTo>
                  <a:pt x="11344257" y="0"/>
                </a:lnTo>
                <a:cubicBezTo>
                  <a:pt x="11386351" y="0"/>
                  <a:pt x="11420475" y="34124"/>
                  <a:pt x="11420475" y="76218"/>
                </a:cubicBezTo>
                <a:lnTo>
                  <a:pt x="11420475" y="4905357"/>
                </a:lnTo>
                <a:cubicBezTo>
                  <a:pt x="11420475" y="4947451"/>
                  <a:pt x="11386351" y="4981575"/>
                  <a:pt x="11344257" y="4981575"/>
                </a:cubicBezTo>
                <a:lnTo>
                  <a:pt x="76218" y="4981575"/>
                </a:lnTo>
                <a:cubicBezTo>
                  <a:pt x="34124" y="4981575"/>
                  <a:pt x="0" y="4947451"/>
                  <a:pt x="0" y="4905357"/>
                </a:cubicBezTo>
                <a:lnTo>
                  <a:pt x="0" y="76218"/>
                </a:lnTo>
                <a:cubicBezTo>
                  <a:pt x="0" y="34152"/>
                  <a:pt x="34152" y="0"/>
                  <a:pt x="76218" y="0"/>
                </a:cubicBezTo>
                <a:close/>
              </a:path>
            </a:pathLst>
          </a:custGeom>
          <a:solidFill>
            <a:srgbClr val="2D3136">
              <a:alpha val="60000"/>
            </a:srgbClr>
          </a:solidFill>
          <a:ln cap="flat" cmpd="sng" w="12700">
            <a:solidFill>
              <a:srgbClr val="4C8B8E">
                <a:alpha val="3019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2"/>
          <p:cNvSpPr/>
          <p:nvPr/>
        </p:nvSpPr>
        <p:spPr>
          <a:xfrm>
            <a:off x="585788" y="1690688"/>
            <a:ext cx="2667000" cy="1104900"/>
          </a:xfrm>
          <a:custGeom>
            <a:rect b="b" l="l" r="r" t="t"/>
            <a:pathLst>
              <a:path extrusionOk="0" h="1104900" w="2667000">
                <a:moveTo>
                  <a:pt x="38097" y="0"/>
                </a:moveTo>
                <a:lnTo>
                  <a:pt x="2628903" y="0"/>
                </a:lnTo>
                <a:cubicBezTo>
                  <a:pt x="2649943" y="0"/>
                  <a:pt x="2667000" y="17057"/>
                  <a:pt x="2667000" y="38097"/>
                </a:cubicBezTo>
                <a:lnTo>
                  <a:pt x="2667000" y="1066803"/>
                </a:lnTo>
                <a:cubicBezTo>
                  <a:pt x="2667000" y="1087843"/>
                  <a:pt x="2649943" y="1104900"/>
                  <a:pt x="2628903" y="1104900"/>
                </a:cubicBezTo>
                <a:lnTo>
                  <a:pt x="38097" y="1104900"/>
                </a:lnTo>
                <a:cubicBezTo>
                  <a:pt x="17057" y="1104900"/>
                  <a:pt x="0" y="1087843"/>
                  <a:pt x="0" y="106680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2"/>
          <p:cNvSpPr/>
          <p:nvPr/>
        </p:nvSpPr>
        <p:spPr>
          <a:xfrm>
            <a:off x="666750" y="20050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20" name="Google Shape;520;p22"/>
          <p:cNvSpPr/>
          <p:nvPr/>
        </p:nvSpPr>
        <p:spPr>
          <a:xfrm>
            <a:off x="666750" y="17716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Users</a:t>
            </a:r>
            <a:endParaRPr b="0" i="0" sz="1600" u="none" cap="none" strike="noStrike"/>
          </a:p>
        </p:txBody>
      </p:sp>
      <p:sp>
        <p:nvSpPr>
          <p:cNvPr id="521" name="Google Shape;521;p22"/>
          <p:cNvSpPr/>
          <p:nvPr/>
        </p:nvSpPr>
        <p:spPr>
          <a:xfrm>
            <a:off x="666750" y="20478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user_id</a:t>
            </a:r>
            <a:endParaRPr b="0" i="0" sz="1600" u="none" cap="none" strike="noStrike"/>
          </a:p>
        </p:txBody>
      </p:sp>
      <p:sp>
        <p:nvSpPr>
          <p:cNvPr id="522" name="Google Shape;522;p22"/>
          <p:cNvSpPr/>
          <p:nvPr/>
        </p:nvSpPr>
        <p:spPr>
          <a:xfrm>
            <a:off x="666750" y="22193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name, email (UK)</a:t>
            </a:r>
            <a:endParaRPr b="0" i="0" sz="1600" u="none" cap="none" strike="noStrike"/>
          </a:p>
        </p:txBody>
      </p:sp>
      <p:sp>
        <p:nvSpPr>
          <p:cNvPr id="523" name="Google Shape;523;p22"/>
          <p:cNvSpPr/>
          <p:nvPr/>
        </p:nvSpPr>
        <p:spPr>
          <a:xfrm>
            <a:off x="666750" y="23907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password, phone</a:t>
            </a:r>
            <a:endParaRPr b="0" i="0" sz="1600" u="none" cap="none" strike="noStrike"/>
          </a:p>
        </p:txBody>
      </p:sp>
      <p:sp>
        <p:nvSpPr>
          <p:cNvPr id="524" name="Google Shape;524;p22"/>
          <p:cNvSpPr/>
          <p:nvPr/>
        </p:nvSpPr>
        <p:spPr>
          <a:xfrm>
            <a:off x="666750" y="25622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role, created_at</a:t>
            </a:r>
            <a:endParaRPr b="0" i="0" sz="1600" u="none" cap="none" strike="noStrike"/>
          </a:p>
        </p:txBody>
      </p:sp>
      <p:sp>
        <p:nvSpPr>
          <p:cNvPr id="525" name="Google Shape;525;p22"/>
          <p:cNvSpPr/>
          <p:nvPr/>
        </p:nvSpPr>
        <p:spPr>
          <a:xfrm>
            <a:off x="585788" y="2881313"/>
            <a:ext cx="2667000" cy="1104900"/>
          </a:xfrm>
          <a:custGeom>
            <a:rect b="b" l="l" r="r" t="t"/>
            <a:pathLst>
              <a:path extrusionOk="0" h="1104900" w="2667000">
                <a:moveTo>
                  <a:pt x="38097" y="0"/>
                </a:moveTo>
                <a:lnTo>
                  <a:pt x="2628903" y="0"/>
                </a:lnTo>
                <a:cubicBezTo>
                  <a:pt x="2649943" y="0"/>
                  <a:pt x="2667000" y="17057"/>
                  <a:pt x="2667000" y="38097"/>
                </a:cubicBezTo>
                <a:lnTo>
                  <a:pt x="2667000" y="1066803"/>
                </a:lnTo>
                <a:cubicBezTo>
                  <a:pt x="2667000" y="1087843"/>
                  <a:pt x="2649943" y="1104900"/>
                  <a:pt x="2628903" y="1104900"/>
                </a:cubicBezTo>
                <a:lnTo>
                  <a:pt x="38097" y="1104900"/>
                </a:lnTo>
                <a:cubicBezTo>
                  <a:pt x="17057" y="1104900"/>
                  <a:pt x="0" y="1087843"/>
                  <a:pt x="0" y="106680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2"/>
          <p:cNvSpPr/>
          <p:nvPr/>
        </p:nvSpPr>
        <p:spPr>
          <a:xfrm>
            <a:off x="666750" y="3195638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27" name="Google Shape;527;p22"/>
          <p:cNvSpPr/>
          <p:nvPr/>
        </p:nvSpPr>
        <p:spPr>
          <a:xfrm>
            <a:off x="666750" y="296227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Addresses</a:t>
            </a:r>
            <a:endParaRPr b="0" i="0" sz="1600" u="none" cap="none" strike="noStrike"/>
          </a:p>
        </p:txBody>
      </p:sp>
      <p:sp>
        <p:nvSpPr>
          <p:cNvPr id="528" name="Google Shape;528;p22"/>
          <p:cNvSpPr/>
          <p:nvPr/>
        </p:nvSpPr>
        <p:spPr>
          <a:xfrm>
            <a:off x="666750" y="32385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address_id</a:t>
            </a:r>
            <a:endParaRPr b="0" i="0" sz="1600" u="none" cap="none" strike="noStrike"/>
          </a:p>
        </p:txBody>
      </p:sp>
      <p:sp>
        <p:nvSpPr>
          <p:cNvPr id="529" name="Google Shape;529;p22"/>
          <p:cNvSpPr/>
          <p:nvPr/>
        </p:nvSpPr>
        <p:spPr>
          <a:xfrm>
            <a:off x="666750" y="34099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user_id</a:t>
            </a:r>
            <a:endParaRPr b="0" i="0" sz="1600" u="none" cap="none" strike="noStrike"/>
          </a:p>
        </p:txBody>
      </p:sp>
      <p:sp>
        <p:nvSpPr>
          <p:cNvPr id="530" name="Google Shape;530;p22"/>
          <p:cNvSpPr/>
          <p:nvPr/>
        </p:nvSpPr>
        <p:spPr>
          <a:xfrm>
            <a:off x="666750" y="35814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label, street, city</a:t>
            </a:r>
            <a:endParaRPr b="0" i="0" sz="1600" u="none" cap="none" strike="noStrike"/>
          </a:p>
        </p:txBody>
      </p:sp>
      <p:sp>
        <p:nvSpPr>
          <p:cNvPr id="531" name="Google Shape;531;p22"/>
          <p:cNvSpPr/>
          <p:nvPr/>
        </p:nvSpPr>
        <p:spPr>
          <a:xfrm>
            <a:off x="666750" y="37528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state, zip, country</a:t>
            </a:r>
            <a:endParaRPr b="0" i="0" sz="1600" u="none" cap="none" strike="noStrike"/>
          </a:p>
        </p:txBody>
      </p:sp>
      <p:sp>
        <p:nvSpPr>
          <p:cNvPr id="532" name="Google Shape;532;p22"/>
          <p:cNvSpPr/>
          <p:nvPr/>
        </p:nvSpPr>
        <p:spPr>
          <a:xfrm>
            <a:off x="585788" y="4071938"/>
            <a:ext cx="2667000" cy="933450"/>
          </a:xfrm>
          <a:custGeom>
            <a:rect b="b" l="l" r="r" t="t"/>
            <a:pathLst>
              <a:path extrusionOk="0" h="933450" w="2667000">
                <a:moveTo>
                  <a:pt x="38103" y="0"/>
                </a:moveTo>
                <a:lnTo>
                  <a:pt x="2628897" y="0"/>
                </a:lnTo>
                <a:cubicBezTo>
                  <a:pt x="2649941" y="0"/>
                  <a:pt x="2667000" y="17059"/>
                  <a:pt x="2667000" y="38103"/>
                </a:cubicBezTo>
                <a:lnTo>
                  <a:pt x="2667000" y="895347"/>
                </a:lnTo>
                <a:cubicBezTo>
                  <a:pt x="2667000" y="916391"/>
                  <a:pt x="2649941" y="933450"/>
                  <a:pt x="2628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22"/>
          <p:cNvSpPr/>
          <p:nvPr/>
        </p:nvSpPr>
        <p:spPr>
          <a:xfrm>
            <a:off x="666750" y="438626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34" name="Google Shape;534;p22"/>
          <p:cNvSpPr/>
          <p:nvPr/>
        </p:nvSpPr>
        <p:spPr>
          <a:xfrm>
            <a:off x="666750" y="415290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Cart</a:t>
            </a:r>
            <a:endParaRPr b="0" i="0" sz="1600" u="none" cap="none" strike="noStrike"/>
          </a:p>
        </p:txBody>
      </p:sp>
      <p:sp>
        <p:nvSpPr>
          <p:cNvPr id="535" name="Google Shape;535;p22"/>
          <p:cNvSpPr/>
          <p:nvPr/>
        </p:nvSpPr>
        <p:spPr>
          <a:xfrm>
            <a:off x="666750" y="44291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cart_id</a:t>
            </a:r>
            <a:endParaRPr b="0" i="0" sz="1600" u="none" cap="none" strike="noStrike"/>
          </a:p>
        </p:txBody>
      </p:sp>
      <p:sp>
        <p:nvSpPr>
          <p:cNvPr id="536" name="Google Shape;536;p22"/>
          <p:cNvSpPr/>
          <p:nvPr/>
        </p:nvSpPr>
        <p:spPr>
          <a:xfrm>
            <a:off x="666750" y="46005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user_id (UQ)</a:t>
            </a:r>
            <a:endParaRPr b="0" i="0" sz="1600" u="none" cap="none" strike="noStrike"/>
          </a:p>
        </p:txBody>
      </p:sp>
      <p:sp>
        <p:nvSpPr>
          <p:cNvPr id="537" name="Google Shape;537;p22"/>
          <p:cNvSpPr/>
          <p:nvPr/>
        </p:nvSpPr>
        <p:spPr>
          <a:xfrm>
            <a:off x="666750" y="47720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created_at</a:t>
            </a:r>
            <a:endParaRPr b="0" i="0" sz="1600" u="none" cap="none" strike="noStrike"/>
          </a:p>
        </p:txBody>
      </p:sp>
      <p:sp>
        <p:nvSpPr>
          <p:cNvPr id="538" name="Google Shape;538;p22"/>
          <p:cNvSpPr/>
          <p:nvPr/>
        </p:nvSpPr>
        <p:spPr>
          <a:xfrm>
            <a:off x="3371850" y="1690688"/>
            <a:ext cx="2667000" cy="933450"/>
          </a:xfrm>
          <a:custGeom>
            <a:rect b="b" l="l" r="r" t="t"/>
            <a:pathLst>
              <a:path extrusionOk="0" h="933450" w="2667000">
                <a:moveTo>
                  <a:pt x="38103" y="0"/>
                </a:moveTo>
                <a:lnTo>
                  <a:pt x="2628897" y="0"/>
                </a:lnTo>
                <a:cubicBezTo>
                  <a:pt x="2649941" y="0"/>
                  <a:pt x="2667000" y="17059"/>
                  <a:pt x="2667000" y="38103"/>
                </a:cubicBezTo>
                <a:lnTo>
                  <a:pt x="2667000" y="895347"/>
                </a:lnTo>
                <a:cubicBezTo>
                  <a:pt x="2667000" y="916391"/>
                  <a:pt x="2649941" y="933450"/>
                  <a:pt x="2628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 cap="flat" cmpd="sng" w="12700">
            <a:solidFill>
              <a:srgbClr val="C5A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3452813" y="20050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50196"/>
            </a:srgbClr>
          </a:solidFill>
          <a:ln>
            <a:noFill/>
          </a:ln>
        </p:spPr>
      </p:sp>
      <p:sp>
        <p:nvSpPr>
          <p:cNvPr id="540" name="Google Shape;540;p22"/>
          <p:cNvSpPr/>
          <p:nvPr/>
        </p:nvSpPr>
        <p:spPr>
          <a:xfrm>
            <a:off x="3452813" y="17716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Categories</a:t>
            </a:r>
            <a:endParaRPr b="0" i="0" sz="1600" u="none" cap="none" strike="noStrike"/>
          </a:p>
        </p:txBody>
      </p:sp>
      <p:sp>
        <p:nvSpPr>
          <p:cNvPr id="541" name="Google Shape;541;p22"/>
          <p:cNvSpPr/>
          <p:nvPr/>
        </p:nvSpPr>
        <p:spPr>
          <a:xfrm>
            <a:off x="3452813" y="20478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category_id</a:t>
            </a:r>
            <a:endParaRPr b="0" i="0" sz="1600" u="none" cap="none" strike="noStrike"/>
          </a:p>
        </p:txBody>
      </p:sp>
      <p:sp>
        <p:nvSpPr>
          <p:cNvPr id="542" name="Google Shape;542;p22"/>
          <p:cNvSpPr/>
          <p:nvPr/>
        </p:nvSpPr>
        <p:spPr>
          <a:xfrm>
            <a:off x="3452813" y="22193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parent_id</a:t>
            </a:r>
            <a:endParaRPr b="0" i="0" sz="1600" u="none" cap="none" strike="noStrike"/>
          </a:p>
        </p:txBody>
      </p:sp>
      <p:sp>
        <p:nvSpPr>
          <p:cNvPr id="543" name="Google Shape;543;p22"/>
          <p:cNvSpPr/>
          <p:nvPr/>
        </p:nvSpPr>
        <p:spPr>
          <a:xfrm>
            <a:off x="3452813" y="23907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 (UK), description</a:t>
            </a:r>
            <a:endParaRPr b="0" i="0" sz="1600" u="none" cap="none" strike="noStrike"/>
          </a:p>
        </p:txBody>
      </p:sp>
      <p:sp>
        <p:nvSpPr>
          <p:cNvPr id="544" name="Google Shape;544;p22"/>
          <p:cNvSpPr/>
          <p:nvPr/>
        </p:nvSpPr>
        <p:spPr>
          <a:xfrm>
            <a:off x="3371850" y="2709863"/>
            <a:ext cx="2667000" cy="1104900"/>
          </a:xfrm>
          <a:custGeom>
            <a:rect b="b" l="l" r="r" t="t"/>
            <a:pathLst>
              <a:path extrusionOk="0" h="1104900" w="2667000">
                <a:moveTo>
                  <a:pt x="38097" y="0"/>
                </a:moveTo>
                <a:lnTo>
                  <a:pt x="2628903" y="0"/>
                </a:lnTo>
                <a:cubicBezTo>
                  <a:pt x="2649943" y="0"/>
                  <a:pt x="2667000" y="17057"/>
                  <a:pt x="2667000" y="38097"/>
                </a:cubicBezTo>
                <a:lnTo>
                  <a:pt x="2667000" y="1066803"/>
                </a:lnTo>
                <a:cubicBezTo>
                  <a:pt x="2667000" y="1087843"/>
                  <a:pt x="2649943" y="1104900"/>
                  <a:pt x="2628903" y="1104900"/>
                </a:cubicBezTo>
                <a:lnTo>
                  <a:pt x="38097" y="1104900"/>
                </a:lnTo>
                <a:cubicBezTo>
                  <a:pt x="17057" y="1104900"/>
                  <a:pt x="0" y="1087843"/>
                  <a:pt x="0" y="106680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 cap="flat" cmpd="sng" w="12700">
            <a:solidFill>
              <a:srgbClr val="C5A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2"/>
          <p:cNvSpPr/>
          <p:nvPr/>
        </p:nvSpPr>
        <p:spPr>
          <a:xfrm>
            <a:off x="3452813" y="3024188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50196"/>
            </a:srgbClr>
          </a:solidFill>
          <a:ln>
            <a:noFill/>
          </a:ln>
        </p:spPr>
      </p:sp>
      <p:sp>
        <p:nvSpPr>
          <p:cNvPr id="546" name="Google Shape;546;p22"/>
          <p:cNvSpPr/>
          <p:nvPr/>
        </p:nvSpPr>
        <p:spPr>
          <a:xfrm>
            <a:off x="3452813" y="279082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Products</a:t>
            </a:r>
            <a:endParaRPr b="0" i="0" sz="1600" u="none" cap="none" strike="noStrike"/>
          </a:p>
        </p:txBody>
      </p:sp>
      <p:sp>
        <p:nvSpPr>
          <p:cNvPr id="547" name="Google Shape;547;p22"/>
          <p:cNvSpPr/>
          <p:nvPr/>
        </p:nvSpPr>
        <p:spPr>
          <a:xfrm>
            <a:off x="3452813" y="30670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product_id</a:t>
            </a:r>
            <a:endParaRPr b="0" i="0" sz="1600" u="none" cap="none" strike="noStrike"/>
          </a:p>
        </p:txBody>
      </p:sp>
      <p:sp>
        <p:nvSpPr>
          <p:cNvPr id="548" name="Google Shape;548;p22"/>
          <p:cNvSpPr/>
          <p:nvPr/>
        </p:nvSpPr>
        <p:spPr>
          <a:xfrm>
            <a:off x="3452813" y="32385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category_id</a:t>
            </a:r>
            <a:endParaRPr b="0" i="0" sz="1600" u="none" cap="none" strike="noStrike"/>
          </a:p>
        </p:txBody>
      </p:sp>
      <p:sp>
        <p:nvSpPr>
          <p:cNvPr id="549" name="Google Shape;549;p22"/>
          <p:cNvSpPr/>
          <p:nvPr/>
        </p:nvSpPr>
        <p:spPr>
          <a:xfrm>
            <a:off x="3452813" y="34099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name, description</a:t>
            </a:r>
            <a:endParaRPr b="0" i="0" sz="1600" u="none" cap="none" strike="noStrike"/>
          </a:p>
        </p:txBody>
      </p:sp>
      <p:sp>
        <p:nvSpPr>
          <p:cNvPr id="550" name="Google Shape;550;p22"/>
          <p:cNvSpPr/>
          <p:nvPr/>
        </p:nvSpPr>
        <p:spPr>
          <a:xfrm>
            <a:off x="3452813" y="35814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price, brand, is_active</a:t>
            </a:r>
            <a:endParaRPr b="0" i="0" sz="1600" u="none" cap="none" strike="noStrike"/>
          </a:p>
        </p:txBody>
      </p:sp>
      <p:sp>
        <p:nvSpPr>
          <p:cNvPr id="551" name="Google Shape;551;p22"/>
          <p:cNvSpPr/>
          <p:nvPr/>
        </p:nvSpPr>
        <p:spPr>
          <a:xfrm>
            <a:off x="3371850" y="3900488"/>
            <a:ext cx="2667000" cy="933450"/>
          </a:xfrm>
          <a:custGeom>
            <a:rect b="b" l="l" r="r" t="t"/>
            <a:pathLst>
              <a:path extrusionOk="0" h="933450" w="2667000">
                <a:moveTo>
                  <a:pt x="38103" y="0"/>
                </a:moveTo>
                <a:lnTo>
                  <a:pt x="2628897" y="0"/>
                </a:lnTo>
                <a:cubicBezTo>
                  <a:pt x="2649941" y="0"/>
                  <a:pt x="2667000" y="17059"/>
                  <a:pt x="2667000" y="38103"/>
                </a:cubicBezTo>
                <a:lnTo>
                  <a:pt x="2667000" y="895347"/>
                </a:lnTo>
                <a:cubicBezTo>
                  <a:pt x="2667000" y="916391"/>
                  <a:pt x="2649941" y="933450"/>
                  <a:pt x="2628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 cap="flat" cmpd="sng" w="12700">
            <a:solidFill>
              <a:srgbClr val="C5A06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2"/>
          <p:cNvSpPr/>
          <p:nvPr/>
        </p:nvSpPr>
        <p:spPr>
          <a:xfrm>
            <a:off x="3452813" y="42148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50196"/>
            </a:srgbClr>
          </a:solidFill>
          <a:ln>
            <a:noFill/>
          </a:ln>
        </p:spPr>
      </p:sp>
      <p:sp>
        <p:nvSpPr>
          <p:cNvPr id="553" name="Google Shape;553;p22"/>
          <p:cNvSpPr/>
          <p:nvPr/>
        </p:nvSpPr>
        <p:spPr>
          <a:xfrm>
            <a:off x="3452813" y="39814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Inventory</a:t>
            </a:r>
            <a:endParaRPr b="0" i="0" sz="1600" u="none" cap="none" strike="noStrike"/>
          </a:p>
        </p:txBody>
      </p:sp>
      <p:sp>
        <p:nvSpPr>
          <p:cNvPr id="554" name="Google Shape;554;p22"/>
          <p:cNvSpPr/>
          <p:nvPr/>
        </p:nvSpPr>
        <p:spPr>
          <a:xfrm>
            <a:off x="3452813" y="42576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inventory_id</a:t>
            </a:r>
            <a:endParaRPr b="0" i="0" sz="1600" u="none" cap="none" strike="noStrike"/>
          </a:p>
        </p:txBody>
      </p:sp>
      <p:sp>
        <p:nvSpPr>
          <p:cNvPr id="555" name="Google Shape;555;p22"/>
          <p:cNvSpPr/>
          <p:nvPr/>
        </p:nvSpPr>
        <p:spPr>
          <a:xfrm>
            <a:off x="3452813" y="44291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product_id (UQ)</a:t>
            </a:r>
            <a:endParaRPr b="0" i="0" sz="1600" u="none" cap="none" strike="noStrike"/>
          </a:p>
        </p:txBody>
      </p:sp>
      <p:sp>
        <p:nvSpPr>
          <p:cNvPr id="556" name="Google Shape;556;p22"/>
          <p:cNvSpPr/>
          <p:nvPr/>
        </p:nvSpPr>
        <p:spPr>
          <a:xfrm>
            <a:off x="3452813" y="46005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quantity, updated_at</a:t>
            </a:r>
            <a:endParaRPr b="0" i="0" sz="1600" u="none" cap="none" strike="noStrike"/>
          </a:p>
        </p:txBody>
      </p:sp>
      <p:sp>
        <p:nvSpPr>
          <p:cNvPr id="557" name="Google Shape;557;p22"/>
          <p:cNvSpPr/>
          <p:nvPr/>
        </p:nvSpPr>
        <p:spPr>
          <a:xfrm>
            <a:off x="6157913" y="1690688"/>
            <a:ext cx="2667000" cy="1104900"/>
          </a:xfrm>
          <a:custGeom>
            <a:rect b="b" l="l" r="r" t="t"/>
            <a:pathLst>
              <a:path extrusionOk="0" h="1104900" w="2667000">
                <a:moveTo>
                  <a:pt x="38097" y="0"/>
                </a:moveTo>
                <a:lnTo>
                  <a:pt x="2628903" y="0"/>
                </a:lnTo>
                <a:cubicBezTo>
                  <a:pt x="2649943" y="0"/>
                  <a:pt x="2667000" y="17057"/>
                  <a:pt x="2667000" y="38097"/>
                </a:cubicBezTo>
                <a:lnTo>
                  <a:pt x="2667000" y="1066803"/>
                </a:lnTo>
                <a:cubicBezTo>
                  <a:pt x="2667000" y="1087843"/>
                  <a:pt x="2649943" y="1104900"/>
                  <a:pt x="2628903" y="1104900"/>
                </a:cubicBezTo>
                <a:lnTo>
                  <a:pt x="38097" y="1104900"/>
                </a:lnTo>
                <a:cubicBezTo>
                  <a:pt x="17057" y="1104900"/>
                  <a:pt x="0" y="1087843"/>
                  <a:pt x="0" y="1066803"/>
                </a:cubicBezTo>
                <a:lnTo>
                  <a:pt x="0" y="38097"/>
                </a:lnTo>
                <a:cubicBezTo>
                  <a:pt x="0" y="17071"/>
                  <a:pt x="17071" y="0"/>
                  <a:pt x="38097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2"/>
          <p:cNvSpPr/>
          <p:nvPr/>
        </p:nvSpPr>
        <p:spPr>
          <a:xfrm>
            <a:off x="6238875" y="20050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59" name="Google Shape;559;p22"/>
          <p:cNvSpPr/>
          <p:nvPr/>
        </p:nvSpPr>
        <p:spPr>
          <a:xfrm>
            <a:off x="6238875" y="17716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Cart_Items</a:t>
            </a:r>
            <a:endParaRPr b="0" i="0" sz="1600" u="none" cap="none" strike="noStrike"/>
          </a:p>
        </p:txBody>
      </p:sp>
      <p:sp>
        <p:nvSpPr>
          <p:cNvPr id="560" name="Google Shape;560;p22"/>
          <p:cNvSpPr/>
          <p:nvPr/>
        </p:nvSpPr>
        <p:spPr>
          <a:xfrm>
            <a:off x="6238875" y="20478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cart_item_id</a:t>
            </a:r>
            <a:endParaRPr b="0" i="0" sz="1600" u="none" cap="none" strike="noStrike"/>
          </a:p>
        </p:txBody>
      </p:sp>
      <p:sp>
        <p:nvSpPr>
          <p:cNvPr id="561" name="Google Shape;561;p22"/>
          <p:cNvSpPr/>
          <p:nvPr/>
        </p:nvSpPr>
        <p:spPr>
          <a:xfrm>
            <a:off x="6238875" y="22193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cart_id, product_id</a:t>
            </a:r>
            <a:endParaRPr b="0" i="0" sz="1600" u="none" cap="none" strike="noStrike"/>
          </a:p>
        </p:txBody>
      </p:sp>
      <p:sp>
        <p:nvSpPr>
          <p:cNvPr id="562" name="Google Shape;562;p22"/>
          <p:cNvSpPr/>
          <p:nvPr/>
        </p:nvSpPr>
        <p:spPr>
          <a:xfrm>
            <a:off x="6238875" y="23907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quantity, added_at</a:t>
            </a:r>
            <a:endParaRPr b="0" i="0" sz="1600" u="none" cap="none" strike="noStrike"/>
          </a:p>
        </p:txBody>
      </p:sp>
      <p:sp>
        <p:nvSpPr>
          <p:cNvPr id="563" name="Google Shape;563;p22"/>
          <p:cNvSpPr/>
          <p:nvPr/>
        </p:nvSpPr>
        <p:spPr>
          <a:xfrm>
            <a:off x="6238875" y="25622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F6B7A"/>
                </a:solidFill>
                <a:latin typeface="Liter"/>
                <a:ea typeface="Liter"/>
                <a:cs typeface="Liter"/>
                <a:sym typeface="Liter"/>
              </a:rPr>
              <a:t>UQ: (cart_id, product_id)</a:t>
            </a:r>
            <a:endParaRPr b="0" i="0" sz="1600" u="none" cap="none" strike="noStrike"/>
          </a:p>
        </p:txBody>
      </p:sp>
      <p:sp>
        <p:nvSpPr>
          <p:cNvPr id="564" name="Google Shape;564;p22"/>
          <p:cNvSpPr/>
          <p:nvPr/>
        </p:nvSpPr>
        <p:spPr>
          <a:xfrm>
            <a:off x="6157913" y="2881313"/>
            <a:ext cx="2667000" cy="1276350"/>
          </a:xfrm>
          <a:custGeom>
            <a:rect b="b" l="l" r="r" t="t"/>
            <a:pathLst>
              <a:path extrusionOk="0" h="1276350" w="2667000">
                <a:moveTo>
                  <a:pt x="38099" y="0"/>
                </a:moveTo>
                <a:lnTo>
                  <a:pt x="2628901" y="0"/>
                </a:lnTo>
                <a:cubicBezTo>
                  <a:pt x="2649942" y="0"/>
                  <a:pt x="2667000" y="17058"/>
                  <a:pt x="2667000" y="38099"/>
                </a:cubicBezTo>
                <a:lnTo>
                  <a:pt x="2667000" y="1238251"/>
                </a:lnTo>
                <a:cubicBezTo>
                  <a:pt x="2667000" y="1259292"/>
                  <a:pt x="2649942" y="1276350"/>
                  <a:pt x="2628901" y="1276350"/>
                </a:cubicBezTo>
                <a:lnTo>
                  <a:pt x="38099" y="1276350"/>
                </a:lnTo>
                <a:cubicBezTo>
                  <a:pt x="17058" y="1276350"/>
                  <a:pt x="0" y="1259292"/>
                  <a:pt x="0" y="1238251"/>
                </a:cubicBezTo>
                <a:lnTo>
                  <a:pt x="0" y="38099"/>
                </a:lnTo>
                <a:cubicBezTo>
                  <a:pt x="0" y="17058"/>
                  <a:pt x="17058" y="0"/>
                  <a:pt x="38099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6238875" y="3195638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66" name="Google Shape;566;p22"/>
          <p:cNvSpPr/>
          <p:nvPr/>
        </p:nvSpPr>
        <p:spPr>
          <a:xfrm>
            <a:off x="6238875" y="2962275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Orders</a:t>
            </a:r>
            <a:endParaRPr b="0" i="0" sz="1600" u="none" cap="none" strike="noStrike"/>
          </a:p>
        </p:txBody>
      </p:sp>
      <p:sp>
        <p:nvSpPr>
          <p:cNvPr id="567" name="Google Shape;567;p22"/>
          <p:cNvSpPr/>
          <p:nvPr/>
        </p:nvSpPr>
        <p:spPr>
          <a:xfrm>
            <a:off x="6238875" y="32385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order_id</a:t>
            </a:r>
            <a:endParaRPr b="0" i="0" sz="1600" u="none" cap="none" strike="noStrike"/>
          </a:p>
        </p:txBody>
      </p:sp>
      <p:sp>
        <p:nvSpPr>
          <p:cNvPr id="568" name="Google Shape;568;p22"/>
          <p:cNvSpPr/>
          <p:nvPr/>
        </p:nvSpPr>
        <p:spPr>
          <a:xfrm>
            <a:off x="6238875" y="34099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user_id, address_id</a:t>
            </a:r>
            <a:endParaRPr b="0" i="0" sz="1600" u="none" cap="none" strike="noStrike"/>
          </a:p>
        </p:txBody>
      </p:sp>
      <p:sp>
        <p:nvSpPr>
          <p:cNvPr id="569" name="Google Shape;569;p22"/>
          <p:cNvSpPr/>
          <p:nvPr/>
        </p:nvSpPr>
        <p:spPr>
          <a:xfrm>
            <a:off x="6238875" y="35814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coupon_id (NULL)</a:t>
            </a:r>
            <a:endParaRPr b="0" i="0" sz="1600" u="none" cap="none" strike="noStrike"/>
          </a:p>
        </p:txBody>
      </p:sp>
      <p:sp>
        <p:nvSpPr>
          <p:cNvPr id="570" name="Google Shape;570;p22"/>
          <p:cNvSpPr/>
          <p:nvPr/>
        </p:nvSpPr>
        <p:spPr>
          <a:xfrm>
            <a:off x="6238875" y="375285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subtotal, discount, total</a:t>
            </a:r>
            <a:endParaRPr b="0" i="0" sz="1600" u="none" cap="none" strike="noStrike"/>
          </a:p>
        </p:txBody>
      </p:sp>
      <p:sp>
        <p:nvSpPr>
          <p:cNvPr id="571" name="Google Shape;571;p22"/>
          <p:cNvSpPr/>
          <p:nvPr/>
        </p:nvSpPr>
        <p:spPr>
          <a:xfrm>
            <a:off x="6238875" y="3924300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status, created_at</a:t>
            </a:r>
            <a:endParaRPr b="0" i="0" sz="1600" u="none" cap="none" strike="noStrike"/>
          </a:p>
        </p:txBody>
      </p:sp>
      <p:sp>
        <p:nvSpPr>
          <p:cNvPr id="572" name="Google Shape;572;p22"/>
          <p:cNvSpPr/>
          <p:nvPr/>
        </p:nvSpPr>
        <p:spPr>
          <a:xfrm>
            <a:off x="6157913" y="4243388"/>
            <a:ext cx="2667000" cy="933450"/>
          </a:xfrm>
          <a:custGeom>
            <a:rect b="b" l="l" r="r" t="t"/>
            <a:pathLst>
              <a:path extrusionOk="0" h="933450" w="2667000">
                <a:moveTo>
                  <a:pt x="38103" y="0"/>
                </a:moveTo>
                <a:lnTo>
                  <a:pt x="2628897" y="0"/>
                </a:lnTo>
                <a:cubicBezTo>
                  <a:pt x="2649941" y="0"/>
                  <a:pt x="2667000" y="17059"/>
                  <a:pt x="2667000" y="38103"/>
                </a:cubicBezTo>
                <a:lnTo>
                  <a:pt x="2667000" y="895347"/>
                </a:lnTo>
                <a:cubicBezTo>
                  <a:pt x="2667000" y="916391"/>
                  <a:pt x="2649941" y="933450"/>
                  <a:pt x="2628897" y="933450"/>
                </a:cubicBezTo>
                <a:lnTo>
                  <a:pt x="38103" y="933450"/>
                </a:lnTo>
                <a:cubicBezTo>
                  <a:pt x="17059" y="933450"/>
                  <a:pt x="0" y="916391"/>
                  <a:pt x="0" y="895347"/>
                </a:cubicBezTo>
                <a:lnTo>
                  <a:pt x="0" y="38103"/>
                </a:lnTo>
                <a:cubicBezTo>
                  <a:pt x="0" y="17074"/>
                  <a:pt x="17074" y="0"/>
                  <a:pt x="38103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127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22"/>
          <p:cNvSpPr/>
          <p:nvPr/>
        </p:nvSpPr>
        <p:spPr>
          <a:xfrm>
            <a:off x="6238875" y="45577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C8B8E">
              <a:alpha val="50196"/>
            </a:srgbClr>
          </a:solidFill>
          <a:ln>
            <a:noFill/>
          </a:ln>
        </p:spPr>
      </p:sp>
      <p:sp>
        <p:nvSpPr>
          <p:cNvPr id="574" name="Google Shape;574;p22"/>
          <p:cNvSpPr/>
          <p:nvPr/>
        </p:nvSpPr>
        <p:spPr>
          <a:xfrm>
            <a:off x="6238875" y="43243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Order_Items</a:t>
            </a:r>
            <a:endParaRPr b="0" i="0" sz="1600" u="none" cap="none" strike="noStrike"/>
          </a:p>
        </p:txBody>
      </p:sp>
      <p:sp>
        <p:nvSpPr>
          <p:cNvPr id="575" name="Google Shape;575;p22"/>
          <p:cNvSpPr/>
          <p:nvPr/>
        </p:nvSpPr>
        <p:spPr>
          <a:xfrm>
            <a:off x="6238875" y="46005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PK: order_item_id</a:t>
            </a:r>
            <a:endParaRPr b="0" i="0" sz="1600" u="none" cap="none" strike="noStrike"/>
          </a:p>
        </p:txBody>
      </p:sp>
      <p:sp>
        <p:nvSpPr>
          <p:cNvPr id="576" name="Google Shape;576;p22"/>
          <p:cNvSpPr/>
          <p:nvPr/>
        </p:nvSpPr>
        <p:spPr>
          <a:xfrm>
            <a:off x="6238875" y="477202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C8B8E"/>
                </a:solidFill>
                <a:latin typeface="Liter"/>
                <a:ea typeface="Liter"/>
                <a:cs typeface="Liter"/>
                <a:sym typeface="Liter"/>
              </a:rPr>
              <a:t>FK: order_id, product_id</a:t>
            </a:r>
            <a:endParaRPr b="0" i="0" sz="1600" u="none" cap="none" strike="noStrike"/>
          </a:p>
        </p:txBody>
      </p:sp>
      <p:sp>
        <p:nvSpPr>
          <p:cNvPr id="577" name="Google Shape;577;p22"/>
          <p:cNvSpPr/>
          <p:nvPr/>
        </p:nvSpPr>
        <p:spPr>
          <a:xfrm>
            <a:off x="6238875" y="4943475"/>
            <a:ext cx="25622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quantity, unit_price</a:t>
            </a:r>
            <a:endParaRPr b="0" i="0" sz="1600" u="none" cap="none" strike="noStrike"/>
          </a:p>
        </p:txBody>
      </p:sp>
      <p:sp>
        <p:nvSpPr>
          <p:cNvPr id="578" name="Google Shape;578;p22"/>
          <p:cNvSpPr/>
          <p:nvPr/>
        </p:nvSpPr>
        <p:spPr>
          <a:xfrm>
            <a:off x="9024938" y="2005013"/>
            <a:ext cx="2505075" cy="9525"/>
          </a:xfrm>
          <a:custGeom>
            <a:rect b="b" l="l" r="r" t="t"/>
            <a:pathLst>
              <a:path extrusionOk="0" h="9525" w="2505075">
                <a:moveTo>
                  <a:pt x="0" y="0"/>
                </a:moveTo>
                <a:lnTo>
                  <a:pt x="2505075" y="0"/>
                </a:lnTo>
                <a:lnTo>
                  <a:pt x="250507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C5A06D">
              <a:alpha val="50196"/>
            </a:srgbClr>
          </a:solidFill>
          <a:ln>
            <a:noFill/>
          </a:ln>
        </p:spPr>
      </p:sp>
      <p:sp>
        <p:nvSpPr>
          <p:cNvPr id="579" name="Google Shape;579;p22"/>
          <p:cNvSpPr/>
          <p:nvPr/>
        </p:nvSpPr>
        <p:spPr>
          <a:xfrm>
            <a:off x="9024938" y="1771650"/>
            <a:ext cx="2571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Payments</a:t>
            </a:r>
            <a:endParaRPr b="0" i="0" sz="1600" u="none" cap="none" strike="noStrike"/>
          </a:p>
        </p:txBody>
      </p:sp>
      <p:grpSp>
        <p:nvGrpSpPr>
          <p:cNvPr id="580" name="Google Shape;580;p22"/>
          <p:cNvGrpSpPr/>
          <p:nvPr/>
        </p:nvGrpSpPr>
        <p:grpSpPr>
          <a:xfrm>
            <a:off x="8944000" y="1690748"/>
            <a:ext cx="2667000" cy="1104936"/>
            <a:chOff x="8944000" y="1724013"/>
            <a:chExt cx="2667000" cy="1276350"/>
          </a:xfrm>
        </p:grpSpPr>
        <p:sp>
          <p:nvSpPr>
            <p:cNvPr id="581" name="Google Shape;581;p22"/>
            <p:cNvSpPr/>
            <p:nvPr/>
          </p:nvSpPr>
          <p:spPr>
            <a:xfrm>
              <a:off x="8944000" y="1724013"/>
              <a:ext cx="2667000" cy="1276350"/>
            </a:xfrm>
            <a:custGeom>
              <a:rect b="b" l="l" r="r" t="t"/>
              <a:pathLst>
                <a:path extrusionOk="0" h="1276350" w="2667000">
                  <a:moveTo>
                    <a:pt x="38099" y="0"/>
                  </a:moveTo>
                  <a:lnTo>
                    <a:pt x="2628901" y="0"/>
                  </a:lnTo>
                  <a:cubicBezTo>
                    <a:pt x="2649942" y="0"/>
                    <a:pt x="2667000" y="17058"/>
                    <a:pt x="2667000" y="38099"/>
                  </a:cubicBezTo>
                  <a:lnTo>
                    <a:pt x="2667000" y="1238251"/>
                  </a:lnTo>
                  <a:cubicBezTo>
                    <a:pt x="2667000" y="1259292"/>
                    <a:pt x="2649942" y="1276350"/>
                    <a:pt x="2628901" y="1276350"/>
                  </a:cubicBezTo>
                  <a:lnTo>
                    <a:pt x="38099" y="1276350"/>
                  </a:lnTo>
                  <a:cubicBezTo>
                    <a:pt x="17058" y="1276350"/>
                    <a:pt x="0" y="1259292"/>
                    <a:pt x="0" y="1238251"/>
                  </a:cubicBezTo>
                  <a:lnTo>
                    <a:pt x="0" y="38099"/>
                  </a:lnTo>
                  <a:cubicBezTo>
                    <a:pt x="0" y="17058"/>
                    <a:pt x="17058" y="0"/>
                    <a:pt x="38099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 cap="flat" cmpd="sng" w="12700">
              <a:solidFill>
                <a:srgbClr val="C5A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9024938" y="204787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payment_id</a:t>
              </a:r>
              <a:endParaRPr b="0" i="0" sz="1600" u="none" cap="none" strike="noStrike"/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9024938" y="221932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FK: order_id (UQ)</a:t>
              </a:r>
              <a:endParaRPr b="0" i="0" sz="1600" u="none" cap="none" strike="noStrike"/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9024938" y="239077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method, provider</a:t>
              </a:r>
              <a:endParaRPr b="0" i="0" sz="1600" u="none" cap="none" strike="noStrike"/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9024938" y="256222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transaction_ref (UK)</a:t>
              </a:r>
              <a:endParaRPr b="0" i="0" sz="1600" u="none" cap="none" strike="noStrike"/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9024938" y="273367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amount, status, paid_at</a:t>
              </a:r>
              <a:endParaRPr b="0" i="0" sz="1600" u="none" cap="none" strike="noStrike"/>
            </a:p>
          </p:txBody>
        </p:sp>
      </p:grpSp>
      <p:grpSp>
        <p:nvGrpSpPr>
          <p:cNvPr id="587" name="Google Shape;587;p22"/>
          <p:cNvGrpSpPr/>
          <p:nvPr/>
        </p:nvGrpSpPr>
        <p:grpSpPr>
          <a:xfrm>
            <a:off x="8944000" y="2876563"/>
            <a:ext cx="2667000" cy="1104900"/>
            <a:chOff x="8943975" y="3052763"/>
            <a:chExt cx="2667000" cy="1104900"/>
          </a:xfrm>
        </p:grpSpPr>
        <p:sp>
          <p:nvSpPr>
            <p:cNvPr id="588" name="Google Shape;588;p22"/>
            <p:cNvSpPr/>
            <p:nvPr/>
          </p:nvSpPr>
          <p:spPr>
            <a:xfrm>
              <a:off x="8943975" y="3052763"/>
              <a:ext cx="2667000" cy="1104900"/>
            </a:xfrm>
            <a:custGeom>
              <a:rect b="b" l="l" r="r" t="t"/>
              <a:pathLst>
                <a:path extrusionOk="0" h="1104900" w="2667000">
                  <a:moveTo>
                    <a:pt x="38097" y="0"/>
                  </a:moveTo>
                  <a:lnTo>
                    <a:pt x="2628903" y="0"/>
                  </a:lnTo>
                  <a:cubicBezTo>
                    <a:pt x="2649943" y="0"/>
                    <a:pt x="2667000" y="17057"/>
                    <a:pt x="2667000" y="38097"/>
                  </a:cubicBezTo>
                  <a:lnTo>
                    <a:pt x="2667000" y="1066803"/>
                  </a:lnTo>
                  <a:cubicBezTo>
                    <a:pt x="2667000" y="1087843"/>
                    <a:pt x="2649943" y="1104900"/>
                    <a:pt x="2628903" y="1104900"/>
                  </a:cubicBezTo>
                  <a:lnTo>
                    <a:pt x="38097" y="1104900"/>
                  </a:lnTo>
                  <a:cubicBezTo>
                    <a:pt x="17057" y="1104900"/>
                    <a:pt x="0" y="1087843"/>
                    <a:pt x="0" y="10668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 cap="flat" cmpd="sng" w="12700">
              <a:solidFill>
                <a:srgbClr val="C5A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9024938" y="3367088"/>
              <a:ext cx="2505075" cy="9525"/>
            </a:xfrm>
            <a:custGeom>
              <a:rect b="b" l="l" r="r" t="t"/>
              <a:pathLst>
                <a:path extrusionOk="0" h="9525" w="2505075">
                  <a:moveTo>
                    <a:pt x="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50196"/>
              </a:srgbClr>
            </a:solidFill>
            <a:ln>
              <a:noFill/>
            </a:ln>
          </p:spPr>
        </p:sp>
        <p:sp>
          <p:nvSpPr>
            <p:cNvPr id="590" name="Google Shape;590;p22"/>
            <p:cNvSpPr/>
            <p:nvPr/>
          </p:nvSpPr>
          <p:spPr>
            <a:xfrm>
              <a:off x="9024938" y="3133725"/>
              <a:ext cx="25717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Reviews</a:t>
              </a:r>
              <a:endParaRPr b="0" i="0" sz="1600" u="none" cap="none" strike="noStrike"/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9024938" y="340995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review_id</a:t>
              </a:r>
              <a:endParaRPr b="0" i="0" sz="1600" u="none" cap="none" strike="noStrike"/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9024938" y="358140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FK: product_id, user_id</a:t>
              </a:r>
              <a:endParaRPr b="0" i="0" sz="1600" u="none" cap="none" strike="noStrike"/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9024938" y="375285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rating (1-5), title, body</a:t>
              </a:r>
              <a:endParaRPr b="0" i="0" sz="1600" u="none" cap="none" strike="noStrike"/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9024938" y="392430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UQ: (product_id, user_id)</a:t>
              </a:r>
              <a:endParaRPr b="0" i="0" sz="1600" u="none" cap="none" strike="noStrike"/>
            </a:p>
          </p:txBody>
        </p:sp>
      </p:grpSp>
      <p:grpSp>
        <p:nvGrpSpPr>
          <p:cNvPr id="595" name="Google Shape;595;p22"/>
          <p:cNvGrpSpPr/>
          <p:nvPr/>
        </p:nvGrpSpPr>
        <p:grpSpPr>
          <a:xfrm>
            <a:off x="8944000" y="4062363"/>
            <a:ext cx="2667000" cy="1104900"/>
            <a:chOff x="8943975" y="4243388"/>
            <a:chExt cx="2667000" cy="1104900"/>
          </a:xfrm>
        </p:grpSpPr>
        <p:sp>
          <p:nvSpPr>
            <p:cNvPr id="596" name="Google Shape;596;p22"/>
            <p:cNvSpPr/>
            <p:nvPr/>
          </p:nvSpPr>
          <p:spPr>
            <a:xfrm>
              <a:off x="8943975" y="4243388"/>
              <a:ext cx="2667000" cy="1104900"/>
            </a:xfrm>
            <a:custGeom>
              <a:rect b="b" l="l" r="r" t="t"/>
              <a:pathLst>
                <a:path extrusionOk="0" h="1104900" w="2667000">
                  <a:moveTo>
                    <a:pt x="38097" y="0"/>
                  </a:moveTo>
                  <a:lnTo>
                    <a:pt x="2628903" y="0"/>
                  </a:lnTo>
                  <a:cubicBezTo>
                    <a:pt x="2649943" y="0"/>
                    <a:pt x="2667000" y="17057"/>
                    <a:pt x="2667000" y="38097"/>
                  </a:cubicBezTo>
                  <a:lnTo>
                    <a:pt x="2667000" y="1066803"/>
                  </a:lnTo>
                  <a:cubicBezTo>
                    <a:pt x="2667000" y="1087843"/>
                    <a:pt x="2649943" y="1104900"/>
                    <a:pt x="2628903" y="1104900"/>
                  </a:cubicBezTo>
                  <a:lnTo>
                    <a:pt x="38097" y="1104900"/>
                  </a:lnTo>
                  <a:cubicBezTo>
                    <a:pt x="17057" y="1104900"/>
                    <a:pt x="0" y="1087843"/>
                    <a:pt x="0" y="10668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 cap="flat" cmpd="sng" w="12700">
              <a:solidFill>
                <a:srgbClr val="C5A06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9024938" y="4557713"/>
              <a:ext cx="2505075" cy="9525"/>
            </a:xfrm>
            <a:custGeom>
              <a:rect b="b" l="l" r="r" t="t"/>
              <a:pathLst>
                <a:path extrusionOk="0" h="9525" w="2505075">
                  <a:moveTo>
                    <a:pt x="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A06D">
                <a:alpha val="50196"/>
              </a:srgbClr>
            </a:solidFill>
            <a:ln>
              <a:noFill/>
            </a:ln>
          </p:spPr>
        </p:sp>
        <p:sp>
          <p:nvSpPr>
            <p:cNvPr id="598" name="Google Shape;598;p22"/>
            <p:cNvSpPr/>
            <p:nvPr/>
          </p:nvSpPr>
          <p:spPr>
            <a:xfrm>
              <a:off x="9024938" y="4324350"/>
              <a:ext cx="25717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Wishlist</a:t>
              </a:r>
              <a:endParaRPr b="0" i="0" sz="1600" u="none" cap="none" strike="noStrike"/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9024938" y="460057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wishlist_id</a:t>
              </a:r>
              <a:endParaRPr b="0" i="0" sz="1600" u="none" cap="none" strike="noStrike"/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9024938" y="477202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FK: user_id, product_id</a:t>
              </a:r>
              <a:endParaRPr b="0" i="0" sz="1600" u="none" cap="none" strike="noStrike"/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9024938" y="494347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added_at</a:t>
              </a:r>
              <a:endParaRPr b="0" i="0" sz="1600" u="none" cap="none" strike="noStrike"/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9024938" y="5114925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UQ: (user_id, product_id)</a:t>
              </a:r>
              <a:endParaRPr b="0" i="0" sz="1600" u="none" cap="none" strike="noStrike"/>
            </a:p>
          </p:txBody>
        </p:sp>
      </p:grpSp>
      <p:grpSp>
        <p:nvGrpSpPr>
          <p:cNvPr id="603" name="Google Shape;603;p22"/>
          <p:cNvGrpSpPr/>
          <p:nvPr/>
        </p:nvGrpSpPr>
        <p:grpSpPr>
          <a:xfrm>
            <a:off x="8944000" y="5248023"/>
            <a:ext cx="2667000" cy="933420"/>
            <a:chOff x="8943975" y="5434013"/>
            <a:chExt cx="2667000" cy="1104900"/>
          </a:xfrm>
        </p:grpSpPr>
        <p:sp>
          <p:nvSpPr>
            <p:cNvPr id="604" name="Google Shape;604;p22"/>
            <p:cNvSpPr/>
            <p:nvPr/>
          </p:nvSpPr>
          <p:spPr>
            <a:xfrm>
              <a:off x="8943975" y="5434013"/>
              <a:ext cx="2667000" cy="1104900"/>
            </a:xfrm>
            <a:custGeom>
              <a:rect b="b" l="l" r="r" t="t"/>
              <a:pathLst>
                <a:path extrusionOk="0" h="1104900" w="2667000">
                  <a:moveTo>
                    <a:pt x="38097" y="0"/>
                  </a:moveTo>
                  <a:lnTo>
                    <a:pt x="2628903" y="0"/>
                  </a:lnTo>
                  <a:cubicBezTo>
                    <a:pt x="2649943" y="0"/>
                    <a:pt x="2667000" y="17057"/>
                    <a:pt x="2667000" y="38097"/>
                  </a:cubicBezTo>
                  <a:lnTo>
                    <a:pt x="2667000" y="1066803"/>
                  </a:lnTo>
                  <a:cubicBezTo>
                    <a:pt x="2667000" y="1087843"/>
                    <a:pt x="2649943" y="1104900"/>
                    <a:pt x="2628903" y="1104900"/>
                  </a:cubicBezTo>
                  <a:lnTo>
                    <a:pt x="38097" y="1104900"/>
                  </a:lnTo>
                  <a:cubicBezTo>
                    <a:pt x="17057" y="1104900"/>
                    <a:pt x="0" y="1087843"/>
                    <a:pt x="0" y="1066803"/>
                  </a:cubicBezTo>
                  <a:lnTo>
                    <a:pt x="0" y="38097"/>
                  </a:lnTo>
                  <a:cubicBezTo>
                    <a:pt x="0" y="17071"/>
                    <a:pt x="17071" y="0"/>
                    <a:pt x="38097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  <a:ln cap="flat" cmpd="sng" w="12700">
              <a:solidFill>
                <a:srgbClr val="5F6B7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9024938" y="5748338"/>
              <a:ext cx="2505075" cy="9525"/>
            </a:xfrm>
            <a:custGeom>
              <a:rect b="b" l="l" r="r" t="t"/>
              <a:pathLst>
                <a:path extrusionOk="0" h="9525" w="2505075">
                  <a:moveTo>
                    <a:pt x="0" y="0"/>
                  </a:moveTo>
                  <a:lnTo>
                    <a:pt x="2505075" y="0"/>
                  </a:lnTo>
                  <a:lnTo>
                    <a:pt x="2505075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>
                <a:alpha val="50196"/>
              </a:srgbClr>
            </a:solidFill>
            <a:ln>
              <a:noFill/>
            </a:ln>
          </p:spPr>
        </p:sp>
        <p:sp>
          <p:nvSpPr>
            <p:cNvPr id="606" name="Google Shape;606;p22"/>
            <p:cNvSpPr/>
            <p:nvPr/>
          </p:nvSpPr>
          <p:spPr>
            <a:xfrm>
              <a:off x="9024938" y="5514975"/>
              <a:ext cx="25717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810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Coupons</a:t>
              </a:r>
              <a:endParaRPr b="0" i="0" sz="1600" u="none" cap="none" strike="noStrike"/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9024938" y="579120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PK: coupon_id</a:t>
              </a:r>
              <a:endParaRPr b="0" i="0" sz="1600" u="none" cap="none" strike="noStrike"/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9024938" y="596265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code (UK), discount_type</a:t>
              </a:r>
              <a:endParaRPr b="0" i="0" sz="1600" u="none" cap="none" strike="noStrike"/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9024938" y="613410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discount_value, max_uses</a:t>
              </a:r>
              <a:endParaRPr b="0" i="0" sz="1600" u="none" cap="none" strike="noStrike"/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9024938" y="6305550"/>
              <a:ext cx="2562225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uses_count, expires_at</a:t>
              </a:r>
              <a:endParaRPr b="0" i="0" sz="1600" u="none" cap="none" strike="noStrike"/>
            </a:p>
          </p:txBody>
        </p:sp>
      </p:grpSp>
      <p:grpSp>
        <p:nvGrpSpPr>
          <p:cNvPr id="611" name="Google Shape;611;p22"/>
          <p:cNvGrpSpPr/>
          <p:nvPr/>
        </p:nvGrpSpPr>
        <p:grpSpPr>
          <a:xfrm>
            <a:off x="380988" y="6488363"/>
            <a:ext cx="3590925" cy="314325"/>
            <a:chOff x="585788" y="6662738"/>
            <a:chExt cx="3590925" cy="314325"/>
          </a:xfrm>
        </p:grpSpPr>
        <p:sp>
          <p:nvSpPr>
            <p:cNvPr id="612" name="Google Shape;612;p22"/>
            <p:cNvSpPr/>
            <p:nvPr/>
          </p:nvSpPr>
          <p:spPr>
            <a:xfrm>
              <a:off x="585788" y="6662738"/>
              <a:ext cx="3590925" cy="314325"/>
            </a:xfrm>
            <a:custGeom>
              <a:rect b="b" l="l" r="r" t="t"/>
              <a:pathLst>
                <a:path extrusionOk="0" h="314325" w="3590925">
                  <a:moveTo>
                    <a:pt x="38099" y="0"/>
                  </a:moveTo>
                  <a:lnTo>
                    <a:pt x="3552826" y="0"/>
                  </a:lnTo>
                  <a:cubicBezTo>
                    <a:pt x="3573867" y="0"/>
                    <a:pt x="3590925" y="17058"/>
                    <a:pt x="3590925" y="38099"/>
                  </a:cubicBezTo>
                  <a:lnTo>
                    <a:pt x="3590925" y="276226"/>
                  </a:lnTo>
                  <a:cubicBezTo>
                    <a:pt x="3590925" y="297267"/>
                    <a:pt x="3573867" y="314325"/>
                    <a:pt x="3552826" y="314325"/>
                  </a:cubicBezTo>
                  <a:lnTo>
                    <a:pt x="38099" y="314325"/>
                  </a:lnTo>
                  <a:cubicBezTo>
                    <a:pt x="17058" y="314325"/>
                    <a:pt x="0" y="297267"/>
                    <a:pt x="0" y="276226"/>
                  </a:cubicBezTo>
                  <a:lnTo>
                    <a:pt x="0" y="38099"/>
                  </a:lnTo>
                  <a:cubicBezTo>
                    <a:pt x="0" y="17072"/>
                    <a:pt x="17072" y="0"/>
                    <a:pt x="38099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666750" y="6762750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57150" y="0"/>
                  </a:lnTo>
                  <a:cubicBezTo>
                    <a:pt x="88692" y="0"/>
                    <a:pt x="114300" y="25608"/>
                    <a:pt x="114300" y="57150"/>
                  </a:cubicBezTo>
                  <a:lnTo>
                    <a:pt x="114300" y="57150"/>
                  </a:lnTo>
                  <a:cubicBezTo>
                    <a:pt x="114300" y="88692"/>
                    <a:pt x="88692" y="114300"/>
                    <a:pt x="57150" y="114300"/>
                  </a:cubicBezTo>
                  <a:lnTo>
                    <a:pt x="57150" y="114300"/>
                  </a:lnTo>
                  <a:cubicBezTo>
                    <a:pt x="25608" y="114300"/>
                    <a:pt x="0" y="88692"/>
                    <a:pt x="0" y="57150"/>
                  </a:cubicBezTo>
                  <a:lnTo>
                    <a:pt x="0" y="57150"/>
                  </a:lnTo>
                  <a:cubicBezTo>
                    <a:pt x="0" y="25608"/>
                    <a:pt x="25608" y="0"/>
                    <a:pt x="57150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857250" y="6743700"/>
              <a:ext cx="9144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Primary Key (PK)</a:t>
              </a:r>
              <a:endParaRPr b="0" i="0" sz="1600" u="none" cap="none" strike="noStrike"/>
            </a:p>
          </p:txBody>
        </p:sp>
      </p:grpSp>
      <p:grpSp>
        <p:nvGrpSpPr>
          <p:cNvPr id="615" name="Google Shape;615;p22"/>
          <p:cNvGrpSpPr/>
          <p:nvPr/>
        </p:nvGrpSpPr>
        <p:grpSpPr>
          <a:xfrm>
            <a:off x="4143788" y="6476988"/>
            <a:ext cx="3590925" cy="314325"/>
            <a:chOff x="4300538" y="6662738"/>
            <a:chExt cx="3590925" cy="314325"/>
          </a:xfrm>
        </p:grpSpPr>
        <p:sp>
          <p:nvSpPr>
            <p:cNvPr id="616" name="Google Shape;616;p22"/>
            <p:cNvSpPr/>
            <p:nvPr/>
          </p:nvSpPr>
          <p:spPr>
            <a:xfrm>
              <a:off x="4300538" y="6662738"/>
              <a:ext cx="3590925" cy="314325"/>
            </a:xfrm>
            <a:custGeom>
              <a:rect b="b" l="l" r="r" t="t"/>
              <a:pathLst>
                <a:path extrusionOk="0" h="314325" w="3590925">
                  <a:moveTo>
                    <a:pt x="38099" y="0"/>
                  </a:moveTo>
                  <a:lnTo>
                    <a:pt x="3552826" y="0"/>
                  </a:lnTo>
                  <a:cubicBezTo>
                    <a:pt x="3573867" y="0"/>
                    <a:pt x="3590925" y="17058"/>
                    <a:pt x="3590925" y="38099"/>
                  </a:cubicBezTo>
                  <a:lnTo>
                    <a:pt x="3590925" y="276226"/>
                  </a:lnTo>
                  <a:cubicBezTo>
                    <a:pt x="3590925" y="297267"/>
                    <a:pt x="3573867" y="314325"/>
                    <a:pt x="3552826" y="314325"/>
                  </a:cubicBezTo>
                  <a:lnTo>
                    <a:pt x="38099" y="314325"/>
                  </a:lnTo>
                  <a:cubicBezTo>
                    <a:pt x="17058" y="314325"/>
                    <a:pt x="0" y="297267"/>
                    <a:pt x="0" y="276226"/>
                  </a:cubicBezTo>
                  <a:lnTo>
                    <a:pt x="0" y="38099"/>
                  </a:lnTo>
                  <a:cubicBezTo>
                    <a:pt x="0" y="17072"/>
                    <a:pt x="17072" y="0"/>
                    <a:pt x="38099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4381500" y="6762750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57150" y="0"/>
                  </a:lnTo>
                  <a:cubicBezTo>
                    <a:pt x="88692" y="0"/>
                    <a:pt x="114300" y="25608"/>
                    <a:pt x="114300" y="57150"/>
                  </a:cubicBezTo>
                  <a:lnTo>
                    <a:pt x="114300" y="57150"/>
                  </a:lnTo>
                  <a:cubicBezTo>
                    <a:pt x="114300" y="88692"/>
                    <a:pt x="88692" y="114300"/>
                    <a:pt x="57150" y="114300"/>
                  </a:cubicBezTo>
                  <a:lnTo>
                    <a:pt x="57150" y="114300"/>
                  </a:lnTo>
                  <a:cubicBezTo>
                    <a:pt x="25608" y="114300"/>
                    <a:pt x="0" y="88692"/>
                    <a:pt x="0" y="57150"/>
                  </a:cubicBezTo>
                  <a:lnTo>
                    <a:pt x="0" y="57150"/>
                  </a:lnTo>
                  <a:cubicBezTo>
                    <a:pt x="0" y="25608"/>
                    <a:pt x="25608" y="0"/>
                    <a:pt x="57150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4572000" y="6743700"/>
              <a:ext cx="8953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Foreign Key (FK)</a:t>
              </a:r>
              <a:endParaRPr b="0" i="0" sz="1600" u="none" cap="none" strike="noStrike"/>
            </a:p>
          </p:txBody>
        </p:sp>
      </p:grpSp>
      <p:grpSp>
        <p:nvGrpSpPr>
          <p:cNvPr id="619" name="Google Shape;619;p22"/>
          <p:cNvGrpSpPr/>
          <p:nvPr/>
        </p:nvGrpSpPr>
        <p:grpSpPr>
          <a:xfrm>
            <a:off x="8215288" y="6476988"/>
            <a:ext cx="3590925" cy="314325"/>
            <a:chOff x="8015288" y="6662738"/>
            <a:chExt cx="3590925" cy="314325"/>
          </a:xfrm>
        </p:grpSpPr>
        <p:sp>
          <p:nvSpPr>
            <p:cNvPr id="620" name="Google Shape;620;p22"/>
            <p:cNvSpPr/>
            <p:nvPr/>
          </p:nvSpPr>
          <p:spPr>
            <a:xfrm>
              <a:off x="8015288" y="6662738"/>
              <a:ext cx="3590925" cy="314325"/>
            </a:xfrm>
            <a:custGeom>
              <a:rect b="b" l="l" r="r" t="t"/>
              <a:pathLst>
                <a:path extrusionOk="0" h="314325" w="3590925">
                  <a:moveTo>
                    <a:pt x="38099" y="0"/>
                  </a:moveTo>
                  <a:lnTo>
                    <a:pt x="3552826" y="0"/>
                  </a:lnTo>
                  <a:cubicBezTo>
                    <a:pt x="3573867" y="0"/>
                    <a:pt x="3590925" y="17058"/>
                    <a:pt x="3590925" y="38099"/>
                  </a:cubicBezTo>
                  <a:lnTo>
                    <a:pt x="3590925" y="276226"/>
                  </a:lnTo>
                  <a:cubicBezTo>
                    <a:pt x="3590925" y="297267"/>
                    <a:pt x="3573867" y="314325"/>
                    <a:pt x="3552826" y="314325"/>
                  </a:cubicBezTo>
                  <a:lnTo>
                    <a:pt x="38099" y="314325"/>
                  </a:lnTo>
                  <a:cubicBezTo>
                    <a:pt x="17058" y="314325"/>
                    <a:pt x="0" y="297267"/>
                    <a:pt x="0" y="276226"/>
                  </a:cubicBezTo>
                  <a:lnTo>
                    <a:pt x="0" y="38099"/>
                  </a:lnTo>
                  <a:cubicBezTo>
                    <a:pt x="0" y="17072"/>
                    <a:pt x="17072" y="0"/>
                    <a:pt x="38099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22"/>
            <p:cNvSpPr/>
            <p:nvPr/>
          </p:nvSpPr>
          <p:spPr>
            <a:xfrm>
              <a:off x="8096250" y="6762750"/>
              <a:ext cx="114300" cy="114300"/>
            </a:xfrm>
            <a:custGeom>
              <a:rect b="b" l="l" r="r" t="t"/>
              <a:pathLst>
                <a:path extrusionOk="0" h="114300" w="114300">
                  <a:moveTo>
                    <a:pt x="57150" y="0"/>
                  </a:moveTo>
                  <a:lnTo>
                    <a:pt x="57150" y="0"/>
                  </a:lnTo>
                  <a:cubicBezTo>
                    <a:pt x="88692" y="0"/>
                    <a:pt x="114300" y="25608"/>
                    <a:pt x="114300" y="57150"/>
                  </a:cubicBezTo>
                  <a:lnTo>
                    <a:pt x="114300" y="57150"/>
                  </a:lnTo>
                  <a:cubicBezTo>
                    <a:pt x="114300" y="88692"/>
                    <a:pt x="88692" y="114300"/>
                    <a:pt x="57150" y="114300"/>
                  </a:cubicBezTo>
                  <a:lnTo>
                    <a:pt x="57150" y="114300"/>
                  </a:lnTo>
                  <a:cubicBezTo>
                    <a:pt x="25608" y="114300"/>
                    <a:pt x="0" y="88692"/>
                    <a:pt x="0" y="57150"/>
                  </a:cubicBezTo>
                  <a:lnTo>
                    <a:pt x="0" y="57150"/>
                  </a:lnTo>
                  <a:cubicBezTo>
                    <a:pt x="0" y="25608"/>
                    <a:pt x="25608" y="0"/>
                    <a:pt x="57150" y="0"/>
                  </a:cubicBez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8286750" y="6743700"/>
              <a:ext cx="12382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0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Unique Constraint (UQ)</a:t>
              </a:r>
              <a:endParaRPr b="0" i="0" sz="1600" u="none" cap="none" strike="noStrike"/>
            </a:p>
          </p:txBody>
        </p:sp>
      </p:grp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23"/>
          <p:cNvSpPr/>
          <p:nvPr/>
        </p:nvSpPr>
        <p:spPr>
          <a:xfrm>
            <a:off x="349842" y="349842"/>
            <a:ext cx="11562284" cy="2099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2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Relationship Mapping</a:t>
            </a:r>
            <a:endParaRPr b="0" i="0" sz="1600" u="none" cap="none" strike="noStrike"/>
          </a:p>
        </p:txBody>
      </p:sp>
      <p:sp>
        <p:nvSpPr>
          <p:cNvPr id="629" name="Google Shape;629;p23"/>
          <p:cNvSpPr/>
          <p:nvPr/>
        </p:nvSpPr>
        <p:spPr>
          <a:xfrm>
            <a:off x="349842" y="629716"/>
            <a:ext cx="11702221" cy="4198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6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Relationship Analysis &amp; Cardinality</a:t>
            </a:r>
            <a:endParaRPr b="0" i="0" sz="1600" u="none" cap="none" strike="noStrike"/>
          </a:p>
        </p:txBody>
      </p:sp>
      <p:sp>
        <p:nvSpPr>
          <p:cNvPr id="630" name="Google Shape;630;p23"/>
          <p:cNvSpPr/>
          <p:nvPr/>
        </p:nvSpPr>
        <p:spPr>
          <a:xfrm>
            <a:off x="349842" y="1189463"/>
            <a:ext cx="839621" cy="34984"/>
          </a:xfrm>
          <a:custGeom>
            <a:rect b="b" l="l" r="r" t="t"/>
            <a:pathLst>
              <a:path extrusionOk="0" h="34984" w="839621">
                <a:moveTo>
                  <a:pt x="0" y="0"/>
                </a:moveTo>
                <a:lnTo>
                  <a:pt x="839621" y="0"/>
                </a:lnTo>
                <a:lnTo>
                  <a:pt x="839621" y="34984"/>
                </a:lnTo>
                <a:lnTo>
                  <a:pt x="0" y="34984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631" name="Google Shape;631;p23"/>
          <p:cNvSpPr/>
          <p:nvPr/>
        </p:nvSpPr>
        <p:spPr>
          <a:xfrm>
            <a:off x="367334" y="1364385"/>
            <a:ext cx="5658697" cy="1294416"/>
          </a:xfrm>
          <a:custGeom>
            <a:rect b="b" l="l" r="r" t="t"/>
            <a:pathLst>
              <a:path extrusionOk="0" h="1294416" w="5658697">
                <a:moveTo>
                  <a:pt x="34984" y="0"/>
                </a:moveTo>
                <a:lnTo>
                  <a:pt x="5588734" y="0"/>
                </a:lnTo>
                <a:cubicBezTo>
                  <a:pt x="5627374" y="0"/>
                  <a:pt x="5658697" y="31324"/>
                  <a:pt x="5658697" y="69963"/>
                </a:cubicBezTo>
                <a:lnTo>
                  <a:pt x="5658697" y="1224453"/>
                </a:lnTo>
                <a:cubicBezTo>
                  <a:pt x="5658697" y="1263092"/>
                  <a:pt x="5627374" y="1294416"/>
                  <a:pt x="5588734" y="1294416"/>
                </a:cubicBez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3"/>
          <p:cNvSpPr/>
          <p:nvPr/>
        </p:nvSpPr>
        <p:spPr>
          <a:xfrm>
            <a:off x="367334" y="1364385"/>
            <a:ext cx="34984" cy="1294416"/>
          </a:xfrm>
          <a:custGeom>
            <a:rect b="b" l="l" r="r" t="t"/>
            <a:pathLst>
              <a:path extrusionOk="0" h="1294416" w="34984">
                <a:moveTo>
                  <a:pt x="34984" y="0"/>
                </a:moveTo>
                <a:lnTo>
                  <a:pt x="34984" y="0"/>
                </a:lnTo>
                <a:lnTo>
                  <a:pt x="34984" y="1294416"/>
                </a:ln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524763" y="1504321"/>
            <a:ext cx="1364385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 → Addresses</a:t>
            </a:r>
            <a:endParaRPr b="0" i="0" sz="1600" u="none" cap="none" strike="noStrike"/>
          </a:p>
        </p:txBody>
      </p:sp>
      <p:sp>
        <p:nvSpPr>
          <p:cNvPr id="634" name="Google Shape;634;p23"/>
          <p:cNvSpPr/>
          <p:nvPr/>
        </p:nvSpPr>
        <p:spPr>
          <a:xfrm>
            <a:off x="5459520" y="1504321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3"/>
          <p:cNvSpPr/>
          <p:nvPr/>
        </p:nvSpPr>
        <p:spPr>
          <a:xfrm>
            <a:off x="5459520" y="1504321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36" name="Google Shape;636;p23"/>
          <p:cNvSpPr/>
          <p:nvPr/>
        </p:nvSpPr>
        <p:spPr>
          <a:xfrm>
            <a:off x="524763" y="1819179"/>
            <a:ext cx="5431300" cy="45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 user can have multiple shipping addresses (Home, Office, etc.). Each address belongs to exactly one user.</a:t>
            </a:r>
            <a:endParaRPr b="0" i="0" sz="1600" u="none" cap="none" strike="noStrike"/>
          </a:p>
        </p:txBody>
      </p:sp>
      <p:sp>
        <p:nvSpPr>
          <p:cNvPr id="637" name="Google Shape;637;p23"/>
          <p:cNvSpPr/>
          <p:nvPr/>
        </p:nvSpPr>
        <p:spPr>
          <a:xfrm>
            <a:off x="534603" y="2370181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3"/>
          <p:cNvSpPr/>
          <p:nvPr/>
        </p:nvSpPr>
        <p:spPr>
          <a:xfrm>
            <a:off x="747788" y="2343943"/>
            <a:ext cx="2037831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Identifying relationship - Weak entity</a:t>
            </a:r>
            <a:endParaRPr b="0" i="0" sz="1600" u="none" cap="none" strike="noStrike"/>
          </a:p>
        </p:txBody>
      </p:sp>
      <p:sp>
        <p:nvSpPr>
          <p:cNvPr id="639" name="Google Shape;639;p23"/>
          <p:cNvSpPr/>
          <p:nvPr/>
        </p:nvSpPr>
        <p:spPr>
          <a:xfrm>
            <a:off x="367334" y="2763753"/>
            <a:ext cx="5658697" cy="1215702"/>
          </a:xfrm>
          <a:custGeom>
            <a:rect b="b" l="l" r="r" t="t"/>
            <a:pathLst>
              <a:path extrusionOk="0" h="1215702" w="5658697">
                <a:moveTo>
                  <a:pt x="34984" y="0"/>
                </a:moveTo>
                <a:lnTo>
                  <a:pt x="5588734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145738"/>
                </a:lnTo>
                <a:cubicBezTo>
                  <a:pt x="5658697" y="1184378"/>
                  <a:pt x="5627373" y="1215702"/>
                  <a:pt x="5588734" y="1215702"/>
                </a:cubicBez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3"/>
          <p:cNvSpPr/>
          <p:nvPr/>
        </p:nvSpPr>
        <p:spPr>
          <a:xfrm>
            <a:off x="367334" y="2763753"/>
            <a:ext cx="34984" cy="1215702"/>
          </a:xfrm>
          <a:custGeom>
            <a:rect b="b" l="l" r="r" t="t"/>
            <a:pathLst>
              <a:path extrusionOk="0" h="1215702" w="34984">
                <a:moveTo>
                  <a:pt x="34984" y="0"/>
                </a:moveTo>
                <a:lnTo>
                  <a:pt x="34984" y="0"/>
                </a:lnTo>
                <a:lnTo>
                  <a:pt x="34984" y="1215702"/>
                </a:ln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3"/>
          <p:cNvSpPr/>
          <p:nvPr/>
        </p:nvSpPr>
        <p:spPr>
          <a:xfrm>
            <a:off x="524763" y="2903690"/>
            <a:ext cx="927082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 → Cart</a:t>
            </a:r>
            <a:endParaRPr b="0" i="0" sz="1600" u="none" cap="none" strike="noStrike"/>
          </a:p>
        </p:txBody>
      </p:sp>
      <p:sp>
        <p:nvSpPr>
          <p:cNvPr id="642" name="Google Shape;642;p23"/>
          <p:cNvSpPr/>
          <p:nvPr/>
        </p:nvSpPr>
        <p:spPr>
          <a:xfrm>
            <a:off x="5500038" y="2903690"/>
            <a:ext cx="384826" cy="244890"/>
          </a:xfrm>
          <a:custGeom>
            <a:rect b="b" l="l" r="r" t="t"/>
            <a:pathLst>
              <a:path extrusionOk="0" h="244890" w="384826">
                <a:moveTo>
                  <a:pt x="122445" y="0"/>
                </a:moveTo>
                <a:lnTo>
                  <a:pt x="262382" y="0"/>
                </a:lnTo>
                <a:cubicBezTo>
                  <a:pt x="329961" y="0"/>
                  <a:pt x="384826" y="54866"/>
                  <a:pt x="384826" y="122445"/>
                </a:cubicBezTo>
                <a:lnTo>
                  <a:pt x="384826" y="122445"/>
                </a:lnTo>
                <a:cubicBezTo>
                  <a:pt x="384826" y="190024"/>
                  <a:pt x="329961" y="244890"/>
                  <a:pt x="26238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23"/>
          <p:cNvSpPr/>
          <p:nvPr/>
        </p:nvSpPr>
        <p:spPr>
          <a:xfrm>
            <a:off x="5500038" y="2903690"/>
            <a:ext cx="44604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1</a:t>
            </a:r>
            <a:endParaRPr b="0" i="0" sz="1600" u="none" cap="none" strike="noStrike"/>
          </a:p>
        </p:txBody>
      </p:sp>
      <p:sp>
        <p:nvSpPr>
          <p:cNvPr id="644" name="Google Shape;644;p23"/>
          <p:cNvSpPr/>
          <p:nvPr/>
        </p:nvSpPr>
        <p:spPr>
          <a:xfrm>
            <a:off x="524763" y="3218548"/>
            <a:ext cx="5431300" cy="37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Each user has exactly one active cart. Cart is created when user registers or on first use.</a:t>
            </a:r>
            <a:endParaRPr b="0" i="0" sz="1600" u="none" cap="none" strike="noStrike"/>
          </a:p>
        </p:txBody>
      </p:sp>
      <p:sp>
        <p:nvSpPr>
          <p:cNvPr id="645" name="Google Shape;645;p23"/>
          <p:cNvSpPr/>
          <p:nvPr/>
        </p:nvSpPr>
        <p:spPr>
          <a:xfrm>
            <a:off x="534603" y="3693705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23"/>
          <p:cNvSpPr/>
          <p:nvPr/>
        </p:nvSpPr>
        <p:spPr>
          <a:xfrm>
            <a:off x="747788" y="3667467"/>
            <a:ext cx="1661750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UNIQUE constraint on user_id</a:t>
            </a:r>
            <a:endParaRPr b="0" i="0" sz="1600" u="none" cap="none" strike="noStrike"/>
          </a:p>
        </p:txBody>
      </p:sp>
      <p:sp>
        <p:nvSpPr>
          <p:cNvPr id="647" name="Google Shape;647;p23"/>
          <p:cNvSpPr/>
          <p:nvPr/>
        </p:nvSpPr>
        <p:spPr>
          <a:xfrm>
            <a:off x="367334" y="4087277"/>
            <a:ext cx="5658697" cy="1215702"/>
          </a:xfrm>
          <a:custGeom>
            <a:rect b="b" l="l" r="r" t="t"/>
            <a:pathLst>
              <a:path extrusionOk="0" h="1215702" w="5658697">
                <a:moveTo>
                  <a:pt x="34984" y="0"/>
                </a:moveTo>
                <a:lnTo>
                  <a:pt x="5588734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145738"/>
                </a:lnTo>
                <a:cubicBezTo>
                  <a:pt x="5658697" y="1184378"/>
                  <a:pt x="5627373" y="1215702"/>
                  <a:pt x="5588734" y="1215702"/>
                </a:cubicBez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3"/>
          <p:cNvSpPr/>
          <p:nvPr/>
        </p:nvSpPr>
        <p:spPr>
          <a:xfrm>
            <a:off x="367334" y="4087277"/>
            <a:ext cx="34984" cy="1215702"/>
          </a:xfrm>
          <a:custGeom>
            <a:rect b="b" l="l" r="r" t="t"/>
            <a:pathLst>
              <a:path extrusionOk="0" h="1215702" w="34984">
                <a:moveTo>
                  <a:pt x="34984" y="0"/>
                </a:moveTo>
                <a:lnTo>
                  <a:pt x="34984" y="0"/>
                </a:lnTo>
                <a:lnTo>
                  <a:pt x="34984" y="1215702"/>
                </a:ln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3"/>
          <p:cNvSpPr/>
          <p:nvPr/>
        </p:nvSpPr>
        <p:spPr>
          <a:xfrm>
            <a:off x="524763" y="4227214"/>
            <a:ext cx="1364385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Cart → Cart_Items</a:t>
            </a:r>
            <a:endParaRPr b="0" i="0" sz="1600" u="none" cap="none" strike="noStrike"/>
          </a:p>
        </p:txBody>
      </p:sp>
      <p:sp>
        <p:nvSpPr>
          <p:cNvPr id="650" name="Google Shape;650;p23"/>
          <p:cNvSpPr/>
          <p:nvPr/>
        </p:nvSpPr>
        <p:spPr>
          <a:xfrm>
            <a:off x="5459520" y="4227214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3"/>
          <p:cNvSpPr/>
          <p:nvPr/>
        </p:nvSpPr>
        <p:spPr>
          <a:xfrm>
            <a:off x="5459520" y="4227214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52" name="Google Shape;652;p23"/>
          <p:cNvSpPr/>
          <p:nvPr/>
        </p:nvSpPr>
        <p:spPr>
          <a:xfrm>
            <a:off x="524763" y="4542072"/>
            <a:ext cx="5431300" cy="37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 cart can contain multiple items. Each cart item belongs to exactly one cart.</a:t>
            </a:r>
            <a:endParaRPr b="0" i="0" sz="1600" u="none" cap="none" strike="noStrike"/>
          </a:p>
        </p:txBody>
      </p:sp>
      <p:sp>
        <p:nvSpPr>
          <p:cNvPr id="653" name="Google Shape;653;p23"/>
          <p:cNvSpPr/>
          <p:nvPr/>
        </p:nvSpPr>
        <p:spPr>
          <a:xfrm>
            <a:off x="534603" y="5017297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23"/>
          <p:cNvSpPr/>
          <p:nvPr/>
        </p:nvSpPr>
        <p:spPr>
          <a:xfrm>
            <a:off x="747788" y="4991059"/>
            <a:ext cx="2160275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Weak entity with composite unique key</a:t>
            </a:r>
            <a:endParaRPr b="0" i="0" sz="1600" u="none" cap="none" strike="noStrike"/>
          </a:p>
        </p:txBody>
      </p:sp>
      <p:sp>
        <p:nvSpPr>
          <p:cNvPr id="655" name="Google Shape;655;p23"/>
          <p:cNvSpPr/>
          <p:nvPr/>
        </p:nvSpPr>
        <p:spPr>
          <a:xfrm>
            <a:off x="367334" y="5410870"/>
            <a:ext cx="5658697" cy="1215702"/>
          </a:xfrm>
          <a:custGeom>
            <a:rect b="b" l="l" r="r" t="t"/>
            <a:pathLst>
              <a:path extrusionOk="0" h="1215702" w="5658697">
                <a:moveTo>
                  <a:pt x="34984" y="0"/>
                </a:moveTo>
                <a:lnTo>
                  <a:pt x="5588734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1145738"/>
                </a:lnTo>
                <a:cubicBezTo>
                  <a:pt x="5658697" y="1184378"/>
                  <a:pt x="5627373" y="1215702"/>
                  <a:pt x="5588734" y="1215702"/>
                </a:cubicBez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3"/>
          <p:cNvSpPr/>
          <p:nvPr/>
        </p:nvSpPr>
        <p:spPr>
          <a:xfrm>
            <a:off x="367334" y="5410870"/>
            <a:ext cx="34984" cy="1215702"/>
          </a:xfrm>
          <a:custGeom>
            <a:rect b="b" l="l" r="r" t="t"/>
            <a:pathLst>
              <a:path extrusionOk="0" h="1215702" w="34984">
                <a:moveTo>
                  <a:pt x="34984" y="0"/>
                </a:moveTo>
                <a:lnTo>
                  <a:pt x="34984" y="0"/>
                </a:lnTo>
                <a:lnTo>
                  <a:pt x="34984" y="1215702"/>
                </a:lnTo>
                <a:lnTo>
                  <a:pt x="34984" y="1215702"/>
                </a:lnTo>
                <a:cubicBezTo>
                  <a:pt x="15663" y="1215702"/>
                  <a:pt x="0" y="1200039"/>
                  <a:pt x="0" y="1180717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3"/>
          <p:cNvSpPr/>
          <p:nvPr/>
        </p:nvSpPr>
        <p:spPr>
          <a:xfrm>
            <a:off x="524763" y="5550806"/>
            <a:ext cx="1102003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 → Orders</a:t>
            </a:r>
            <a:endParaRPr b="0" i="0" sz="1600" u="none" cap="none" strike="noStrike"/>
          </a:p>
        </p:txBody>
      </p:sp>
      <p:sp>
        <p:nvSpPr>
          <p:cNvPr id="658" name="Google Shape;658;p23"/>
          <p:cNvSpPr/>
          <p:nvPr/>
        </p:nvSpPr>
        <p:spPr>
          <a:xfrm>
            <a:off x="5459520" y="5550806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3"/>
          <p:cNvSpPr/>
          <p:nvPr/>
        </p:nvSpPr>
        <p:spPr>
          <a:xfrm>
            <a:off x="5459520" y="5550806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60" name="Google Shape;660;p23"/>
          <p:cNvSpPr/>
          <p:nvPr/>
        </p:nvSpPr>
        <p:spPr>
          <a:xfrm>
            <a:off x="524763" y="5865664"/>
            <a:ext cx="5431300" cy="37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 user can place multiple orders over time. Each order is placed by exactly one user.</a:t>
            </a:r>
            <a:endParaRPr b="0" i="0" sz="1600" u="none" cap="none" strike="noStrike"/>
          </a:p>
        </p:txBody>
      </p:sp>
      <p:sp>
        <p:nvSpPr>
          <p:cNvPr id="661" name="Google Shape;661;p23"/>
          <p:cNvSpPr/>
          <p:nvPr/>
        </p:nvSpPr>
        <p:spPr>
          <a:xfrm>
            <a:off x="534603" y="6340890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3"/>
          <p:cNvSpPr/>
          <p:nvPr/>
        </p:nvSpPr>
        <p:spPr>
          <a:xfrm>
            <a:off x="747788" y="6314651"/>
            <a:ext cx="1565544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Non-identifying relationship</a:t>
            </a:r>
            <a:endParaRPr b="0" i="0" sz="1600" u="none" cap="none" strike="noStrike"/>
          </a:p>
        </p:txBody>
      </p:sp>
      <p:sp>
        <p:nvSpPr>
          <p:cNvPr id="663" name="Google Shape;663;p23"/>
          <p:cNvSpPr/>
          <p:nvPr/>
        </p:nvSpPr>
        <p:spPr>
          <a:xfrm>
            <a:off x="6182436" y="1364385"/>
            <a:ext cx="5658697" cy="1067019"/>
          </a:xfrm>
          <a:custGeom>
            <a:rect b="b" l="l" r="r" t="t"/>
            <a:pathLst>
              <a:path extrusionOk="0" h="1067019" w="5658697">
                <a:moveTo>
                  <a:pt x="34984" y="0"/>
                </a:moveTo>
                <a:lnTo>
                  <a:pt x="5588733" y="0"/>
                </a:lnTo>
                <a:cubicBezTo>
                  <a:pt x="5627373" y="0"/>
                  <a:pt x="5658697" y="31324"/>
                  <a:pt x="5658697" y="69964"/>
                </a:cubicBezTo>
                <a:lnTo>
                  <a:pt x="5658697" y="997054"/>
                </a:lnTo>
                <a:cubicBezTo>
                  <a:pt x="5658697" y="1035695"/>
                  <a:pt x="5627373" y="1067019"/>
                  <a:pt x="5588733" y="1067019"/>
                </a:cubicBezTo>
                <a:lnTo>
                  <a:pt x="34984" y="1067019"/>
                </a:lnTo>
                <a:cubicBezTo>
                  <a:pt x="15663" y="1067019"/>
                  <a:pt x="0" y="1051356"/>
                  <a:pt x="0" y="103203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3"/>
          <p:cNvSpPr/>
          <p:nvPr/>
        </p:nvSpPr>
        <p:spPr>
          <a:xfrm>
            <a:off x="6182436" y="1364385"/>
            <a:ext cx="34984" cy="1067019"/>
          </a:xfrm>
          <a:custGeom>
            <a:rect b="b" l="l" r="r" t="t"/>
            <a:pathLst>
              <a:path extrusionOk="0" h="1067019" w="34984">
                <a:moveTo>
                  <a:pt x="34984" y="0"/>
                </a:moveTo>
                <a:lnTo>
                  <a:pt x="34984" y="0"/>
                </a:lnTo>
                <a:lnTo>
                  <a:pt x="34984" y="1067019"/>
                </a:lnTo>
                <a:lnTo>
                  <a:pt x="34984" y="1067019"/>
                </a:lnTo>
                <a:cubicBezTo>
                  <a:pt x="15663" y="1067019"/>
                  <a:pt x="0" y="1051356"/>
                  <a:pt x="0" y="1032034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3"/>
          <p:cNvSpPr/>
          <p:nvPr/>
        </p:nvSpPr>
        <p:spPr>
          <a:xfrm>
            <a:off x="6339865" y="1504321"/>
            <a:ext cx="1556798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 → Order_Items</a:t>
            </a:r>
            <a:endParaRPr b="0" i="0" sz="1600" u="none" cap="none" strike="noStrike"/>
          </a:p>
        </p:txBody>
      </p:sp>
      <p:sp>
        <p:nvSpPr>
          <p:cNvPr id="666" name="Google Shape;666;p23"/>
          <p:cNvSpPr/>
          <p:nvPr/>
        </p:nvSpPr>
        <p:spPr>
          <a:xfrm>
            <a:off x="11274689" y="1504321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3"/>
          <p:cNvSpPr/>
          <p:nvPr/>
        </p:nvSpPr>
        <p:spPr>
          <a:xfrm>
            <a:off x="11274689" y="1504321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68" name="Google Shape;668;p23"/>
          <p:cNvSpPr/>
          <p:nvPr/>
        </p:nvSpPr>
        <p:spPr>
          <a:xfrm>
            <a:off x="6339865" y="1819179"/>
            <a:ext cx="5431300" cy="2273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Each order contains multiple line items. Each order item belongs to exactly one order.</a:t>
            </a:r>
            <a:endParaRPr b="0" i="0" sz="1600" u="none" cap="none" strike="noStrike"/>
          </a:p>
        </p:txBody>
      </p:sp>
      <p:sp>
        <p:nvSpPr>
          <p:cNvPr id="669" name="Google Shape;669;p23"/>
          <p:cNvSpPr/>
          <p:nvPr/>
        </p:nvSpPr>
        <p:spPr>
          <a:xfrm>
            <a:off x="6349704" y="2142783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23"/>
          <p:cNvSpPr/>
          <p:nvPr/>
        </p:nvSpPr>
        <p:spPr>
          <a:xfrm>
            <a:off x="6562889" y="2116545"/>
            <a:ext cx="1679242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Weak entity - Line item details</a:t>
            </a:r>
            <a:endParaRPr b="0" i="0" sz="1600" u="none" cap="none" strike="noStrike"/>
          </a:p>
        </p:txBody>
      </p:sp>
      <p:sp>
        <p:nvSpPr>
          <p:cNvPr id="671" name="Google Shape;671;p23"/>
          <p:cNvSpPr/>
          <p:nvPr/>
        </p:nvSpPr>
        <p:spPr>
          <a:xfrm>
            <a:off x="6182436" y="2536356"/>
            <a:ext cx="5658697" cy="1294416"/>
          </a:xfrm>
          <a:custGeom>
            <a:rect b="b" l="l" r="r" t="t"/>
            <a:pathLst>
              <a:path extrusionOk="0" h="1294416" w="5658697">
                <a:moveTo>
                  <a:pt x="34984" y="0"/>
                </a:moveTo>
                <a:lnTo>
                  <a:pt x="5588734" y="0"/>
                </a:lnTo>
                <a:cubicBezTo>
                  <a:pt x="5627374" y="0"/>
                  <a:pt x="5658697" y="31324"/>
                  <a:pt x="5658697" y="69963"/>
                </a:cubicBezTo>
                <a:lnTo>
                  <a:pt x="5658697" y="1224453"/>
                </a:lnTo>
                <a:cubicBezTo>
                  <a:pt x="5658697" y="1263092"/>
                  <a:pt x="5627374" y="1294416"/>
                  <a:pt x="5588734" y="1294416"/>
                </a:cubicBez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23"/>
          <p:cNvSpPr/>
          <p:nvPr/>
        </p:nvSpPr>
        <p:spPr>
          <a:xfrm>
            <a:off x="6182436" y="2536356"/>
            <a:ext cx="34984" cy="1294416"/>
          </a:xfrm>
          <a:custGeom>
            <a:rect b="b" l="l" r="r" t="t"/>
            <a:pathLst>
              <a:path extrusionOk="0" h="1294416" w="34984">
                <a:moveTo>
                  <a:pt x="34984" y="0"/>
                </a:moveTo>
                <a:lnTo>
                  <a:pt x="34984" y="0"/>
                </a:lnTo>
                <a:lnTo>
                  <a:pt x="34984" y="1294416"/>
                </a:ln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3"/>
          <p:cNvSpPr/>
          <p:nvPr/>
        </p:nvSpPr>
        <p:spPr>
          <a:xfrm>
            <a:off x="6339865" y="2676293"/>
            <a:ext cx="1504321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 → Inventory</a:t>
            </a:r>
            <a:endParaRPr b="0" i="0" sz="1600" u="none" cap="none" strike="noStrike"/>
          </a:p>
        </p:txBody>
      </p:sp>
      <p:sp>
        <p:nvSpPr>
          <p:cNvPr id="674" name="Google Shape;674;p23"/>
          <p:cNvSpPr/>
          <p:nvPr/>
        </p:nvSpPr>
        <p:spPr>
          <a:xfrm>
            <a:off x="11315208" y="2676293"/>
            <a:ext cx="384826" cy="244890"/>
          </a:xfrm>
          <a:custGeom>
            <a:rect b="b" l="l" r="r" t="t"/>
            <a:pathLst>
              <a:path extrusionOk="0" h="244890" w="384826">
                <a:moveTo>
                  <a:pt x="122445" y="0"/>
                </a:moveTo>
                <a:lnTo>
                  <a:pt x="262382" y="0"/>
                </a:lnTo>
                <a:cubicBezTo>
                  <a:pt x="329961" y="0"/>
                  <a:pt x="384826" y="54866"/>
                  <a:pt x="384826" y="122445"/>
                </a:cubicBezTo>
                <a:lnTo>
                  <a:pt x="384826" y="122445"/>
                </a:lnTo>
                <a:cubicBezTo>
                  <a:pt x="384826" y="190024"/>
                  <a:pt x="329961" y="244890"/>
                  <a:pt x="26238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3"/>
          <p:cNvSpPr/>
          <p:nvPr/>
        </p:nvSpPr>
        <p:spPr>
          <a:xfrm>
            <a:off x="11315208" y="2676293"/>
            <a:ext cx="44604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1</a:t>
            </a:r>
            <a:endParaRPr b="0" i="0" sz="1600" u="none" cap="none" strike="noStrike"/>
          </a:p>
        </p:txBody>
      </p:sp>
      <p:sp>
        <p:nvSpPr>
          <p:cNvPr id="676" name="Google Shape;676;p23"/>
          <p:cNvSpPr/>
          <p:nvPr/>
        </p:nvSpPr>
        <p:spPr>
          <a:xfrm>
            <a:off x="6339865" y="2991151"/>
            <a:ext cx="5431300" cy="45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Each product has exactly one inventory record. Stock is tracked separately for better management.</a:t>
            </a:r>
            <a:endParaRPr b="0" i="0" sz="1600" u="none" cap="none" strike="noStrike"/>
          </a:p>
        </p:txBody>
      </p:sp>
      <p:sp>
        <p:nvSpPr>
          <p:cNvPr id="677" name="Google Shape;677;p23"/>
          <p:cNvSpPr/>
          <p:nvPr/>
        </p:nvSpPr>
        <p:spPr>
          <a:xfrm>
            <a:off x="6349704" y="3542152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3"/>
          <p:cNvSpPr/>
          <p:nvPr/>
        </p:nvSpPr>
        <p:spPr>
          <a:xfrm>
            <a:off x="6562889" y="3515914"/>
            <a:ext cx="1854164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UNIQUE constraint on product_id</a:t>
            </a:r>
            <a:endParaRPr b="0" i="0" sz="1600" u="none" cap="none" strike="noStrike"/>
          </a:p>
        </p:txBody>
      </p:sp>
      <p:sp>
        <p:nvSpPr>
          <p:cNvPr id="679" name="Google Shape;679;p23"/>
          <p:cNvSpPr/>
          <p:nvPr/>
        </p:nvSpPr>
        <p:spPr>
          <a:xfrm>
            <a:off x="6182436" y="3935725"/>
            <a:ext cx="5658697" cy="1294416"/>
          </a:xfrm>
          <a:custGeom>
            <a:rect b="b" l="l" r="r" t="t"/>
            <a:pathLst>
              <a:path extrusionOk="0" h="1294416" w="5658697">
                <a:moveTo>
                  <a:pt x="34984" y="0"/>
                </a:moveTo>
                <a:lnTo>
                  <a:pt x="5588734" y="0"/>
                </a:lnTo>
                <a:cubicBezTo>
                  <a:pt x="5627374" y="0"/>
                  <a:pt x="5658697" y="31324"/>
                  <a:pt x="5658697" y="69963"/>
                </a:cubicBezTo>
                <a:lnTo>
                  <a:pt x="5658697" y="1224453"/>
                </a:lnTo>
                <a:cubicBezTo>
                  <a:pt x="5658697" y="1263092"/>
                  <a:pt x="5627374" y="1294416"/>
                  <a:pt x="5588734" y="1294416"/>
                </a:cubicBez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3"/>
          <p:cNvSpPr/>
          <p:nvPr/>
        </p:nvSpPr>
        <p:spPr>
          <a:xfrm>
            <a:off x="6182436" y="3935725"/>
            <a:ext cx="34984" cy="1294416"/>
          </a:xfrm>
          <a:custGeom>
            <a:rect b="b" l="l" r="r" t="t"/>
            <a:pathLst>
              <a:path extrusionOk="0" h="1294416" w="34984">
                <a:moveTo>
                  <a:pt x="34984" y="0"/>
                </a:moveTo>
                <a:lnTo>
                  <a:pt x="34984" y="0"/>
                </a:lnTo>
                <a:lnTo>
                  <a:pt x="34984" y="1294416"/>
                </a:ln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3"/>
          <p:cNvSpPr/>
          <p:nvPr/>
        </p:nvSpPr>
        <p:spPr>
          <a:xfrm>
            <a:off x="6339865" y="4075661"/>
            <a:ext cx="1425607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Product ↔ Reviews</a:t>
            </a:r>
            <a:endParaRPr b="0" i="0" sz="1600" u="none" cap="none" strike="noStrike"/>
          </a:p>
        </p:txBody>
      </p:sp>
      <p:sp>
        <p:nvSpPr>
          <p:cNvPr id="682" name="Google Shape;682;p23"/>
          <p:cNvSpPr/>
          <p:nvPr/>
        </p:nvSpPr>
        <p:spPr>
          <a:xfrm>
            <a:off x="11274689" y="4075661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23"/>
          <p:cNvSpPr/>
          <p:nvPr/>
        </p:nvSpPr>
        <p:spPr>
          <a:xfrm>
            <a:off x="11274689" y="4075661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84" name="Google Shape;684;p23"/>
          <p:cNvSpPr/>
          <p:nvPr/>
        </p:nvSpPr>
        <p:spPr>
          <a:xfrm>
            <a:off x="6339865" y="4390519"/>
            <a:ext cx="5431300" cy="45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Many users can review a product. Each review is for exactly one product. One review per user per product.</a:t>
            </a:r>
            <a:endParaRPr b="0" i="0" sz="1600" u="none" cap="none" strike="noStrike"/>
          </a:p>
        </p:txBody>
      </p:sp>
      <p:sp>
        <p:nvSpPr>
          <p:cNvPr id="685" name="Google Shape;685;p23"/>
          <p:cNvSpPr/>
          <p:nvPr/>
        </p:nvSpPr>
        <p:spPr>
          <a:xfrm>
            <a:off x="6349704" y="4941521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3"/>
          <p:cNvSpPr/>
          <p:nvPr/>
        </p:nvSpPr>
        <p:spPr>
          <a:xfrm>
            <a:off x="6562889" y="4915283"/>
            <a:ext cx="2343943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Composite unique key prevents duplicates</a:t>
            </a:r>
            <a:endParaRPr b="0" i="0" sz="1600" u="none" cap="none" strike="noStrike"/>
          </a:p>
        </p:txBody>
      </p:sp>
      <p:sp>
        <p:nvSpPr>
          <p:cNvPr id="687" name="Google Shape;687;p23"/>
          <p:cNvSpPr/>
          <p:nvPr/>
        </p:nvSpPr>
        <p:spPr>
          <a:xfrm>
            <a:off x="6182436" y="5335093"/>
            <a:ext cx="5658697" cy="1294416"/>
          </a:xfrm>
          <a:custGeom>
            <a:rect b="b" l="l" r="r" t="t"/>
            <a:pathLst>
              <a:path extrusionOk="0" h="1294416" w="5658697">
                <a:moveTo>
                  <a:pt x="34984" y="0"/>
                </a:moveTo>
                <a:lnTo>
                  <a:pt x="5588734" y="0"/>
                </a:lnTo>
                <a:cubicBezTo>
                  <a:pt x="5627374" y="0"/>
                  <a:pt x="5658697" y="31324"/>
                  <a:pt x="5658697" y="69963"/>
                </a:cubicBezTo>
                <a:lnTo>
                  <a:pt x="5658697" y="1224453"/>
                </a:lnTo>
                <a:cubicBezTo>
                  <a:pt x="5658697" y="1263092"/>
                  <a:pt x="5627374" y="1294416"/>
                  <a:pt x="5588734" y="1294416"/>
                </a:cubicBez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5F6B7A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23"/>
          <p:cNvSpPr/>
          <p:nvPr/>
        </p:nvSpPr>
        <p:spPr>
          <a:xfrm>
            <a:off x="6182436" y="5335093"/>
            <a:ext cx="34984" cy="1294416"/>
          </a:xfrm>
          <a:custGeom>
            <a:rect b="b" l="l" r="r" t="t"/>
            <a:pathLst>
              <a:path extrusionOk="0" h="1294416" w="34984">
                <a:moveTo>
                  <a:pt x="34984" y="0"/>
                </a:moveTo>
                <a:lnTo>
                  <a:pt x="34984" y="0"/>
                </a:lnTo>
                <a:lnTo>
                  <a:pt x="34984" y="1294416"/>
                </a:lnTo>
                <a:lnTo>
                  <a:pt x="34984" y="1294416"/>
                </a:lnTo>
                <a:cubicBezTo>
                  <a:pt x="15663" y="1294416"/>
                  <a:pt x="0" y="1278753"/>
                  <a:pt x="0" y="1259432"/>
                </a:cubicBezTo>
                <a:lnTo>
                  <a:pt x="0" y="34984"/>
                </a:lnTo>
                <a:cubicBezTo>
                  <a:pt x="0" y="15676"/>
                  <a:pt x="15676" y="0"/>
                  <a:pt x="34984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>
            <a:off x="6339865" y="5475030"/>
            <a:ext cx="1810433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Categories ↔ Categories</a:t>
            </a:r>
            <a:endParaRPr b="0" i="0" sz="1600" u="none" cap="none" strike="noStrike"/>
          </a:p>
        </p:txBody>
      </p:sp>
      <p:sp>
        <p:nvSpPr>
          <p:cNvPr id="690" name="Google Shape;690;p23"/>
          <p:cNvSpPr/>
          <p:nvPr/>
        </p:nvSpPr>
        <p:spPr>
          <a:xfrm>
            <a:off x="11274689" y="5475030"/>
            <a:ext cx="428557" cy="244890"/>
          </a:xfrm>
          <a:custGeom>
            <a:rect b="b" l="l" r="r" t="t"/>
            <a:pathLst>
              <a:path extrusionOk="0" h="244890" w="428557">
                <a:moveTo>
                  <a:pt x="122445" y="0"/>
                </a:moveTo>
                <a:lnTo>
                  <a:pt x="306112" y="0"/>
                </a:lnTo>
                <a:cubicBezTo>
                  <a:pt x="373691" y="0"/>
                  <a:pt x="428557" y="54866"/>
                  <a:pt x="428557" y="122445"/>
                </a:cubicBezTo>
                <a:lnTo>
                  <a:pt x="428557" y="122445"/>
                </a:lnTo>
                <a:cubicBezTo>
                  <a:pt x="428557" y="190024"/>
                  <a:pt x="373691" y="244890"/>
                  <a:pt x="306112" y="244890"/>
                </a:cubicBezTo>
                <a:lnTo>
                  <a:pt x="122445" y="244890"/>
                </a:lnTo>
                <a:cubicBezTo>
                  <a:pt x="54866" y="244890"/>
                  <a:pt x="0" y="190024"/>
                  <a:pt x="0" y="122445"/>
                </a:cubicBezTo>
                <a:lnTo>
                  <a:pt x="0" y="122445"/>
                </a:lnTo>
                <a:cubicBezTo>
                  <a:pt x="0" y="54866"/>
                  <a:pt x="54866" y="0"/>
                  <a:pt x="122445" y="0"/>
                </a:cubicBezTo>
                <a:close/>
              </a:path>
            </a:pathLst>
          </a:custGeom>
          <a:solidFill>
            <a:srgbClr val="5F6B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>
            <a:off x="11274689" y="5475030"/>
            <a:ext cx="489779" cy="244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975" lIns="104950" spcFirstLastPara="1" rIns="104950" wrap="square" tIns="349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64" u="none" cap="none" strike="noStrike">
                <a:solidFill>
                  <a:srgbClr val="FFFFFF"/>
                </a:solidFill>
                <a:latin typeface="Liter"/>
                <a:ea typeface="Liter"/>
                <a:cs typeface="Liter"/>
                <a:sym typeface="Liter"/>
              </a:rPr>
              <a:t>1 : N</a:t>
            </a:r>
            <a:endParaRPr b="0" i="0" sz="1600" u="none" cap="none" strike="noStrike"/>
          </a:p>
        </p:txBody>
      </p:sp>
      <p:sp>
        <p:nvSpPr>
          <p:cNvPr id="692" name="Google Shape;692;p23"/>
          <p:cNvSpPr/>
          <p:nvPr/>
        </p:nvSpPr>
        <p:spPr>
          <a:xfrm>
            <a:off x="6339865" y="5789888"/>
            <a:ext cx="5431300" cy="4547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2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Self-referencing relationship for hierarchical category structure. Parent category can have multiple sub-categories.</a:t>
            </a:r>
            <a:endParaRPr b="0" i="0" sz="1600" u="none" cap="none" strike="noStrike"/>
          </a:p>
        </p:txBody>
      </p:sp>
      <p:sp>
        <p:nvSpPr>
          <p:cNvPr id="693" name="Google Shape;693;p23"/>
          <p:cNvSpPr/>
          <p:nvPr/>
        </p:nvSpPr>
        <p:spPr>
          <a:xfrm>
            <a:off x="6349704" y="6340890"/>
            <a:ext cx="137750" cy="122445"/>
          </a:xfrm>
          <a:custGeom>
            <a:rect b="b" l="l" r="r" t="t"/>
            <a:pathLst>
              <a:path extrusionOk="0" h="122445" w="137750">
                <a:moveTo>
                  <a:pt x="100323" y="22958"/>
                </a:moveTo>
                <a:cubicBezTo>
                  <a:pt x="96354" y="22958"/>
                  <a:pt x="92503" y="24035"/>
                  <a:pt x="89131" y="25996"/>
                </a:cubicBezTo>
                <a:cubicBezTo>
                  <a:pt x="85353" y="22169"/>
                  <a:pt x="80952" y="18965"/>
                  <a:pt x="76098" y="16549"/>
                </a:cubicBezTo>
                <a:cubicBezTo>
                  <a:pt x="82842" y="10810"/>
                  <a:pt x="91427" y="7653"/>
                  <a:pt x="100323" y="7653"/>
                </a:cubicBezTo>
                <a:cubicBezTo>
                  <a:pt x="120986" y="7653"/>
                  <a:pt x="137750" y="24393"/>
                  <a:pt x="137750" y="45080"/>
                </a:cubicBezTo>
                <a:cubicBezTo>
                  <a:pt x="137750" y="55004"/>
                  <a:pt x="133804" y="64523"/>
                  <a:pt x="126797" y="71530"/>
                </a:cubicBezTo>
                <a:lnTo>
                  <a:pt x="109794" y="88533"/>
                </a:lnTo>
                <a:cubicBezTo>
                  <a:pt x="102787" y="95540"/>
                  <a:pt x="93268" y="99486"/>
                  <a:pt x="83344" y="99486"/>
                </a:cubicBezTo>
                <a:cubicBezTo>
                  <a:pt x="62681" y="99486"/>
                  <a:pt x="45917" y="82746"/>
                  <a:pt x="45917" y="62059"/>
                </a:cubicBezTo>
                <a:cubicBezTo>
                  <a:pt x="45917" y="61701"/>
                  <a:pt x="45917" y="61342"/>
                  <a:pt x="45941" y="60983"/>
                </a:cubicBezTo>
                <a:cubicBezTo>
                  <a:pt x="46060" y="56750"/>
                  <a:pt x="49576" y="53426"/>
                  <a:pt x="53809" y="53546"/>
                </a:cubicBezTo>
                <a:cubicBezTo>
                  <a:pt x="58042" y="53665"/>
                  <a:pt x="61366" y="57181"/>
                  <a:pt x="61246" y="61414"/>
                </a:cubicBezTo>
                <a:cubicBezTo>
                  <a:pt x="61246" y="61629"/>
                  <a:pt x="61246" y="61844"/>
                  <a:pt x="61246" y="62035"/>
                </a:cubicBezTo>
                <a:cubicBezTo>
                  <a:pt x="61246" y="74256"/>
                  <a:pt x="71147" y="84157"/>
                  <a:pt x="83368" y="84157"/>
                </a:cubicBezTo>
                <a:cubicBezTo>
                  <a:pt x="89227" y="84157"/>
                  <a:pt x="94847" y="81837"/>
                  <a:pt x="99008" y="77676"/>
                </a:cubicBezTo>
                <a:lnTo>
                  <a:pt x="116012" y="60672"/>
                </a:lnTo>
                <a:cubicBezTo>
                  <a:pt x="120149" y="56535"/>
                  <a:pt x="122493" y="50891"/>
                  <a:pt x="122493" y="45032"/>
                </a:cubicBezTo>
                <a:cubicBezTo>
                  <a:pt x="122493" y="32811"/>
                  <a:pt x="112592" y="22911"/>
                  <a:pt x="100371" y="22911"/>
                </a:cubicBezTo>
                <a:close/>
                <a:moveTo>
                  <a:pt x="65814" y="41445"/>
                </a:moveTo>
                <a:cubicBezTo>
                  <a:pt x="65360" y="41253"/>
                  <a:pt x="64905" y="40990"/>
                  <a:pt x="64499" y="40703"/>
                </a:cubicBezTo>
                <a:cubicBezTo>
                  <a:pt x="61485" y="39149"/>
                  <a:pt x="58042" y="38264"/>
                  <a:pt x="54431" y="38264"/>
                </a:cubicBezTo>
                <a:cubicBezTo>
                  <a:pt x="48571" y="38264"/>
                  <a:pt x="42951" y="40584"/>
                  <a:pt x="38790" y="44745"/>
                </a:cubicBezTo>
                <a:lnTo>
                  <a:pt x="21787" y="61749"/>
                </a:lnTo>
                <a:cubicBezTo>
                  <a:pt x="17649" y="65886"/>
                  <a:pt x="15306" y="71530"/>
                  <a:pt x="15306" y="77389"/>
                </a:cubicBezTo>
                <a:cubicBezTo>
                  <a:pt x="15306" y="89609"/>
                  <a:pt x="25206" y="99510"/>
                  <a:pt x="37427" y="99510"/>
                </a:cubicBezTo>
                <a:cubicBezTo>
                  <a:pt x="41373" y="99510"/>
                  <a:pt x="45223" y="98458"/>
                  <a:pt x="48595" y="96497"/>
                </a:cubicBezTo>
                <a:cubicBezTo>
                  <a:pt x="52374" y="100323"/>
                  <a:pt x="56774" y="103528"/>
                  <a:pt x="61653" y="105943"/>
                </a:cubicBezTo>
                <a:cubicBezTo>
                  <a:pt x="54909" y="111659"/>
                  <a:pt x="46347" y="114840"/>
                  <a:pt x="37427" y="114840"/>
                </a:cubicBezTo>
                <a:cubicBezTo>
                  <a:pt x="16764" y="114840"/>
                  <a:pt x="0" y="98099"/>
                  <a:pt x="0" y="77413"/>
                </a:cubicBezTo>
                <a:cubicBezTo>
                  <a:pt x="0" y="67488"/>
                  <a:pt x="3946" y="57970"/>
                  <a:pt x="10953" y="50963"/>
                </a:cubicBezTo>
                <a:lnTo>
                  <a:pt x="27957" y="33959"/>
                </a:lnTo>
                <a:cubicBezTo>
                  <a:pt x="34964" y="26952"/>
                  <a:pt x="44482" y="23006"/>
                  <a:pt x="54407" y="23006"/>
                </a:cubicBezTo>
                <a:cubicBezTo>
                  <a:pt x="75117" y="23006"/>
                  <a:pt x="91834" y="39890"/>
                  <a:pt x="91834" y="60529"/>
                </a:cubicBezTo>
                <a:cubicBezTo>
                  <a:pt x="91834" y="60840"/>
                  <a:pt x="91834" y="61151"/>
                  <a:pt x="91834" y="61462"/>
                </a:cubicBezTo>
                <a:cubicBezTo>
                  <a:pt x="91738" y="65694"/>
                  <a:pt x="88222" y="69019"/>
                  <a:pt x="83989" y="68923"/>
                </a:cubicBezTo>
                <a:cubicBezTo>
                  <a:pt x="79757" y="68827"/>
                  <a:pt x="76432" y="65312"/>
                  <a:pt x="76528" y="61079"/>
                </a:cubicBezTo>
                <a:cubicBezTo>
                  <a:pt x="76528" y="60888"/>
                  <a:pt x="76528" y="60720"/>
                  <a:pt x="76528" y="60529"/>
                </a:cubicBezTo>
                <a:cubicBezTo>
                  <a:pt x="76528" y="52469"/>
                  <a:pt x="72223" y="45391"/>
                  <a:pt x="65814" y="41493"/>
                </a:cubicBezTo>
                <a:close/>
              </a:path>
            </a:pathLst>
          </a:custGeom>
          <a:solidFill>
            <a:srgbClr val="C5A06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3"/>
          <p:cNvSpPr/>
          <p:nvPr/>
        </p:nvSpPr>
        <p:spPr>
          <a:xfrm>
            <a:off x="6562889" y="6314651"/>
            <a:ext cx="1880402" cy="1749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4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Recursive relationship (parent_id)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24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Constraint Analysis</a:t>
            </a:r>
            <a:endParaRPr b="0" i="0" sz="1600" u="none" cap="none" strike="noStrike"/>
          </a:p>
        </p:txBody>
      </p:sp>
      <p:sp>
        <p:nvSpPr>
          <p:cNvPr id="701" name="Google Shape;701;p24"/>
          <p:cNvSpPr/>
          <p:nvPr/>
        </p:nvSpPr>
        <p:spPr>
          <a:xfrm>
            <a:off x="366677" y="660018"/>
            <a:ext cx="11678653" cy="4400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65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Participation Constraints</a:t>
            </a:r>
            <a:endParaRPr b="0" i="0" sz="1600" u="none" cap="none" strike="noStrike"/>
          </a:p>
        </p:txBody>
      </p:sp>
      <p:sp>
        <p:nvSpPr>
          <p:cNvPr id="702" name="Google Shape;702;p24"/>
          <p:cNvSpPr/>
          <p:nvPr/>
        </p:nvSpPr>
        <p:spPr>
          <a:xfrm>
            <a:off x="366677" y="1246701"/>
            <a:ext cx="880024" cy="36668"/>
          </a:xfrm>
          <a:custGeom>
            <a:rect b="b" l="l" r="r" t="t"/>
            <a:pathLst>
              <a:path extrusionOk="0" h="36668" w="880024">
                <a:moveTo>
                  <a:pt x="0" y="0"/>
                </a:moveTo>
                <a:lnTo>
                  <a:pt x="880024" y="0"/>
                </a:lnTo>
                <a:lnTo>
                  <a:pt x="880024" y="36668"/>
                </a:lnTo>
                <a:lnTo>
                  <a:pt x="0" y="36668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grpSp>
        <p:nvGrpSpPr>
          <p:cNvPr id="703" name="Google Shape;703;p24"/>
          <p:cNvGrpSpPr/>
          <p:nvPr/>
        </p:nvGrpSpPr>
        <p:grpSpPr>
          <a:xfrm>
            <a:off x="371251" y="1434629"/>
            <a:ext cx="5628487" cy="2997758"/>
            <a:chOff x="371260" y="1434623"/>
            <a:chExt cx="5628487" cy="3235922"/>
          </a:xfrm>
        </p:grpSpPr>
        <p:sp>
          <p:nvSpPr>
            <p:cNvPr id="704" name="Google Shape;704;p24"/>
            <p:cNvSpPr/>
            <p:nvPr/>
          </p:nvSpPr>
          <p:spPr>
            <a:xfrm>
              <a:off x="371260" y="1434623"/>
              <a:ext cx="5628487" cy="3235922"/>
            </a:xfrm>
            <a:custGeom>
              <a:rect b="b" l="l" r="r" t="t"/>
              <a:pathLst>
                <a:path extrusionOk="0" h="3235922" w="5628487">
                  <a:moveTo>
                    <a:pt x="73326" y="0"/>
                  </a:moveTo>
                  <a:lnTo>
                    <a:pt x="5555161" y="0"/>
                  </a:lnTo>
                  <a:cubicBezTo>
                    <a:pt x="5595658" y="0"/>
                    <a:pt x="5628487" y="32829"/>
                    <a:pt x="5628487" y="73326"/>
                  </a:cubicBezTo>
                  <a:lnTo>
                    <a:pt x="5628487" y="3162596"/>
                  </a:lnTo>
                  <a:cubicBezTo>
                    <a:pt x="5628487" y="3203093"/>
                    <a:pt x="5595658" y="3235922"/>
                    <a:pt x="5555161" y="3235922"/>
                  </a:cubicBezTo>
                  <a:lnTo>
                    <a:pt x="73326" y="3235922"/>
                  </a:lnTo>
                  <a:cubicBezTo>
                    <a:pt x="32829" y="3235922"/>
                    <a:pt x="0" y="3203093"/>
                    <a:pt x="0" y="3162596"/>
                  </a:cubicBezTo>
                  <a:lnTo>
                    <a:pt x="0" y="73326"/>
                  </a:lnTo>
                  <a:cubicBezTo>
                    <a:pt x="0" y="32856"/>
                    <a:pt x="32856" y="0"/>
                    <a:pt x="73326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559182" y="1622544"/>
              <a:ext cx="440012" cy="440012"/>
            </a:xfrm>
            <a:custGeom>
              <a:rect b="b" l="l" r="r" t="t"/>
              <a:pathLst>
                <a:path extrusionOk="0" h="440012" w="440012">
                  <a:moveTo>
                    <a:pt x="73337" y="0"/>
                  </a:moveTo>
                  <a:lnTo>
                    <a:pt x="366675" y="0"/>
                  </a:lnTo>
                  <a:cubicBezTo>
                    <a:pt x="407151" y="0"/>
                    <a:pt x="440012" y="32861"/>
                    <a:pt x="440012" y="73337"/>
                  </a:cubicBezTo>
                  <a:lnTo>
                    <a:pt x="440012" y="366675"/>
                  </a:lnTo>
                  <a:cubicBezTo>
                    <a:pt x="440012" y="407178"/>
                    <a:pt x="407178" y="440012"/>
                    <a:pt x="366675" y="440012"/>
                  </a:cubicBezTo>
                  <a:lnTo>
                    <a:pt x="73337" y="440012"/>
                  </a:lnTo>
                  <a:cubicBezTo>
                    <a:pt x="32861" y="440012"/>
                    <a:pt x="0" y="407151"/>
                    <a:pt x="0" y="366675"/>
                  </a:cubicBezTo>
                  <a:lnTo>
                    <a:pt x="0" y="73337"/>
                  </a:lnTo>
                  <a:cubicBezTo>
                    <a:pt x="0" y="32861"/>
                    <a:pt x="32861" y="0"/>
                    <a:pt x="73337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710436" y="1750881"/>
              <a:ext cx="137504" cy="183338"/>
            </a:xfrm>
            <a:custGeom>
              <a:rect b="b" l="l" r="r" t="t"/>
              <a:pathLst>
                <a:path extrusionOk="0" h="183338" w="137504">
                  <a:moveTo>
                    <a:pt x="89485" y="23920"/>
                  </a:moveTo>
                  <a:cubicBezTo>
                    <a:pt x="93209" y="18799"/>
                    <a:pt x="92063" y="11638"/>
                    <a:pt x="86942" y="7914"/>
                  </a:cubicBezTo>
                  <a:cubicBezTo>
                    <a:pt x="81822" y="4190"/>
                    <a:pt x="74660" y="5335"/>
                    <a:pt x="70936" y="10456"/>
                  </a:cubicBezTo>
                  <a:lnTo>
                    <a:pt x="32979" y="62629"/>
                  </a:lnTo>
                  <a:lnTo>
                    <a:pt x="19551" y="49201"/>
                  </a:lnTo>
                  <a:cubicBezTo>
                    <a:pt x="15075" y="44725"/>
                    <a:pt x="7806" y="44725"/>
                    <a:pt x="3330" y="49201"/>
                  </a:cubicBezTo>
                  <a:cubicBezTo>
                    <a:pt x="-1146" y="53677"/>
                    <a:pt x="-1146" y="60946"/>
                    <a:pt x="3330" y="65422"/>
                  </a:cubicBezTo>
                  <a:lnTo>
                    <a:pt x="26247" y="88339"/>
                  </a:lnTo>
                  <a:cubicBezTo>
                    <a:pt x="28611" y="90702"/>
                    <a:pt x="31905" y="91920"/>
                    <a:pt x="35235" y="91669"/>
                  </a:cubicBezTo>
                  <a:cubicBezTo>
                    <a:pt x="38566" y="91419"/>
                    <a:pt x="41645" y="89700"/>
                    <a:pt x="43614" y="86978"/>
                  </a:cubicBezTo>
                  <a:lnTo>
                    <a:pt x="89449" y="23956"/>
                  </a:lnTo>
                  <a:close/>
                  <a:moveTo>
                    <a:pt x="135319" y="72619"/>
                  </a:moveTo>
                  <a:cubicBezTo>
                    <a:pt x="139044" y="67499"/>
                    <a:pt x="137898" y="60337"/>
                    <a:pt x="132777" y="56613"/>
                  </a:cubicBezTo>
                  <a:cubicBezTo>
                    <a:pt x="127656" y="52889"/>
                    <a:pt x="120495" y="54035"/>
                    <a:pt x="116771" y="59155"/>
                  </a:cubicBezTo>
                  <a:lnTo>
                    <a:pt x="55897" y="142839"/>
                  </a:lnTo>
                  <a:lnTo>
                    <a:pt x="31010" y="117952"/>
                  </a:lnTo>
                  <a:cubicBezTo>
                    <a:pt x="26534" y="113476"/>
                    <a:pt x="19265" y="113476"/>
                    <a:pt x="14789" y="117952"/>
                  </a:cubicBezTo>
                  <a:cubicBezTo>
                    <a:pt x="10313" y="122428"/>
                    <a:pt x="10313" y="129698"/>
                    <a:pt x="14789" y="134174"/>
                  </a:cubicBezTo>
                  <a:lnTo>
                    <a:pt x="49165" y="168550"/>
                  </a:lnTo>
                  <a:cubicBezTo>
                    <a:pt x="51528" y="170913"/>
                    <a:pt x="54822" y="172130"/>
                    <a:pt x="58153" y="171880"/>
                  </a:cubicBezTo>
                  <a:cubicBezTo>
                    <a:pt x="61483" y="171629"/>
                    <a:pt x="64562" y="169910"/>
                    <a:pt x="66532" y="167189"/>
                  </a:cubicBezTo>
                  <a:lnTo>
                    <a:pt x="135284" y="726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1109197" y="1695880"/>
              <a:ext cx="1879218" cy="293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2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Total Participation</a:t>
              </a:r>
              <a:endParaRPr b="0" i="0" sz="1600" u="none" cap="none" strike="noStrike"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559182" y="2209227"/>
              <a:ext cx="5325979" cy="47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Every entity in the parent set </a:t>
              </a:r>
              <a:r>
                <a:rPr b="1" i="0" lang="en-US" sz="115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must</a:t>
              </a:r>
              <a:r>
                <a:rPr b="0" i="0" lang="en-US" sz="115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participate in the relationship. Represented by double lines in ER notation.</a:t>
              </a:r>
              <a:endParaRPr b="0" i="0" sz="1600" u="none" cap="none" strike="noStrike"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568349" y="2832577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</p:sp>
        <p:sp>
          <p:nvSpPr>
            <p:cNvPr id="710" name="Google Shape;710;p24"/>
            <p:cNvSpPr/>
            <p:nvPr/>
          </p:nvSpPr>
          <p:spPr>
            <a:xfrm>
              <a:off x="724186" y="2832577"/>
              <a:ext cx="1631711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 → Order_Items</a:t>
              </a:r>
              <a:endParaRPr b="0" i="0" sz="1600" u="none" cap="none" strike="noStrike"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5134691" y="2850911"/>
              <a:ext cx="678352" cy="220006"/>
            </a:xfrm>
            <a:custGeom>
              <a:rect b="b" l="l" r="r" t="t"/>
              <a:pathLst>
                <a:path extrusionOk="0" h="220006" w="678352">
                  <a:moveTo>
                    <a:pt x="36668" y="0"/>
                  </a:moveTo>
                  <a:lnTo>
                    <a:pt x="641683" y="0"/>
                  </a:lnTo>
                  <a:cubicBezTo>
                    <a:pt x="661921" y="0"/>
                    <a:pt x="678352" y="16431"/>
                    <a:pt x="678352" y="36668"/>
                  </a:cubicBezTo>
                  <a:lnTo>
                    <a:pt x="678352" y="183338"/>
                  </a:lnTo>
                  <a:cubicBezTo>
                    <a:pt x="678352" y="203589"/>
                    <a:pt x="661935" y="220006"/>
                    <a:pt x="641683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5134691" y="2850911"/>
              <a:ext cx="733353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REQUIRED</a:t>
              </a:r>
              <a:endParaRPr b="0" i="0" sz="1600" u="none" cap="none" strike="noStrike"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724186" y="3125919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Every order must have at least one item. Empty orders are not allowed.</a:t>
              </a:r>
              <a:endParaRPr b="0" i="0" sz="1600" u="none" cap="none" strike="noStrike"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568349" y="3419260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</p:sp>
        <p:sp>
          <p:nvSpPr>
            <p:cNvPr id="715" name="Google Shape;715;p24"/>
            <p:cNvSpPr/>
            <p:nvPr/>
          </p:nvSpPr>
          <p:spPr>
            <a:xfrm>
              <a:off x="724186" y="3419260"/>
              <a:ext cx="1576710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Product → Inventory</a:t>
              </a:r>
              <a:endParaRPr b="0" i="0" sz="1600" u="none" cap="none" strike="noStrike"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5134691" y="3437594"/>
              <a:ext cx="678352" cy="220006"/>
            </a:xfrm>
            <a:custGeom>
              <a:rect b="b" l="l" r="r" t="t"/>
              <a:pathLst>
                <a:path extrusionOk="0" h="220006" w="678352">
                  <a:moveTo>
                    <a:pt x="36668" y="0"/>
                  </a:moveTo>
                  <a:lnTo>
                    <a:pt x="641683" y="0"/>
                  </a:lnTo>
                  <a:cubicBezTo>
                    <a:pt x="661921" y="0"/>
                    <a:pt x="678352" y="16431"/>
                    <a:pt x="678352" y="36668"/>
                  </a:cubicBezTo>
                  <a:lnTo>
                    <a:pt x="678352" y="183338"/>
                  </a:lnTo>
                  <a:cubicBezTo>
                    <a:pt x="678352" y="203589"/>
                    <a:pt x="661935" y="220006"/>
                    <a:pt x="641683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5134691" y="3437594"/>
              <a:ext cx="733353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REQUIRED</a:t>
              </a:r>
              <a:endParaRPr b="0" i="0" sz="1600" u="none" cap="none" strike="noStrike"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724186" y="3712602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Every product must have an inventory record for stock tracking.</a:t>
              </a:r>
              <a:endParaRPr b="0" i="0" sz="1600" u="none" cap="none" strike="noStrike"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568349" y="4005943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</p:sp>
        <p:sp>
          <p:nvSpPr>
            <p:cNvPr id="720" name="Google Shape;720;p24"/>
            <p:cNvSpPr/>
            <p:nvPr/>
          </p:nvSpPr>
          <p:spPr>
            <a:xfrm>
              <a:off x="724186" y="4005943"/>
              <a:ext cx="1769215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Categories → Products</a:t>
              </a:r>
              <a:endParaRPr b="0" i="0" sz="1600" u="none" cap="none" strike="noStrike"/>
            </a:p>
          </p:txBody>
        </p:sp>
        <p:sp>
          <p:nvSpPr>
            <p:cNvPr id="721" name="Google Shape;721;p24"/>
            <p:cNvSpPr/>
            <p:nvPr/>
          </p:nvSpPr>
          <p:spPr>
            <a:xfrm>
              <a:off x="5134691" y="4024277"/>
              <a:ext cx="678352" cy="220006"/>
            </a:xfrm>
            <a:custGeom>
              <a:rect b="b" l="l" r="r" t="t"/>
              <a:pathLst>
                <a:path extrusionOk="0" h="220006" w="678352">
                  <a:moveTo>
                    <a:pt x="36668" y="0"/>
                  </a:moveTo>
                  <a:lnTo>
                    <a:pt x="641683" y="0"/>
                  </a:lnTo>
                  <a:cubicBezTo>
                    <a:pt x="661921" y="0"/>
                    <a:pt x="678352" y="16431"/>
                    <a:pt x="678352" y="36668"/>
                  </a:cubicBezTo>
                  <a:lnTo>
                    <a:pt x="678352" y="183338"/>
                  </a:lnTo>
                  <a:cubicBezTo>
                    <a:pt x="678352" y="203589"/>
                    <a:pt x="661935" y="220006"/>
                    <a:pt x="641683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24"/>
            <p:cNvSpPr/>
            <p:nvPr/>
          </p:nvSpPr>
          <p:spPr>
            <a:xfrm>
              <a:off x="5134691" y="4024277"/>
              <a:ext cx="733353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4C8B8E"/>
                  </a:solidFill>
                  <a:latin typeface="Liter"/>
                  <a:ea typeface="Liter"/>
                  <a:cs typeface="Liter"/>
                  <a:sym typeface="Liter"/>
                </a:rPr>
                <a:t>REQUIRED</a:t>
              </a:r>
              <a:endParaRPr b="0" i="0" sz="1600" u="none" cap="none" strike="noStrike"/>
            </a:p>
          </p:txBody>
        </p:sp>
        <p:sp>
          <p:nvSpPr>
            <p:cNvPr id="723" name="Google Shape;723;p24"/>
            <p:cNvSpPr/>
            <p:nvPr/>
          </p:nvSpPr>
          <p:spPr>
            <a:xfrm>
              <a:off x="724186" y="4299284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Every product must belong to a category (category_id NOT NULL).</a:t>
              </a:r>
              <a:endParaRPr b="0" i="0" sz="1600" u="none" cap="none" strike="noStrike"/>
            </a:p>
          </p:txBody>
        </p:sp>
      </p:grpSp>
      <p:grpSp>
        <p:nvGrpSpPr>
          <p:cNvPr id="724" name="Google Shape;724;p24"/>
          <p:cNvGrpSpPr/>
          <p:nvPr/>
        </p:nvGrpSpPr>
        <p:grpSpPr>
          <a:xfrm>
            <a:off x="371247" y="4579082"/>
            <a:ext cx="5628487" cy="2025889"/>
            <a:chOff x="371260" y="4826382"/>
            <a:chExt cx="5628487" cy="2025889"/>
          </a:xfrm>
        </p:grpSpPr>
        <p:sp>
          <p:nvSpPr>
            <p:cNvPr id="725" name="Google Shape;725;p24"/>
            <p:cNvSpPr/>
            <p:nvPr/>
          </p:nvSpPr>
          <p:spPr>
            <a:xfrm>
              <a:off x="371260" y="4826382"/>
              <a:ext cx="5628487" cy="2025889"/>
            </a:xfrm>
            <a:custGeom>
              <a:rect b="b" l="l" r="r" t="t"/>
              <a:pathLst>
                <a:path extrusionOk="0" h="2025889" w="5628487">
                  <a:moveTo>
                    <a:pt x="73337" y="0"/>
                  </a:moveTo>
                  <a:lnTo>
                    <a:pt x="5555150" y="0"/>
                  </a:lnTo>
                  <a:cubicBezTo>
                    <a:pt x="5595653" y="0"/>
                    <a:pt x="5628487" y="32834"/>
                    <a:pt x="5628487" y="73337"/>
                  </a:cubicBezTo>
                  <a:lnTo>
                    <a:pt x="5628487" y="1952552"/>
                  </a:lnTo>
                  <a:cubicBezTo>
                    <a:pt x="5628487" y="1993055"/>
                    <a:pt x="5595653" y="2025889"/>
                    <a:pt x="5555150" y="2025889"/>
                  </a:cubicBezTo>
                  <a:lnTo>
                    <a:pt x="73337" y="2025889"/>
                  </a:lnTo>
                  <a:cubicBezTo>
                    <a:pt x="32834" y="2025889"/>
                    <a:pt x="0" y="1993055"/>
                    <a:pt x="0" y="1952552"/>
                  </a:cubicBezTo>
                  <a:lnTo>
                    <a:pt x="0" y="73337"/>
                  </a:lnTo>
                  <a:cubicBezTo>
                    <a:pt x="0" y="32834"/>
                    <a:pt x="32834" y="0"/>
                    <a:pt x="73337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24"/>
            <p:cNvSpPr/>
            <p:nvPr/>
          </p:nvSpPr>
          <p:spPr>
            <a:xfrm>
              <a:off x="545432" y="5014304"/>
              <a:ext cx="183338" cy="183338"/>
            </a:xfrm>
            <a:custGeom>
              <a:rect b="b" l="l" r="r" t="t"/>
              <a:pathLst>
                <a:path extrusionOk="0" h="183338" w="183338">
                  <a:moveTo>
                    <a:pt x="120316" y="126045"/>
                  </a:moveTo>
                  <a:cubicBezTo>
                    <a:pt x="155121" y="126045"/>
                    <a:pt x="183338" y="97828"/>
                    <a:pt x="183338" y="63023"/>
                  </a:cubicBezTo>
                  <a:cubicBezTo>
                    <a:pt x="183338" y="28217"/>
                    <a:pt x="155121" y="0"/>
                    <a:pt x="120316" y="0"/>
                  </a:cubicBezTo>
                  <a:cubicBezTo>
                    <a:pt x="85510" y="0"/>
                    <a:pt x="57293" y="28217"/>
                    <a:pt x="57293" y="63023"/>
                  </a:cubicBezTo>
                  <a:cubicBezTo>
                    <a:pt x="57293" y="69719"/>
                    <a:pt x="58332" y="76200"/>
                    <a:pt x="60265" y="82252"/>
                  </a:cubicBezTo>
                  <a:lnTo>
                    <a:pt x="2507" y="140010"/>
                  </a:lnTo>
                  <a:cubicBezTo>
                    <a:pt x="895" y="141622"/>
                    <a:pt x="0" y="143806"/>
                    <a:pt x="0" y="146098"/>
                  </a:cubicBezTo>
                  <a:lnTo>
                    <a:pt x="0" y="174744"/>
                  </a:lnTo>
                  <a:cubicBezTo>
                    <a:pt x="0" y="179507"/>
                    <a:pt x="3831" y="183338"/>
                    <a:pt x="8594" y="183338"/>
                  </a:cubicBezTo>
                  <a:lnTo>
                    <a:pt x="37241" y="183338"/>
                  </a:lnTo>
                  <a:cubicBezTo>
                    <a:pt x="42003" y="183338"/>
                    <a:pt x="45835" y="179507"/>
                    <a:pt x="45835" y="174744"/>
                  </a:cubicBezTo>
                  <a:lnTo>
                    <a:pt x="45835" y="160421"/>
                  </a:lnTo>
                  <a:lnTo>
                    <a:pt x="60158" y="160421"/>
                  </a:lnTo>
                  <a:cubicBezTo>
                    <a:pt x="64920" y="160421"/>
                    <a:pt x="68752" y="156590"/>
                    <a:pt x="68752" y="151827"/>
                  </a:cubicBezTo>
                  <a:lnTo>
                    <a:pt x="68752" y="137504"/>
                  </a:lnTo>
                  <a:lnTo>
                    <a:pt x="83075" y="137504"/>
                  </a:lnTo>
                  <a:cubicBezTo>
                    <a:pt x="85367" y="137504"/>
                    <a:pt x="87551" y="136609"/>
                    <a:pt x="89163" y="134997"/>
                  </a:cubicBezTo>
                  <a:lnTo>
                    <a:pt x="101087" y="123073"/>
                  </a:lnTo>
                  <a:cubicBezTo>
                    <a:pt x="107138" y="125007"/>
                    <a:pt x="113620" y="126045"/>
                    <a:pt x="120316" y="126045"/>
                  </a:cubicBezTo>
                  <a:close/>
                  <a:moveTo>
                    <a:pt x="134639" y="34376"/>
                  </a:moveTo>
                  <a:cubicBezTo>
                    <a:pt x="142544" y="34376"/>
                    <a:pt x="148962" y="40794"/>
                    <a:pt x="148962" y="48699"/>
                  </a:cubicBezTo>
                  <a:cubicBezTo>
                    <a:pt x="148962" y="56604"/>
                    <a:pt x="142544" y="63023"/>
                    <a:pt x="134639" y="63023"/>
                  </a:cubicBezTo>
                  <a:cubicBezTo>
                    <a:pt x="126734" y="63023"/>
                    <a:pt x="120316" y="56604"/>
                    <a:pt x="120316" y="48699"/>
                  </a:cubicBezTo>
                  <a:cubicBezTo>
                    <a:pt x="120316" y="40794"/>
                    <a:pt x="126734" y="34376"/>
                    <a:pt x="134639" y="34376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24"/>
            <p:cNvSpPr/>
            <p:nvPr/>
          </p:nvSpPr>
          <p:spPr>
            <a:xfrm>
              <a:off x="861690" y="4977636"/>
              <a:ext cx="1365871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44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Key Constraints</a:t>
              </a:r>
              <a:endParaRPr b="0" i="0" sz="1600" u="none" cap="none" strike="noStrike"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522514" y="5344313"/>
              <a:ext cx="2603405" cy="623350"/>
            </a:xfrm>
            <a:custGeom>
              <a:rect b="b" l="l" r="r" t="t"/>
              <a:pathLst>
                <a:path extrusionOk="0" h="623350" w="2603405">
                  <a:moveTo>
                    <a:pt x="36665" y="0"/>
                  </a:moveTo>
                  <a:lnTo>
                    <a:pt x="2566739" y="0"/>
                  </a:lnTo>
                  <a:cubicBezTo>
                    <a:pt x="2586989" y="0"/>
                    <a:pt x="2603405" y="16416"/>
                    <a:pt x="2603405" y="36665"/>
                  </a:cubicBezTo>
                  <a:lnTo>
                    <a:pt x="2603405" y="586685"/>
                  </a:lnTo>
                  <a:cubicBezTo>
                    <a:pt x="2603405" y="606935"/>
                    <a:pt x="2586989" y="623350"/>
                    <a:pt x="2566739" y="623350"/>
                  </a:cubicBezTo>
                  <a:lnTo>
                    <a:pt x="36665" y="623350"/>
                  </a:lnTo>
                  <a:cubicBezTo>
                    <a:pt x="16416" y="623350"/>
                    <a:pt x="0" y="606935"/>
                    <a:pt x="0" y="586685"/>
                  </a:cubicBezTo>
                  <a:lnTo>
                    <a:pt x="0" y="36665"/>
                  </a:lnTo>
                  <a:cubicBezTo>
                    <a:pt x="0" y="16429"/>
                    <a:pt x="16429" y="0"/>
                    <a:pt x="36665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632517" y="5454316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Primary Keys</a:t>
              </a:r>
              <a:endParaRPr b="0" i="0" sz="1600" u="none" cap="none" strike="noStrike"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632517" y="5674322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Auto-increment integers</a:t>
              </a:r>
              <a:endParaRPr b="0" i="0" sz="1600" u="none" cap="none" strike="noStrike"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3239932" y="5344313"/>
              <a:ext cx="2603405" cy="623350"/>
            </a:xfrm>
            <a:custGeom>
              <a:rect b="b" l="l" r="r" t="t"/>
              <a:pathLst>
                <a:path extrusionOk="0" h="623350" w="2603405">
                  <a:moveTo>
                    <a:pt x="36665" y="0"/>
                  </a:moveTo>
                  <a:lnTo>
                    <a:pt x="2566739" y="0"/>
                  </a:lnTo>
                  <a:cubicBezTo>
                    <a:pt x="2586989" y="0"/>
                    <a:pt x="2603405" y="16416"/>
                    <a:pt x="2603405" y="36665"/>
                  </a:cubicBezTo>
                  <a:lnTo>
                    <a:pt x="2603405" y="586685"/>
                  </a:lnTo>
                  <a:cubicBezTo>
                    <a:pt x="2603405" y="606935"/>
                    <a:pt x="2586989" y="623350"/>
                    <a:pt x="2566739" y="623350"/>
                  </a:cubicBezTo>
                  <a:lnTo>
                    <a:pt x="36665" y="623350"/>
                  </a:lnTo>
                  <a:cubicBezTo>
                    <a:pt x="16416" y="623350"/>
                    <a:pt x="0" y="606935"/>
                    <a:pt x="0" y="586685"/>
                  </a:cubicBezTo>
                  <a:lnTo>
                    <a:pt x="0" y="36665"/>
                  </a:lnTo>
                  <a:cubicBezTo>
                    <a:pt x="0" y="16429"/>
                    <a:pt x="16429" y="0"/>
                    <a:pt x="36665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3349935" y="5454316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Foreign Keys</a:t>
              </a:r>
              <a:endParaRPr b="0" i="0" sz="1600" u="none" cap="none" strike="noStrike"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3349935" y="5674322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CASCADE/SET NULL</a:t>
              </a:r>
              <a:endParaRPr b="0" i="0" sz="1600" u="none" cap="none" strike="noStrike"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522514" y="6077666"/>
              <a:ext cx="2603405" cy="623350"/>
            </a:xfrm>
            <a:custGeom>
              <a:rect b="b" l="l" r="r" t="t"/>
              <a:pathLst>
                <a:path extrusionOk="0" h="623350" w="2603405">
                  <a:moveTo>
                    <a:pt x="36665" y="0"/>
                  </a:moveTo>
                  <a:lnTo>
                    <a:pt x="2566739" y="0"/>
                  </a:lnTo>
                  <a:cubicBezTo>
                    <a:pt x="2586989" y="0"/>
                    <a:pt x="2603405" y="16416"/>
                    <a:pt x="2603405" y="36665"/>
                  </a:cubicBezTo>
                  <a:lnTo>
                    <a:pt x="2603405" y="586685"/>
                  </a:lnTo>
                  <a:cubicBezTo>
                    <a:pt x="2603405" y="606935"/>
                    <a:pt x="2586989" y="623350"/>
                    <a:pt x="2566739" y="623350"/>
                  </a:cubicBezTo>
                  <a:lnTo>
                    <a:pt x="36665" y="623350"/>
                  </a:lnTo>
                  <a:cubicBezTo>
                    <a:pt x="16416" y="623350"/>
                    <a:pt x="0" y="606935"/>
                    <a:pt x="0" y="586685"/>
                  </a:cubicBezTo>
                  <a:lnTo>
                    <a:pt x="0" y="36665"/>
                  </a:lnTo>
                  <a:cubicBezTo>
                    <a:pt x="0" y="16429"/>
                    <a:pt x="16429" y="0"/>
                    <a:pt x="36665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632517" y="6187669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Unique Keys</a:t>
              </a:r>
              <a:endParaRPr b="0" i="0" sz="1600" u="none" cap="none" strike="noStrike"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632517" y="6407675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Prevent duplicates</a:t>
              </a:r>
              <a:endParaRPr b="0" i="0" sz="1600" u="none" cap="none" strike="noStrike"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3239932" y="6077666"/>
              <a:ext cx="2603405" cy="623350"/>
            </a:xfrm>
            <a:custGeom>
              <a:rect b="b" l="l" r="r" t="t"/>
              <a:pathLst>
                <a:path extrusionOk="0" h="623350" w="2603405">
                  <a:moveTo>
                    <a:pt x="36665" y="0"/>
                  </a:moveTo>
                  <a:lnTo>
                    <a:pt x="2566739" y="0"/>
                  </a:lnTo>
                  <a:cubicBezTo>
                    <a:pt x="2586989" y="0"/>
                    <a:pt x="2603405" y="16416"/>
                    <a:pt x="2603405" y="36665"/>
                  </a:cubicBezTo>
                  <a:lnTo>
                    <a:pt x="2603405" y="586685"/>
                  </a:lnTo>
                  <a:cubicBezTo>
                    <a:pt x="2603405" y="606935"/>
                    <a:pt x="2586989" y="623350"/>
                    <a:pt x="2566739" y="623350"/>
                  </a:cubicBezTo>
                  <a:lnTo>
                    <a:pt x="36665" y="623350"/>
                  </a:lnTo>
                  <a:cubicBezTo>
                    <a:pt x="16416" y="623350"/>
                    <a:pt x="0" y="606935"/>
                    <a:pt x="0" y="586685"/>
                  </a:cubicBezTo>
                  <a:lnTo>
                    <a:pt x="0" y="36665"/>
                  </a:lnTo>
                  <a:cubicBezTo>
                    <a:pt x="0" y="16429"/>
                    <a:pt x="16429" y="0"/>
                    <a:pt x="36665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24"/>
            <p:cNvSpPr/>
            <p:nvPr/>
          </p:nvSpPr>
          <p:spPr>
            <a:xfrm>
              <a:off x="3349935" y="6187669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Check Constraints</a:t>
              </a:r>
              <a:endParaRPr b="0" i="0" sz="1600" u="none" cap="none" strike="noStrike"/>
            </a:p>
          </p:txBody>
        </p:sp>
        <p:sp>
          <p:nvSpPr>
            <p:cNvPr id="739" name="Google Shape;739;p24"/>
            <p:cNvSpPr/>
            <p:nvPr/>
          </p:nvSpPr>
          <p:spPr>
            <a:xfrm>
              <a:off x="3349935" y="6407675"/>
              <a:ext cx="244756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Data validation</a:t>
              </a:r>
              <a:endParaRPr b="0" i="0" sz="1600" u="none" cap="none" strike="noStrike"/>
            </a:p>
          </p:txBody>
        </p:sp>
      </p:grpSp>
      <p:grpSp>
        <p:nvGrpSpPr>
          <p:cNvPr id="740" name="Google Shape;740;p24"/>
          <p:cNvGrpSpPr/>
          <p:nvPr/>
        </p:nvGrpSpPr>
        <p:grpSpPr>
          <a:xfrm>
            <a:off x="6191111" y="1434667"/>
            <a:ext cx="5628487" cy="3532449"/>
            <a:chOff x="6191178" y="1434623"/>
            <a:chExt cx="5628487" cy="3895940"/>
          </a:xfrm>
        </p:grpSpPr>
        <p:sp>
          <p:nvSpPr>
            <p:cNvPr id="741" name="Google Shape;741;p24"/>
            <p:cNvSpPr/>
            <p:nvPr/>
          </p:nvSpPr>
          <p:spPr>
            <a:xfrm>
              <a:off x="6191178" y="1434623"/>
              <a:ext cx="5628487" cy="3895940"/>
            </a:xfrm>
            <a:custGeom>
              <a:rect b="b" l="l" r="r" t="t"/>
              <a:pathLst>
                <a:path extrusionOk="0" h="3895940" w="5628487">
                  <a:moveTo>
                    <a:pt x="73322" y="0"/>
                  </a:moveTo>
                  <a:lnTo>
                    <a:pt x="5555166" y="0"/>
                  </a:lnTo>
                  <a:cubicBezTo>
                    <a:pt x="5595660" y="0"/>
                    <a:pt x="5628487" y="32827"/>
                    <a:pt x="5628487" y="73322"/>
                  </a:cubicBezTo>
                  <a:lnTo>
                    <a:pt x="5628487" y="3822618"/>
                  </a:lnTo>
                  <a:cubicBezTo>
                    <a:pt x="5628487" y="3863113"/>
                    <a:pt x="5595660" y="3895940"/>
                    <a:pt x="5555166" y="3895940"/>
                  </a:cubicBezTo>
                  <a:lnTo>
                    <a:pt x="73322" y="3895940"/>
                  </a:lnTo>
                  <a:cubicBezTo>
                    <a:pt x="32827" y="3895940"/>
                    <a:pt x="0" y="3863113"/>
                    <a:pt x="0" y="3822618"/>
                  </a:cubicBezTo>
                  <a:lnTo>
                    <a:pt x="0" y="73322"/>
                  </a:lnTo>
                  <a:cubicBezTo>
                    <a:pt x="0" y="32854"/>
                    <a:pt x="32854" y="0"/>
                    <a:pt x="73322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24"/>
            <p:cNvSpPr/>
            <p:nvPr/>
          </p:nvSpPr>
          <p:spPr>
            <a:xfrm>
              <a:off x="6379100" y="1622544"/>
              <a:ext cx="440012" cy="440012"/>
            </a:xfrm>
            <a:custGeom>
              <a:rect b="b" l="l" r="r" t="t"/>
              <a:pathLst>
                <a:path extrusionOk="0" h="440012" w="440012">
                  <a:moveTo>
                    <a:pt x="73337" y="0"/>
                  </a:moveTo>
                  <a:lnTo>
                    <a:pt x="366675" y="0"/>
                  </a:lnTo>
                  <a:cubicBezTo>
                    <a:pt x="407151" y="0"/>
                    <a:pt x="440012" y="32861"/>
                    <a:pt x="440012" y="73337"/>
                  </a:cubicBezTo>
                  <a:lnTo>
                    <a:pt x="440012" y="366675"/>
                  </a:lnTo>
                  <a:cubicBezTo>
                    <a:pt x="440012" y="407178"/>
                    <a:pt x="407178" y="440012"/>
                    <a:pt x="366675" y="440012"/>
                  </a:cubicBezTo>
                  <a:lnTo>
                    <a:pt x="73337" y="440012"/>
                  </a:lnTo>
                  <a:cubicBezTo>
                    <a:pt x="32861" y="440012"/>
                    <a:pt x="0" y="407151"/>
                    <a:pt x="0" y="366675"/>
                  </a:cubicBezTo>
                  <a:lnTo>
                    <a:pt x="0" y="73337"/>
                  </a:lnTo>
                  <a:cubicBezTo>
                    <a:pt x="0" y="32861"/>
                    <a:pt x="32861" y="0"/>
                    <a:pt x="73337" y="0"/>
                  </a:cubicBez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24"/>
            <p:cNvSpPr/>
            <p:nvPr/>
          </p:nvSpPr>
          <p:spPr>
            <a:xfrm>
              <a:off x="6518896" y="1750881"/>
              <a:ext cx="160421" cy="183338"/>
            </a:xfrm>
            <a:custGeom>
              <a:rect b="b" l="l" r="r" t="t"/>
              <a:pathLst>
                <a:path extrusionOk="0" h="183338" w="160421">
                  <a:moveTo>
                    <a:pt x="155694" y="25102"/>
                  </a:moveTo>
                  <a:cubicBezTo>
                    <a:pt x="160815" y="28826"/>
                    <a:pt x="161961" y="35987"/>
                    <a:pt x="158237" y="41108"/>
                  </a:cubicBezTo>
                  <a:lnTo>
                    <a:pt x="66568" y="167153"/>
                  </a:lnTo>
                  <a:cubicBezTo>
                    <a:pt x="64598" y="169874"/>
                    <a:pt x="61554" y="171557"/>
                    <a:pt x="58188" y="171844"/>
                  </a:cubicBezTo>
                  <a:cubicBezTo>
                    <a:pt x="54822" y="172130"/>
                    <a:pt x="51564" y="170877"/>
                    <a:pt x="49201" y="168514"/>
                  </a:cubicBezTo>
                  <a:lnTo>
                    <a:pt x="3366" y="122679"/>
                  </a:lnTo>
                  <a:cubicBezTo>
                    <a:pt x="-1110" y="118203"/>
                    <a:pt x="-1110" y="110934"/>
                    <a:pt x="3366" y="106458"/>
                  </a:cubicBezTo>
                  <a:cubicBezTo>
                    <a:pt x="7842" y="101982"/>
                    <a:pt x="15111" y="101982"/>
                    <a:pt x="19587" y="106458"/>
                  </a:cubicBezTo>
                  <a:lnTo>
                    <a:pt x="55933" y="142803"/>
                  </a:lnTo>
                  <a:lnTo>
                    <a:pt x="139724" y="27608"/>
                  </a:lnTo>
                  <a:cubicBezTo>
                    <a:pt x="143448" y="22488"/>
                    <a:pt x="150610" y="21342"/>
                    <a:pt x="155730" y="2506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24"/>
            <p:cNvSpPr/>
            <p:nvPr/>
          </p:nvSpPr>
          <p:spPr>
            <a:xfrm>
              <a:off x="6929115" y="1695880"/>
              <a:ext cx="1998388" cy="293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32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Partial Participation</a:t>
              </a:r>
              <a:endParaRPr b="0" i="0" sz="1600" u="none" cap="none" strike="noStrike"/>
            </a:p>
          </p:txBody>
        </p:sp>
        <p:sp>
          <p:nvSpPr>
            <p:cNvPr id="745" name="Google Shape;745;p24"/>
            <p:cNvSpPr/>
            <p:nvPr/>
          </p:nvSpPr>
          <p:spPr>
            <a:xfrm>
              <a:off x="6379100" y="2209227"/>
              <a:ext cx="5325979" cy="476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5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Entities </a:t>
              </a:r>
              <a:r>
                <a:rPr b="1" i="0" lang="en-US" sz="1155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may or may not</a:t>
              </a:r>
              <a:r>
                <a:rPr b="0" i="0" lang="en-US" sz="1155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participate in the relationship. Represented by single lines in ER notation.</a:t>
              </a:r>
              <a:endParaRPr b="0" i="0" sz="1600" u="none" cap="none" strike="noStrike"/>
            </a:p>
          </p:txBody>
        </p:sp>
        <p:sp>
          <p:nvSpPr>
            <p:cNvPr id="746" name="Google Shape;746;p24"/>
            <p:cNvSpPr/>
            <p:nvPr/>
          </p:nvSpPr>
          <p:spPr>
            <a:xfrm>
              <a:off x="6388267" y="2832577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</p:sp>
        <p:sp>
          <p:nvSpPr>
            <p:cNvPr id="747" name="Google Shape;747;p24"/>
            <p:cNvSpPr/>
            <p:nvPr/>
          </p:nvSpPr>
          <p:spPr>
            <a:xfrm>
              <a:off x="6544105" y="2832577"/>
              <a:ext cx="1375038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 → Payment</a:t>
              </a:r>
              <a:endParaRPr b="0" i="0" sz="1600" u="none" cap="none" strike="noStrike"/>
            </a:p>
          </p:txBody>
        </p:sp>
        <p:sp>
          <p:nvSpPr>
            <p:cNvPr id="748" name="Google Shape;748;p24"/>
            <p:cNvSpPr/>
            <p:nvPr/>
          </p:nvSpPr>
          <p:spPr>
            <a:xfrm>
              <a:off x="10946660" y="2850911"/>
              <a:ext cx="687519" cy="220006"/>
            </a:xfrm>
            <a:custGeom>
              <a:rect b="b" l="l" r="r" t="t"/>
              <a:pathLst>
                <a:path extrusionOk="0" h="220006" w="687519">
                  <a:moveTo>
                    <a:pt x="36668" y="0"/>
                  </a:moveTo>
                  <a:lnTo>
                    <a:pt x="650850" y="0"/>
                  </a:lnTo>
                  <a:cubicBezTo>
                    <a:pt x="671088" y="0"/>
                    <a:pt x="687519" y="16431"/>
                    <a:pt x="687519" y="36668"/>
                  </a:cubicBezTo>
                  <a:lnTo>
                    <a:pt x="687519" y="183338"/>
                  </a:lnTo>
                  <a:cubicBezTo>
                    <a:pt x="687519" y="203589"/>
                    <a:pt x="671102" y="220006"/>
                    <a:pt x="650850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24"/>
            <p:cNvSpPr/>
            <p:nvPr/>
          </p:nvSpPr>
          <p:spPr>
            <a:xfrm>
              <a:off x="10946660" y="2850911"/>
              <a:ext cx="742520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OPTIONAL</a:t>
              </a:r>
              <a:endParaRPr b="0" i="0" sz="1600" u="none" cap="none" strike="noStrike"/>
            </a:p>
          </p:txBody>
        </p:sp>
        <p:sp>
          <p:nvSpPr>
            <p:cNvPr id="750" name="Google Shape;750;p24"/>
            <p:cNvSpPr/>
            <p:nvPr/>
          </p:nvSpPr>
          <p:spPr>
            <a:xfrm>
              <a:off x="6544105" y="3125919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Payment is optional until order is placed. Orders can exist without immediate payment.</a:t>
              </a:r>
              <a:endParaRPr b="0" i="0" sz="1600" u="none" cap="none" strike="noStrike"/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6388267" y="3419260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</p:sp>
        <p:sp>
          <p:nvSpPr>
            <p:cNvPr id="752" name="Google Shape;752;p24"/>
            <p:cNvSpPr/>
            <p:nvPr/>
          </p:nvSpPr>
          <p:spPr>
            <a:xfrm>
              <a:off x="6544105" y="3419260"/>
              <a:ext cx="1430039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User → Addresses</a:t>
              </a:r>
              <a:endParaRPr b="0" i="0" sz="1600" u="none" cap="none" strike="noStrike"/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10946660" y="3437594"/>
              <a:ext cx="687519" cy="220006"/>
            </a:xfrm>
            <a:custGeom>
              <a:rect b="b" l="l" r="r" t="t"/>
              <a:pathLst>
                <a:path extrusionOk="0" h="220006" w="687519">
                  <a:moveTo>
                    <a:pt x="36668" y="0"/>
                  </a:moveTo>
                  <a:lnTo>
                    <a:pt x="650850" y="0"/>
                  </a:lnTo>
                  <a:cubicBezTo>
                    <a:pt x="671088" y="0"/>
                    <a:pt x="687519" y="16431"/>
                    <a:pt x="687519" y="36668"/>
                  </a:cubicBezTo>
                  <a:lnTo>
                    <a:pt x="687519" y="183338"/>
                  </a:lnTo>
                  <a:cubicBezTo>
                    <a:pt x="687519" y="203589"/>
                    <a:pt x="671102" y="220006"/>
                    <a:pt x="650850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10946660" y="3437594"/>
              <a:ext cx="742520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OPTIONAL</a:t>
              </a:r>
              <a:endParaRPr b="0" i="0" sz="1600" u="none" cap="none" strike="noStrike"/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6544105" y="3712602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Users can exist without addresses initially. Addresses added during checkout.</a:t>
              </a:r>
              <a:endParaRPr b="0" i="0" sz="1600" u="none" cap="none" strike="noStrike"/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6388267" y="4005943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</p:sp>
        <p:sp>
          <p:nvSpPr>
            <p:cNvPr id="757" name="Google Shape;757;p24"/>
            <p:cNvSpPr/>
            <p:nvPr/>
          </p:nvSpPr>
          <p:spPr>
            <a:xfrm>
              <a:off x="6544105" y="4005943"/>
              <a:ext cx="1301702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 → Coupon</a:t>
              </a:r>
              <a:endParaRPr b="0" i="0" sz="1600" u="none" cap="none" strike="noStrike"/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10946660" y="4024277"/>
              <a:ext cx="687519" cy="220006"/>
            </a:xfrm>
            <a:custGeom>
              <a:rect b="b" l="l" r="r" t="t"/>
              <a:pathLst>
                <a:path extrusionOk="0" h="220006" w="687519">
                  <a:moveTo>
                    <a:pt x="36668" y="0"/>
                  </a:moveTo>
                  <a:lnTo>
                    <a:pt x="650850" y="0"/>
                  </a:lnTo>
                  <a:cubicBezTo>
                    <a:pt x="671088" y="0"/>
                    <a:pt x="687519" y="16431"/>
                    <a:pt x="687519" y="36668"/>
                  </a:cubicBezTo>
                  <a:lnTo>
                    <a:pt x="687519" y="183338"/>
                  </a:lnTo>
                  <a:cubicBezTo>
                    <a:pt x="687519" y="203589"/>
                    <a:pt x="671102" y="220006"/>
                    <a:pt x="650850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10946660" y="4024277"/>
              <a:ext cx="742520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OPTIONAL</a:t>
              </a:r>
              <a:endParaRPr b="0" i="0" sz="1600" u="none" cap="none" strike="noStrike"/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6544105" y="4299284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 application is optional. Most orders don't use coupons.</a:t>
              </a:r>
              <a:endParaRPr b="0" i="0" sz="1600" u="none" cap="none" strike="noStrike"/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6388267" y="4592626"/>
              <a:ext cx="18334" cy="476680"/>
            </a:xfrm>
            <a:custGeom>
              <a:rect b="b" l="l" r="r" t="t"/>
              <a:pathLst>
                <a:path extrusionOk="0" h="476680" w="18334">
                  <a:moveTo>
                    <a:pt x="0" y="0"/>
                  </a:moveTo>
                  <a:lnTo>
                    <a:pt x="18334" y="0"/>
                  </a:lnTo>
                  <a:lnTo>
                    <a:pt x="18334" y="476680"/>
                  </a:lnTo>
                  <a:lnTo>
                    <a:pt x="0" y="47668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F6B7A"/>
            </a:solidFill>
            <a:ln>
              <a:noFill/>
            </a:ln>
          </p:spPr>
        </p:sp>
        <p:sp>
          <p:nvSpPr>
            <p:cNvPr id="762" name="Google Shape;762;p24"/>
            <p:cNvSpPr/>
            <p:nvPr/>
          </p:nvSpPr>
          <p:spPr>
            <a:xfrm>
              <a:off x="6544105" y="4592626"/>
              <a:ext cx="1338370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99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 → Address</a:t>
              </a:r>
              <a:endParaRPr b="0" i="0" sz="1600" u="none" cap="none" strike="noStrike"/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10946660" y="4610959"/>
              <a:ext cx="687519" cy="220006"/>
            </a:xfrm>
            <a:custGeom>
              <a:rect b="b" l="l" r="r" t="t"/>
              <a:pathLst>
                <a:path extrusionOk="0" h="220006" w="687519">
                  <a:moveTo>
                    <a:pt x="36668" y="0"/>
                  </a:moveTo>
                  <a:lnTo>
                    <a:pt x="650850" y="0"/>
                  </a:lnTo>
                  <a:cubicBezTo>
                    <a:pt x="671088" y="0"/>
                    <a:pt x="687519" y="16431"/>
                    <a:pt x="687519" y="36668"/>
                  </a:cubicBezTo>
                  <a:lnTo>
                    <a:pt x="687519" y="183338"/>
                  </a:lnTo>
                  <a:cubicBezTo>
                    <a:pt x="687519" y="203589"/>
                    <a:pt x="671102" y="220006"/>
                    <a:pt x="650850" y="220006"/>
                  </a:cubicBezTo>
                  <a:lnTo>
                    <a:pt x="36668" y="220006"/>
                  </a:lnTo>
                  <a:cubicBezTo>
                    <a:pt x="16431" y="220006"/>
                    <a:pt x="0" y="203575"/>
                    <a:pt x="0" y="183338"/>
                  </a:cubicBezTo>
                  <a:lnTo>
                    <a:pt x="0" y="36668"/>
                  </a:lnTo>
                  <a:cubicBezTo>
                    <a:pt x="0" y="16431"/>
                    <a:pt x="16431" y="0"/>
                    <a:pt x="36668" y="0"/>
                  </a:cubicBezTo>
                  <a:close/>
                </a:path>
              </a:pathLst>
            </a:custGeom>
            <a:solidFill>
              <a:srgbClr val="5F6B7A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10946660" y="4610959"/>
              <a:ext cx="742520" cy="2200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650" lIns="73325" spcFirstLastPara="1" rIns="73325" wrap="square" tIns="3665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66" u="none" cap="none" strike="noStrike">
                  <a:solidFill>
                    <a:srgbClr val="5F6B7A"/>
                  </a:solidFill>
                  <a:latin typeface="Liter"/>
                  <a:ea typeface="Liter"/>
                  <a:cs typeface="Liter"/>
                  <a:sym typeface="Liter"/>
                </a:rPr>
                <a:t>OPTIONAL</a:t>
              </a:r>
              <a:endParaRPr b="0" i="0" sz="1600" u="none" cap="none" strike="noStrike"/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6544105" y="4885967"/>
              <a:ext cx="5151808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Address can be NULL for digital products or pickup orders.</a:t>
              </a:r>
              <a:endParaRPr b="0" i="0" sz="1600" u="none" cap="none" strike="noStrike"/>
            </a:p>
          </p:txBody>
        </p:sp>
      </p:grpSp>
      <p:grpSp>
        <p:nvGrpSpPr>
          <p:cNvPr id="766" name="Google Shape;766;p24"/>
          <p:cNvGrpSpPr/>
          <p:nvPr/>
        </p:nvGrpSpPr>
        <p:grpSpPr>
          <a:xfrm>
            <a:off x="6191128" y="5239100"/>
            <a:ext cx="5628487" cy="1365871"/>
            <a:chOff x="6191178" y="5486400"/>
            <a:chExt cx="5628487" cy="1365871"/>
          </a:xfrm>
        </p:grpSpPr>
        <p:sp>
          <p:nvSpPr>
            <p:cNvPr id="767" name="Google Shape;767;p24"/>
            <p:cNvSpPr/>
            <p:nvPr/>
          </p:nvSpPr>
          <p:spPr>
            <a:xfrm>
              <a:off x="6191178" y="5486400"/>
              <a:ext cx="5628487" cy="1365871"/>
            </a:xfrm>
            <a:custGeom>
              <a:rect b="b" l="l" r="r" t="t"/>
              <a:pathLst>
                <a:path extrusionOk="0" h="1365871" w="5628487">
                  <a:moveTo>
                    <a:pt x="73334" y="0"/>
                  </a:moveTo>
                  <a:lnTo>
                    <a:pt x="5555154" y="0"/>
                  </a:lnTo>
                  <a:cubicBezTo>
                    <a:pt x="5595655" y="0"/>
                    <a:pt x="5628487" y="32833"/>
                    <a:pt x="5628487" y="73334"/>
                  </a:cubicBezTo>
                  <a:lnTo>
                    <a:pt x="5628487" y="1292537"/>
                  </a:lnTo>
                  <a:cubicBezTo>
                    <a:pt x="5628487" y="1333038"/>
                    <a:pt x="5595655" y="1365871"/>
                    <a:pt x="5555154" y="1365871"/>
                  </a:cubicBezTo>
                  <a:lnTo>
                    <a:pt x="73334" y="1365871"/>
                  </a:lnTo>
                  <a:cubicBezTo>
                    <a:pt x="32860" y="1365871"/>
                    <a:pt x="0" y="1333011"/>
                    <a:pt x="0" y="1292537"/>
                  </a:cubicBezTo>
                  <a:lnTo>
                    <a:pt x="0" y="73334"/>
                  </a:lnTo>
                  <a:cubicBezTo>
                    <a:pt x="0" y="32860"/>
                    <a:pt x="32860" y="0"/>
                    <a:pt x="73334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6365350" y="5674322"/>
              <a:ext cx="183338" cy="183338"/>
            </a:xfrm>
            <a:custGeom>
              <a:rect b="b" l="l" r="r" t="t"/>
              <a:pathLst>
                <a:path extrusionOk="0" h="183338" w="183338">
                  <a:moveTo>
                    <a:pt x="91669" y="0"/>
                  </a:moveTo>
                  <a:cubicBezTo>
                    <a:pt x="93316" y="0"/>
                    <a:pt x="94964" y="358"/>
                    <a:pt x="96467" y="1038"/>
                  </a:cubicBezTo>
                  <a:lnTo>
                    <a:pt x="163930" y="29649"/>
                  </a:lnTo>
                  <a:cubicBezTo>
                    <a:pt x="171808" y="32979"/>
                    <a:pt x="177681" y="40750"/>
                    <a:pt x="177645" y="50132"/>
                  </a:cubicBezTo>
                  <a:cubicBezTo>
                    <a:pt x="177466" y="85653"/>
                    <a:pt x="162856" y="150645"/>
                    <a:pt x="101158" y="180187"/>
                  </a:cubicBezTo>
                  <a:cubicBezTo>
                    <a:pt x="95178" y="183052"/>
                    <a:pt x="88232" y="183052"/>
                    <a:pt x="82252" y="180187"/>
                  </a:cubicBezTo>
                  <a:cubicBezTo>
                    <a:pt x="20518" y="150645"/>
                    <a:pt x="5944" y="85653"/>
                    <a:pt x="5765" y="50132"/>
                  </a:cubicBezTo>
                  <a:cubicBezTo>
                    <a:pt x="5729" y="40750"/>
                    <a:pt x="11602" y="32979"/>
                    <a:pt x="19480" y="29649"/>
                  </a:cubicBezTo>
                  <a:lnTo>
                    <a:pt x="86907" y="1038"/>
                  </a:lnTo>
                  <a:cubicBezTo>
                    <a:pt x="88411" y="358"/>
                    <a:pt x="90022" y="0"/>
                    <a:pt x="91669" y="0"/>
                  </a:cubicBezTo>
                  <a:close/>
                  <a:moveTo>
                    <a:pt x="91669" y="23920"/>
                  </a:moveTo>
                  <a:lnTo>
                    <a:pt x="91669" y="159311"/>
                  </a:lnTo>
                  <a:cubicBezTo>
                    <a:pt x="141085" y="135391"/>
                    <a:pt x="154369" y="82395"/>
                    <a:pt x="154692" y="50669"/>
                  </a:cubicBezTo>
                  <a:lnTo>
                    <a:pt x="91669" y="23956"/>
                  </a:lnTo>
                  <a:lnTo>
                    <a:pt x="91669" y="23956"/>
                  </a:ln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681608" y="5637654"/>
              <a:ext cx="1686713" cy="2566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44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Referential Integrity</a:t>
              </a:r>
              <a:endParaRPr b="0" i="0" sz="1600" u="none" cap="none" strike="noStrike"/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342433" y="6004331"/>
              <a:ext cx="539014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ON DELETE CASCADE:</a:t>
              </a: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Cart, Cart_Items, Order_Items, Reviews, Wishlist, Coupon_Usage</a:t>
              </a:r>
              <a:endParaRPr b="0" i="0" sz="1600" u="none" cap="none" strike="noStrike"/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342433" y="6261005"/>
              <a:ext cx="539014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ON DELETE SET NULL:</a:t>
              </a: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Orders (address_id, coupon_id)</a:t>
              </a:r>
              <a:endParaRPr b="0" i="0" sz="1600" u="none" cap="none" strike="noStrike"/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6342433" y="6517678"/>
              <a:ext cx="5390147" cy="183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1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ON DELETE RESTRICT:</a:t>
              </a:r>
              <a:r>
                <a:rPr b="0" i="0" lang="en-US" sz="1011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Products referenced by Order_Items</a:t>
              </a:r>
              <a:endParaRPr b="0" i="0" sz="1600" u="none" cap="none" strike="noStrike"/>
            </a:p>
          </p:txBody>
        </p:sp>
      </p:grp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25"/>
          <p:cNvSpPr/>
          <p:nvPr/>
        </p:nvSpPr>
        <p:spPr>
          <a:xfrm>
            <a:off x="285750" y="246525"/>
            <a:ext cx="1162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Schema Conversion</a:t>
            </a:r>
            <a:endParaRPr b="0" i="0" sz="1600" u="none" cap="none" strike="noStrike"/>
          </a:p>
        </p:txBody>
      </p:sp>
      <p:sp>
        <p:nvSpPr>
          <p:cNvPr id="779" name="Google Shape;779;p25"/>
          <p:cNvSpPr/>
          <p:nvPr/>
        </p:nvSpPr>
        <p:spPr>
          <a:xfrm>
            <a:off x="321475" y="437022"/>
            <a:ext cx="11747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Relational Schema - Core Tables</a:t>
            </a:r>
            <a:endParaRPr b="0" i="0" sz="1600" u="none" cap="none" strike="noStrike"/>
          </a:p>
        </p:txBody>
      </p:sp>
      <p:grpSp>
        <p:nvGrpSpPr>
          <p:cNvPr id="780" name="Google Shape;780;p25"/>
          <p:cNvGrpSpPr/>
          <p:nvPr/>
        </p:nvGrpSpPr>
        <p:grpSpPr>
          <a:xfrm>
            <a:off x="321474" y="1007441"/>
            <a:ext cx="5707063" cy="2755511"/>
            <a:chOff x="321469" y="1242219"/>
            <a:chExt cx="5707063" cy="3389313"/>
          </a:xfrm>
        </p:grpSpPr>
        <p:sp>
          <p:nvSpPr>
            <p:cNvPr id="781" name="Google Shape;781;p25"/>
            <p:cNvSpPr/>
            <p:nvPr/>
          </p:nvSpPr>
          <p:spPr>
            <a:xfrm>
              <a:off x="321469" y="1242219"/>
              <a:ext cx="5707063" cy="3389313"/>
            </a:xfrm>
            <a:custGeom>
              <a:rect b="b" l="l" r="r" t="t"/>
              <a:pathLst>
                <a:path extrusionOk="0" h="3389313" w="5707063">
                  <a:moveTo>
                    <a:pt x="63516" y="0"/>
                  </a:moveTo>
                  <a:lnTo>
                    <a:pt x="5643547" y="0"/>
                  </a:lnTo>
                  <a:cubicBezTo>
                    <a:pt x="5678626" y="0"/>
                    <a:pt x="5707063" y="28437"/>
                    <a:pt x="5707063" y="63516"/>
                  </a:cubicBezTo>
                  <a:lnTo>
                    <a:pt x="5707063" y="3325797"/>
                  </a:lnTo>
                  <a:cubicBezTo>
                    <a:pt x="5707063" y="3360876"/>
                    <a:pt x="5678626" y="3389313"/>
                    <a:pt x="5643547" y="3389313"/>
                  </a:cubicBezTo>
                  <a:lnTo>
                    <a:pt x="63516" y="3389313"/>
                  </a:lnTo>
                  <a:cubicBezTo>
                    <a:pt x="28437" y="3389313"/>
                    <a:pt x="0" y="3360876"/>
                    <a:pt x="0" y="3325797"/>
                  </a:cubicBezTo>
                  <a:lnTo>
                    <a:pt x="0" y="63516"/>
                  </a:lnTo>
                  <a:cubicBezTo>
                    <a:pt x="0" y="28460"/>
                    <a:pt x="28460" y="0"/>
                    <a:pt x="63516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25"/>
            <p:cNvSpPr/>
            <p:nvPr/>
          </p:nvSpPr>
          <p:spPr>
            <a:xfrm>
              <a:off x="452438" y="1373188"/>
              <a:ext cx="484187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Users</a:t>
              </a:r>
              <a:endParaRPr b="0" i="0" sz="1600" u="none" cap="none" strike="noStrike"/>
            </a:p>
          </p:txBody>
        </p:sp>
        <p:sp>
          <p:nvSpPr>
            <p:cNvPr id="783" name="Google Shape;783;p25"/>
            <p:cNvSpPr/>
            <p:nvPr/>
          </p:nvSpPr>
          <p:spPr>
            <a:xfrm>
              <a:off x="5162104" y="1373188"/>
              <a:ext cx="738188" cy="222250"/>
            </a:xfrm>
            <a:custGeom>
              <a:rect b="b" l="l" r="r" t="t"/>
              <a:pathLst>
                <a:path extrusionOk="0" h="222250" w="738188">
                  <a:moveTo>
                    <a:pt x="111125" y="0"/>
                  </a:moveTo>
                  <a:lnTo>
                    <a:pt x="627063" y="0"/>
                  </a:lnTo>
                  <a:cubicBezTo>
                    <a:pt x="688394" y="0"/>
                    <a:pt x="738188" y="49793"/>
                    <a:pt x="738188" y="111125"/>
                  </a:cubicBezTo>
                  <a:lnTo>
                    <a:pt x="738188" y="111125"/>
                  </a:lnTo>
                  <a:cubicBezTo>
                    <a:pt x="738188" y="172457"/>
                    <a:pt x="688394" y="222250"/>
                    <a:pt x="627063" y="222250"/>
                  </a:cubicBezTo>
                  <a:lnTo>
                    <a:pt x="111125" y="222250"/>
                  </a:lnTo>
                  <a:cubicBezTo>
                    <a:pt x="49793" y="222250"/>
                    <a:pt x="0" y="172457"/>
                    <a:pt x="0" y="111125"/>
                  </a:cubicBezTo>
                  <a:lnTo>
                    <a:pt x="0" y="111125"/>
                  </a:lnTo>
                  <a:cubicBezTo>
                    <a:pt x="0" y="49793"/>
                    <a:pt x="49793" y="0"/>
                    <a:pt x="111125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25"/>
            <p:cNvSpPr/>
            <p:nvPr/>
          </p:nvSpPr>
          <p:spPr>
            <a:xfrm>
              <a:off x="5162104" y="1373188"/>
              <a:ext cx="793750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95250" spcFirstLastPara="1" rIns="95250" wrap="square" tIns="3175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FFFFFF"/>
                  </a:solidFill>
                  <a:latin typeface="Liter"/>
                  <a:ea typeface="Liter"/>
                  <a:cs typeface="Liter"/>
                  <a:sym typeface="Liter"/>
                </a:rPr>
                <a:t>Core Entity</a:t>
              </a:r>
              <a:endParaRPr b="0" i="0" sz="1600" u="none" cap="none" strike="noStrike"/>
            </a:p>
          </p:txBody>
        </p:sp>
        <p:sp>
          <p:nvSpPr>
            <p:cNvPr id="785" name="Google Shape;785;p25"/>
            <p:cNvSpPr/>
            <p:nvPr/>
          </p:nvSpPr>
          <p:spPr>
            <a:xfrm>
              <a:off x="452438" y="1690688"/>
              <a:ext cx="5445125" cy="1778000"/>
            </a:xfrm>
            <a:custGeom>
              <a:rect b="b" l="l" r="r" t="t"/>
              <a:pathLst>
                <a:path extrusionOk="0" h="1778000" w="5445125">
                  <a:moveTo>
                    <a:pt x="31755" y="0"/>
                  </a:moveTo>
                  <a:lnTo>
                    <a:pt x="5413370" y="0"/>
                  </a:lnTo>
                  <a:cubicBezTo>
                    <a:pt x="5430908" y="0"/>
                    <a:pt x="5445125" y="14217"/>
                    <a:pt x="5445125" y="31755"/>
                  </a:cubicBezTo>
                  <a:lnTo>
                    <a:pt x="5445125" y="1746245"/>
                  </a:lnTo>
                  <a:cubicBezTo>
                    <a:pt x="5445125" y="1763783"/>
                    <a:pt x="5430908" y="1778000"/>
                    <a:pt x="5413370" y="1778000"/>
                  </a:cubicBezTo>
                  <a:lnTo>
                    <a:pt x="31755" y="1778000"/>
                  </a:lnTo>
                  <a:cubicBezTo>
                    <a:pt x="14217" y="1778000"/>
                    <a:pt x="0" y="1763783"/>
                    <a:pt x="0" y="1746245"/>
                  </a:cubicBezTo>
                  <a:lnTo>
                    <a:pt x="0" y="31755"/>
                  </a:lnTo>
                  <a:cubicBezTo>
                    <a:pt x="0" y="14229"/>
                    <a:pt x="14229" y="0"/>
                    <a:pt x="31755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25"/>
            <p:cNvSpPr/>
            <p:nvPr/>
          </p:nvSpPr>
          <p:spPr>
            <a:xfrm>
              <a:off x="547688" y="178593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CREATE TABLE Users (</a:t>
              </a:r>
              <a:endParaRPr b="0" i="0" sz="1600" u="none" cap="none" strike="noStrike"/>
            </a:p>
          </p:txBody>
        </p:sp>
        <p:sp>
          <p:nvSpPr>
            <p:cNvPr id="787" name="Google Shape;787;p25"/>
            <p:cNvSpPr/>
            <p:nvPr/>
          </p:nvSpPr>
          <p:spPr>
            <a:xfrm>
              <a:off x="674688" y="1944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user_id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AUTO_INCREMENT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PRIMARY KEY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88" name="Google Shape;788;p25"/>
            <p:cNvSpPr/>
            <p:nvPr/>
          </p:nvSpPr>
          <p:spPr>
            <a:xfrm>
              <a:off x="674688" y="2103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name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VARCHAR(100)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89" name="Google Shape;789;p25"/>
            <p:cNvSpPr/>
            <p:nvPr/>
          </p:nvSpPr>
          <p:spPr>
            <a:xfrm>
              <a:off x="674688" y="22621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email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VARCHAR(150) NOT NULL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90" name="Google Shape;790;p25"/>
            <p:cNvSpPr/>
            <p:nvPr/>
          </p:nvSpPr>
          <p:spPr>
            <a:xfrm>
              <a:off x="674688" y="2420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password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VARCHAR(255)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91" name="Google Shape;791;p25"/>
            <p:cNvSpPr/>
            <p:nvPr/>
          </p:nvSpPr>
          <p:spPr>
            <a:xfrm>
              <a:off x="674688" y="2579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phone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VARCHAR(20)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92" name="Google Shape;792;p25"/>
            <p:cNvSpPr/>
            <p:nvPr/>
          </p:nvSpPr>
          <p:spPr>
            <a:xfrm>
              <a:off x="674688" y="2738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role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ENUM('customer','admin')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 DEFAULT 'customer',</a:t>
              </a:r>
              <a:endParaRPr b="0" i="0" sz="1600" u="none" cap="none" strike="noStrike"/>
            </a:p>
          </p:txBody>
        </p:sp>
        <p:sp>
          <p:nvSpPr>
            <p:cNvPr id="793" name="Google Shape;793;p25"/>
            <p:cNvSpPr/>
            <p:nvPr/>
          </p:nvSpPr>
          <p:spPr>
            <a:xfrm>
              <a:off x="674688" y="28971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created_at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DATETIME DEFAULT CURRENT_TIMESTAMP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794" name="Google Shape;794;p25"/>
            <p:cNvSpPr/>
            <p:nvPr/>
          </p:nvSpPr>
          <p:spPr>
            <a:xfrm>
              <a:off x="674688" y="3055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updated_at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DATETIME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 ON UPDATE CURRENT_TIMESTAMP</a:t>
              </a:r>
              <a:endParaRPr b="0" i="0" sz="1600" u="none" cap="none" strike="noStrike"/>
            </a:p>
          </p:txBody>
        </p:sp>
        <p:sp>
          <p:nvSpPr>
            <p:cNvPr id="795" name="Google Shape;795;p25"/>
            <p:cNvSpPr/>
            <p:nvPr/>
          </p:nvSpPr>
          <p:spPr>
            <a:xfrm>
              <a:off x="547688" y="321468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1600" u="none" cap="none" strike="noStrike"/>
            </a:p>
          </p:txBody>
        </p:sp>
        <p:sp>
          <p:nvSpPr>
            <p:cNvPr id="796" name="Google Shape;796;p25"/>
            <p:cNvSpPr/>
            <p:nvPr/>
          </p:nvSpPr>
          <p:spPr>
            <a:xfrm>
              <a:off x="452438" y="3563938"/>
              <a:ext cx="2690813" cy="381000"/>
            </a:xfrm>
            <a:custGeom>
              <a:rect b="b" l="l" r="r" t="t"/>
              <a:pathLst>
                <a:path extrusionOk="0" h="381000" w="2690813">
                  <a:moveTo>
                    <a:pt x="31749" y="0"/>
                  </a:moveTo>
                  <a:lnTo>
                    <a:pt x="2659064" y="0"/>
                  </a:lnTo>
                  <a:cubicBezTo>
                    <a:pt x="2676598" y="0"/>
                    <a:pt x="2690812" y="14214"/>
                    <a:pt x="2690812" y="31749"/>
                  </a:cubicBezTo>
                  <a:lnTo>
                    <a:pt x="2690813" y="349251"/>
                  </a:lnTo>
                  <a:cubicBezTo>
                    <a:pt x="2690812" y="366786"/>
                    <a:pt x="2676598" y="381000"/>
                    <a:pt x="265906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25"/>
            <p:cNvSpPr/>
            <p:nvPr/>
          </p:nvSpPr>
          <p:spPr>
            <a:xfrm>
              <a:off x="515938" y="36274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Primary Key</a:t>
              </a:r>
              <a:endParaRPr b="0" i="0" sz="1600" u="none" cap="none" strike="noStrike"/>
            </a:p>
          </p:txBody>
        </p:sp>
        <p:sp>
          <p:nvSpPr>
            <p:cNvPr id="798" name="Google Shape;798;p25"/>
            <p:cNvSpPr/>
            <p:nvPr/>
          </p:nvSpPr>
          <p:spPr>
            <a:xfrm>
              <a:off x="515938" y="37544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user_id (Auto-increment)</a:t>
              </a:r>
              <a:endParaRPr b="0" i="0" sz="1600" u="none" cap="none" strike="noStrike"/>
            </a:p>
          </p:txBody>
        </p:sp>
        <p:sp>
          <p:nvSpPr>
            <p:cNvPr id="799" name="Google Shape;799;p25"/>
            <p:cNvSpPr/>
            <p:nvPr/>
          </p:nvSpPr>
          <p:spPr>
            <a:xfrm>
              <a:off x="3206750" y="3563938"/>
              <a:ext cx="2690813" cy="381000"/>
            </a:xfrm>
            <a:custGeom>
              <a:rect b="b" l="l" r="r" t="t"/>
              <a:pathLst>
                <a:path extrusionOk="0" h="381000" w="2690813">
                  <a:moveTo>
                    <a:pt x="31749" y="0"/>
                  </a:moveTo>
                  <a:lnTo>
                    <a:pt x="2659064" y="0"/>
                  </a:lnTo>
                  <a:cubicBezTo>
                    <a:pt x="2676598" y="0"/>
                    <a:pt x="2690812" y="14214"/>
                    <a:pt x="2690812" y="31749"/>
                  </a:cubicBezTo>
                  <a:lnTo>
                    <a:pt x="2690813" y="349251"/>
                  </a:lnTo>
                  <a:cubicBezTo>
                    <a:pt x="2690812" y="366786"/>
                    <a:pt x="2676598" y="381000"/>
                    <a:pt x="265906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25"/>
            <p:cNvSpPr/>
            <p:nvPr/>
          </p:nvSpPr>
          <p:spPr>
            <a:xfrm>
              <a:off x="3270250" y="36274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Unique Key</a:t>
              </a:r>
              <a:endParaRPr b="0" i="0" sz="1600" u="none" cap="none" strike="noStrike"/>
            </a:p>
          </p:txBody>
        </p:sp>
        <p:sp>
          <p:nvSpPr>
            <p:cNvPr id="801" name="Google Shape;801;p25"/>
            <p:cNvSpPr/>
            <p:nvPr/>
          </p:nvSpPr>
          <p:spPr>
            <a:xfrm>
              <a:off x="3270250" y="37544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email (User identification)</a:t>
              </a:r>
              <a:endParaRPr b="0" i="0" sz="1600" u="none" cap="none" strike="noStrike"/>
            </a:p>
          </p:txBody>
        </p:sp>
      </p:grpSp>
      <p:grpSp>
        <p:nvGrpSpPr>
          <p:cNvPr id="802" name="Google Shape;802;p25"/>
          <p:cNvGrpSpPr/>
          <p:nvPr/>
        </p:nvGrpSpPr>
        <p:grpSpPr>
          <a:xfrm>
            <a:off x="321474" y="3863223"/>
            <a:ext cx="5707063" cy="2859902"/>
            <a:chOff x="321469" y="4766469"/>
            <a:chExt cx="5707063" cy="3389313"/>
          </a:xfrm>
        </p:grpSpPr>
        <p:sp>
          <p:nvSpPr>
            <p:cNvPr id="803" name="Google Shape;803;p25"/>
            <p:cNvSpPr/>
            <p:nvPr/>
          </p:nvSpPr>
          <p:spPr>
            <a:xfrm>
              <a:off x="321469" y="4766469"/>
              <a:ext cx="5707063" cy="3389313"/>
            </a:xfrm>
            <a:custGeom>
              <a:rect b="b" l="l" r="r" t="t"/>
              <a:pathLst>
                <a:path extrusionOk="0" h="3389313" w="5707063">
                  <a:moveTo>
                    <a:pt x="63516" y="0"/>
                  </a:moveTo>
                  <a:lnTo>
                    <a:pt x="5643547" y="0"/>
                  </a:lnTo>
                  <a:cubicBezTo>
                    <a:pt x="5678626" y="0"/>
                    <a:pt x="5707063" y="28437"/>
                    <a:pt x="5707063" y="63516"/>
                  </a:cubicBezTo>
                  <a:lnTo>
                    <a:pt x="5707063" y="3325797"/>
                  </a:lnTo>
                  <a:cubicBezTo>
                    <a:pt x="5707063" y="3360876"/>
                    <a:pt x="5678626" y="3389313"/>
                    <a:pt x="5643547" y="3389313"/>
                  </a:cubicBezTo>
                  <a:lnTo>
                    <a:pt x="63516" y="3389313"/>
                  </a:lnTo>
                  <a:cubicBezTo>
                    <a:pt x="28437" y="3389313"/>
                    <a:pt x="0" y="3360876"/>
                    <a:pt x="0" y="3325797"/>
                  </a:cubicBezTo>
                  <a:lnTo>
                    <a:pt x="0" y="63516"/>
                  </a:lnTo>
                  <a:cubicBezTo>
                    <a:pt x="0" y="28460"/>
                    <a:pt x="28460" y="0"/>
                    <a:pt x="63516" y="0"/>
                  </a:cubicBezTo>
                  <a:close/>
                </a:path>
              </a:pathLst>
            </a:custGeom>
            <a:solidFill>
              <a:srgbClr val="4C8B8E">
                <a:alpha val="10196"/>
              </a:srgbClr>
            </a:solidFill>
            <a:ln cap="flat" cmpd="sng" w="12700">
              <a:solidFill>
                <a:srgbClr val="4C8B8E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25"/>
            <p:cNvSpPr/>
            <p:nvPr/>
          </p:nvSpPr>
          <p:spPr>
            <a:xfrm>
              <a:off x="452438" y="4897438"/>
              <a:ext cx="841375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Categories</a:t>
              </a:r>
              <a:endParaRPr b="0" i="0" sz="1600" u="none" cap="none" strike="noStrike"/>
            </a:p>
          </p:txBody>
        </p:sp>
        <p:sp>
          <p:nvSpPr>
            <p:cNvPr id="805" name="Google Shape;805;p25"/>
            <p:cNvSpPr/>
            <p:nvPr/>
          </p:nvSpPr>
          <p:spPr>
            <a:xfrm>
              <a:off x="5118509" y="4897438"/>
              <a:ext cx="777875" cy="222250"/>
            </a:xfrm>
            <a:custGeom>
              <a:rect b="b" l="l" r="r" t="t"/>
              <a:pathLst>
                <a:path extrusionOk="0" h="222250" w="777875">
                  <a:moveTo>
                    <a:pt x="111125" y="0"/>
                  </a:moveTo>
                  <a:lnTo>
                    <a:pt x="666750" y="0"/>
                  </a:lnTo>
                  <a:cubicBezTo>
                    <a:pt x="728082" y="0"/>
                    <a:pt x="777875" y="49793"/>
                    <a:pt x="777875" y="111125"/>
                  </a:cubicBezTo>
                  <a:lnTo>
                    <a:pt x="777875" y="111125"/>
                  </a:lnTo>
                  <a:cubicBezTo>
                    <a:pt x="777875" y="172457"/>
                    <a:pt x="728082" y="222250"/>
                    <a:pt x="666750" y="222250"/>
                  </a:cubicBezTo>
                  <a:lnTo>
                    <a:pt x="111125" y="222250"/>
                  </a:lnTo>
                  <a:cubicBezTo>
                    <a:pt x="49793" y="222250"/>
                    <a:pt x="0" y="172457"/>
                    <a:pt x="0" y="111125"/>
                  </a:cubicBezTo>
                  <a:lnTo>
                    <a:pt x="0" y="111125"/>
                  </a:lnTo>
                  <a:cubicBezTo>
                    <a:pt x="0" y="49793"/>
                    <a:pt x="49793" y="0"/>
                    <a:pt x="111125" y="0"/>
                  </a:cubicBezTo>
                  <a:close/>
                </a:path>
              </a:pathLst>
            </a:custGeom>
            <a:solidFill>
              <a:srgbClr val="4C8B8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25"/>
            <p:cNvSpPr/>
            <p:nvPr/>
          </p:nvSpPr>
          <p:spPr>
            <a:xfrm>
              <a:off x="5118509" y="4897438"/>
              <a:ext cx="833438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95250" spcFirstLastPara="1" rIns="95250" wrap="square" tIns="3175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FFFFFF"/>
                  </a:solidFill>
                  <a:latin typeface="Liter"/>
                  <a:ea typeface="Liter"/>
                  <a:cs typeface="Liter"/>
                  <a:sym typeface="Liter"/>
                </a:rPr>
                <a:t>Hierarchical</a:t>
              </a:r>
              <a:endParaRPr b="0" i="0" sz="1600" u="none" cap="none" strike="noStrike"/>
            </a:p>
          </p:txBody>
        </p:sp>
        <p:sp>
          <p:nvSpPr>
            <p:cNvPr id="807" name="Google Shape;807;p25"/>
            <p:cNvSpPr/>
            <p:nvPr/>
          </p:nvSpPr>
          <p:spPr>
            <a:xfrm>
              <a:off x="452438" y="5214938"/>
              <a:ext cx="5445125" cy="1619250"/>
            </a:xfrm>
            <a:custGeom>
              <a:rect b="b" l="l" r="r" t="t"/>
              <a:pathLst>
                <a:path extrusionOk="0" h="1619250" w="5445125">
                  <a:moveTo>
                    <a:pt x="31753" y="0"/>
                  </a:moveTo>
                  <a:lnTo>
                    <a:pt x="5413372" y="0"/>
                  </a:lnTo>
                  <a:cubicBezTo>
                    <a:pt x="5430908" y="0"/>
                    <a:pt x="5445125" y="14217"/>
                    <a:pt x="5445125" y="31753"/>
                  </a:cubicBezTo>
                  <a:lnTo>
                    <a:pt x="5445125" y="1587497"/>
                  </a:lnTo>
                  <a:cubicBezTo>
                    <a:pt x="5445125" y="1605033"/>
                    <a:pt x="5430908" y="1619250"/>
                    <a:pt x="5413372" y="1619250"/>
                  </a:cubicBezTo>
                  <a:lnTo>
                    <a:pt x="31753" y="1619250"/>
                  </a:lnTo>
                  <a:cubicBezTo>
                    <a:pt x="14217" y="1619250"/>
                    <a:pt x="0" y="1605033"/>
                    <a:pt x="0" y="1587497"/>
                  </a:cubicBezTo>
                  <a:lnTo>
                    <a:pt x="0" y="31753"/>
                  </a:lnTo>
                  <a:cubicBezTo>
                    <a:pt x="0" y="14228"/>
                    <a:pt x="14228" y="0"/>
                    <a:pt x="31753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25"/>
            <p:cNvSpPr/>
            <p:nvPr/>
          </p:nvSpPr>
          <p:spPr>
            <a:xfrm>
              <a:off x="547688" y="531018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CREATE TABLE Categories (</a:t>
              </a:r>
              <a:endParaRPr b="0" i="0" sz="1600" u="none" cap="none" strike="noStrike"/>
            </a:p>
          </p:txBody>
        </p:sp>
        <p:sp>
          <p:nvSpPr>
            <p:cNvPr id="809" name="Google Shape;809;p25"/>
            <p:cNvSpPr/>
            <p:nvPr/>
          </p:nvSpPr>
          <p:spPr>
            <a:xfrm>
              <a:off x="674688" y="5468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category_id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AUTO_INCREMENT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PRIMARY KEY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10" name="Google Shape;810;p25"/>
            <p:cNvSpPr/>
            <p:nvPr/>
          </p:nvSpPr>
          <p:spPr>
            <a:xfrm>
              <a:off x="674688" y="5627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name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VARCHAR(100) NOT NULL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UNIQUE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11" name="Google Shape;811;p25"/>
            <p:cNvSpPr/>
            <p:nvPr/>
          </p:nvSpPr>
          <p:spPr>
            <a:xfrm>
              <a:off x="674688" y="5786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description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TEXT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12" name="Google Shape;812;p25"/>
            <p:cNvSpPr/>
            <p:nvPr/>
          </p:nvSpPr>
          <p:spPr>
            <a:xfrm>
              <a:off x="674688" y="59451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parent_id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UNSIGNEDDEFAULT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13" name="Google Shape;813;p25"/>
            <p:cNvSpPr/>
            <p:nvPr/>
          </p:nvSpPr>
          <p:spPr>
            <a:xfrm>
              <a:off x="674688" y="6103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CONSTRAINT fk_cat_parent</a:t>
              </a:r>
              <a:endParaRPr b="0" i="0" sz="1600" u="none" cap="none" strike="noStrike"/>
            </a:p>
          </p:txBody>
        </p:sp>
        <p:sp>
          <p:nvSpPr>
            <p:cNvPr id="814" name="Google Shape;814;p25"/>
            <p:cNvSpPr/>
            <p:nvPr/>
          </p:nvSpPr>
          <p:spPr>
            <a:xfrm>
              <a:off x="674688" y="6262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FOREIGN KEY (parent_id) REFERENCES Categories(category_id)</a:t>
              </a:r>
              <a:endParaRPr b="0" i="0" sz="1600" u="none" cap="none" strike="noStrike"/>
            </a:p>
          </p:txBody>
        </p:sp>
        <p:sp>
          <p:nvSpPr>
            <p:cNvPr id="815" name="Google Shape;815;p25"/>
            <p:cNvSpPr/>
            <p:nvPr/>
          </p:nvSpPr>
          <p:spPr>
            <a:xfrm>
              <a:off x="674688" y="6421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ON DELETE SET NULL</a:t>
              </a:r>
              <a:endParaRPr b="0" i="0" sz="1600" u="none" cap="none" strike="noStrike"/>
            </a:p>
          </p:txBody>
        </p:sp>
        <p:sp>
          <p:nvSpPr>
            <p:cNvPr id="816" name="Google Shape;816;p25"/>
            <p:cNvSpPr/>
            <p:nvPr/>
          </p:nvSpPr>
          <p:spPr>
            <a:xfrm>
              <a:off x="547688" y="658018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1600" u="none" cap="none" strike="noStrike"/>
            </a:p>
          </p:txBody>
        </p:sp>
        <p:sp>
          <p:nvSpPr>
            <p:cNvPr id="817" name="Google Shape;817;p25"/>
            <p:cNvSpPr/>
            <p:nvPr/>
          </p:nvSpPr>
          <p:spPr>
            <a:xfrm>
              <a:off x="452438" y="6929438"/>
              <a:ext cx="2690813" cy="381000"/>
            </a:xfrm>
            <a:custGeom>
              <a:rect b="b" l="l" r="r" t="t"/>
              <a:pathLst>
                <a:path extrusionOk="0" h="381000" w="2690813">
                  <a:moveTo>
                    <a:pt x="31749" y="0"/>
                  </a:moveTo>
                  <a:lnTo>
                    <a:pt x="2659064" y="0"/>
                  </a:lnTo>
                  <a:cubicBezTo>
                    <a:pt x="2676598" y="0"/>
                    <a:pt x="2690812" y="14214"/>
                    <a:pt x="2690812" y="31749"/>
                  </a:cubicBezTo>
                  <a:lnTo>
                    <a:pt x="2690813" y="349251"/>
                  </a:lnTo>
                  <a:cubicBezTo>
                    <a:pt x="2690812" y="366786"/>
                    <a:pt x="2676598" y="381000"/>
                    <a:pt x="265906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25"/>
            <p:cNvSpPr/>
            <p:nvPr/>
          </p:nvSpPr>
          <p:spPr>
            <a:xfrm>
              <a:off x="515938" y="69929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Primary Key</a:t>
              </a:r>
              <a:endParaRPr b="0" i="0" sz="1600" u="none" cap="none" strike="noStrike"/>
            </a:p>
          </p:txBody>
        </p:sp>
        <p:sp>
          <p:nvSpPr>
            <p:cNvPr id="819" name="Google Shape;819;p25"/>
            <p:cNvSpPr/>
            <p:nvPr/>
          </p:nvSpPr>
          <p:spPr>
            <a:xfrm>
              <a:off x="515938" y="71199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category_id</a:t>
              </a:r>
              <a:endParaRPr b="0" i="0" sz="1600" u="none" cap="none" strike="noStrike"/>
            </a:p>
          </p:txBody>
        </p:sp>
        <p:sp>
          <p:nvSpPr>
            <p:cNvPr id="820" name="Google Shape;820;p25"/>
            <p:cNvSpPr/>
            <p:nvPr/>
          </p:nvSpPr>
          <p:spPr>
            <a:xfrm>
              <a:off x="3206750" y="6929438"/>
              <a:ext cx="2690813" cy="381000"/>
            </a:xfrm>
            <a:custGeom>
              <a:rect b="b" l="l" r="r" t="t"/>
              <a:pathLst>
                <a:path extrusionOk="0" h="381000" w="2690813">
                  <a:moveTo>
                    <a:pt x="31749" y="0"/>
                  </a:moveTo>
                  <a:lnTo>
                    <a:pt x="2659064" y="0"/>
                  </a:lnTo>
                  <a:cubicBezTo>
                    <a:pt x="2676598" y="0"/>
                    <a:pt x="2690812" y="14214"/>
                    <a:pt x="2690812" y="31749"/>
                  </a:cubicBezTo>
                  <a:lnTo>
                    <a:pt x="2690813" y="349251"/>
                  </a:lnTo>
                  <a:cubicBezTo>
                    <a:pt x="2690812" y="366786"/>
                    <a:pt x="2676598" y="381000"/>
                    <a:pt x="265906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4C8B8E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25"/>
            <p:cNvSpPr/>
            <p:nvPr/>
          </p:nvSpPr>
          <p:spPr>
            <a:xfrm>
              <a:off x="3270250" y="69929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Foreign Key</a:t>
              </a:r>
              <a:endParaRPr b="0" i="0" sz="1600" u="none" cap="none" strike="noStrike"/>
            </a:p>
          </p:txBody>
        </p:sp>
        <p:sp>
          <p:nvSpPr>
            <p:cNvPr id="822" name="Google Shape;822;p25"/>
            <p:cNvSpPr/>
            <p:nvPr/>
          </p:nvSpPr>
          <p:spPr>
            <a:xfrm>
              <a:off x="3270250" y="7119938"/>
              <a:ext cx="261143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parent_id (Self-ref)</a:t>
              </a:r>
              <a:endParaRPr b="0" i="0" sz="1600" u="none" cap="none" strike="noStrike"/>
            </a:p>
          </p:txBody>
        </p:sp>
      </p:grpSp>
      <p:grpSp>
        <p:nvGrpSpPr>
          <p:cNvPr id="823" name="Google Shape;823;p25"/>
          <p:cNvGrpSpPr/>
          <p:nvPr/>
        </p:nvGrpSpPr>
        <p:grpSpPr>
          <a:xfrm>
            <a:off x="6191252" y="994623"/>
            <a:ext cx="5707063" cy="2755399"/>
            <a:chOff x="6163469" y="1242219"/>
            <a:chExt cx="5707063" cy="3151188"/>
          </a:xfrm>
        </p:grpSpPr>
        <p:sp>
          <p:nvSpPr>
            <p:cNvPr id="824" name="Google Shape;824;p25"/>
            <p:cNvSpPr/>
            <p:nvPr/>
          </p:nvSpPr>
          <p:spPr>
            <a:xfrm>
              <a:off x="6163469" y="1242219"/>
              <a:ext cx="5707063" cy="3151188"/>
            </a:xfrm>
            <a:custGeom>
              <a:rect b="b" l="l" r="r" t="t"/>
              <a:pathLst>
                <a:path extrusionOk="0" h="3151188" w="5707063">
                  <a:moveTo>
                    <a:pt x="63496" y="0"/>
                  </a:moveTo>
                  <a:lnTo>
                    <a:pt x="5643566" y="0"/>
                  </a:lnTo>
                  <a:cubicBezTo>
                    <a:pt x="5678634" y="0"/>
                    <a:pt x="5707062" y="28428"/>
                    <a:pt x="5707062" y="63496"/>
                  </a:cubicBezTo>
                  <a:lnTo>
                    <a:pt x="5707063" y="3087691"/>
                  </a:lnTo>
                  <a:cubicBezTo>
                    <a:pt x="5707062" y="3122759"/>
                    <a:pt x="5678634" y="3151188"/>
                    <a:pt x="5643566" y="3151188"/>
                  </a:cubicBezTo>
                  <a:lnTo>
                    <a:pt x="63496" y="3151188"/>
                  </a:lnTo>
                  <a:cubicBezTo>
                    <a:pt x="28428" y="3151188"/>
                    <a:pt x="0" y="3122759"/>
                    <a:pt x="0" y="3087691"/>
                  </a:cubicBezTo>
                  <a:lnTo>
                    <a:pt x="0" y="63496"/>
                  </a:lnTo>
                  <a:cubicBezTo>
                    <a:pt x="0" y="28452"/>
                    <a:pt x="28452" y="0"/>
                    <a:pt x="63496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25"/>
            <p:cNvSpPr/>
            <p:nvPr/>
          </p:nvSpPr>
          <p:spPr>
            <a:xfrm>
              <a:off x="6294438" y="1373188"/>
              <a:ext cx="714375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Products</a:t>
              </a:r>
              <a:endParaRPr b="0" i="0" sz="1600" u="none" cap="none" strike="noStrike"/>
            </a:p>
          </p:txBody>
        </p:sp>
        <p:sp>
          <p:nvSpPr>
            <p:cNvPr id="826" name="Google Shape;826;p25"/>
            <p:cNvSpPr/>
            <p:nvPr/>
          </p:nvSpPr>
          <p:spPr>
            <a:xfrm>
              <a:off x="11004104" y="1373188"/>
              <a:ext cx="738188" cy="222250"/>
            </a:xfrm>
            <a:custGeom>
              <a:rect b="b" l="l" r="r" t="t"/>
              <a:pathLst>
                <a:path extrusionOk="0" h="222250" w="738188">
                  <a:moveTo>
                    <a:pt x="111125" y="0"/>
                  </a:moveTo>
                  <a:lnTo>
                    <a:pt x="627063" y="0"/>
                  </a:lnTo>
                  <a:cubicBezTo>
                    <a:pt x="688394" y="0"/>
                    <a:pt x="738188" y="49793"/>
                    <a:pt x="738188" y="111125"/>
                  </a:cubicBezTo>
                  <a:lnTo>
                    <a:pt x="738188" y="111125"/>
                  </a:lnTo>
                  <a:cubicBezTo>
                    <a:pt x="738188" y="172457"/>
                    <a:pt x="688394" y="222250"/>
                    <a:pt x="627063" y="222250"/>
                  </a:cubicBezTo>
                  <a:lnTo>
                    <a:pt x="111125" y="222250"/>
                  </a:lnTo>
                  <a:cubicBezTo>
                    <a:pt x="49793" y="222250"/>
                    <a:pt x="0" y="172457"/>
                    <a:pt x="0" y="111125"/>
                  </a:cubicBezTo>
                  <a:lnTo>
                    <a:pt x="0" y="111125"/>
                  </a:lnTo>
                  <a:cubicBezTo>
                    <a:pt x="0" y="49793"/>
                    <a:pt x="49793" y="0"/>
                    <a:pt x="111125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25"/>
            <p:cNvSpPr/>
            <p:nvPr/>
          </p:nvSpPr>
          <p:spPr>
            <a:xfrm>
              <a:off x="11004104" y="1373188"/>
              <a:ext cx="793750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95250" spcFirstLastPara="1" rIns="95250" wrap="square" tIns="3175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FFFFFF"/>
                  </a:solidFill>
                  <a:latin typeface="Liter"/>
                  <a:ea typeface="Liter"/>
                  <a:cs typeface="Liter"/>
                  <a:sym typeface="Liter"/>
                </a:rPr>
                <a:t>Core Entity</a:t>
              </a:r>
              <a:endParaRPr b="0" i="0" sz="1600" u="none" cap="none" strike="noStrike"/>
            </a:p>
          </p:txBody>
        </p:sp>
        <p:sp>
          <p:nvSpPr>
            <p:cNvPr id="828" name="Google Shape;828;p25"/>
            <p:cNvSpPr/>
            <p:nvPr/>
          </p:nvSpPr>
          <p:spPr>
            <a:xfrm>
              <a:off x="6294438" y="1690688"/>
              <a:ext cx="5445125" cy="2095500"/>
            </a:xfrm>
            <a:custGeom>
              <a:rect b="b" l="l" r="r" t="t"/>
              <a:pathLst>
                <a:path extrusionOk="0" h="2095500" w="5445125">
                  <a:moveTo>
                    <a:pt x="31747" y="0"/>
                  </a:moveTo>
                  <a:lnTo>
                    <a:pt x="5413378" y="0"/>
                  </a:lnTo>
                  <a:cubicBezTo>
                    <a:pt x="5430911" y="0"/>
                    <a:pt x="5445125" y="14214"/>
                    <a:pt x="5445125" y="31747"/>
                  </a:cubicBezTo>
                  <a:lnTo>
                    <a:pt x="5445125" y="2063753"/>
                  </a:lnTo>
                  <a:cubicBezTo>
                    <a:pt x="5445125" y="2081286"/>
                    <a:pt x="5430911" y="2095500"/>
                    <a:pt x="5413378" y="2095500"/>
                  </a:cubicBezTo>
                  <a:lnTo>
                    <a:pt x="31747" y="2095500"/>
                  </a:lnTo>
                  <a:cubicBezTo>
                    <a:pt x="14214" y="2095500"/>
                    <a:pt x="0" y="2081286"/>
                    <a:pt x="0" y="2063753"/>
                  </a:cubicBezTo>
                  <a:lnTo>
                    <a:pt x="0" y="31747"/>
                  </a:lnTo>
                  <a:cubicBezTo>
                    <a:pt x="0" y="14225"/>
                    <a:pt x="14225" y="0"/>
                    <a:pt x="31747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5"/>
            <p:cNvSpPr/>
            <p:nvPr/>
          </p:nvSpPr>
          <p:spPr>
            <a:xfrm>
              <a:off x="6389688" y="178593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CREATE TABLE Products (</a:t>
              </a:r>
              <a:endParaRPr b="0" i="0" sz="1600" u="none" cap="none" strike="noStrike"/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6516688" y="1944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product_id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AUTO_INCREMENT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PRIMARY KEY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1" name="Google Shape;831;p25"/>
            <p:cNvSpPr/>
            <p:nvPr/>
          </p:nvSpPr>
          <p:spPr>
            <a:xfrm>
              <a:off x="6516688" y="2103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category_id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2" name="Google Shape;832;p25"/>
            <p:cNvSpPr/>
            <p:nvPr/>
          </p:nvSpPr>
          <p:spPr>
            <a:xfrm>
              <a:off x="6516688" y="22621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name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VARCHAR(200)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3" name="Google Shape;833;p25"/>
            <p:cNvSpPr/>
            <p:nvPr/>
          </p:nvSpPr>
          <p:spPr>
            <a:xfrm>
              <a:off x="6516688" y="2420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description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TEXT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4" name="Google Shape;834;p25"/>
            <p:cNvSpPr/>
            <p:nvPr/>
          </p:nvSpPr>
          <p:spPr>
            <a:xfrm>
              <a:off x="6516688" y="2579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price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DECIMAL(10,2) NOT NULLCHECK (price &gt;= 0)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5" name="Google Shape;835;p25"/>
            <p:cNvSpPr/>
            <p:nvPr/>
          </p:nvSpPr>
          <p:spPr>
            <a:xfrm>
              <a:off x="6516688" y="2738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image_url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VARCHAR(500)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6" name="Google Shape;836;p25"/>
            <p:cNvSpPr/>
            <p:nvPr/>
          </p:nvSpPr>
          <p:spPr>
            <a:xfrm>
              <a:off x="6516688" y="28971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brand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VARCHAR(100)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7" name="Google Shape;837;p25"/>
            <p:cNvSpPr/>
            <p:nvPr/>
          </p:nvSpPr>
          <p:spPr>
            <a:xfrm>
              <a:off x="6516688" y="30559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is_active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TINYINT(1) DEFAULT 1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38" name="Google Shape;838;p25"/>
            <p:cNvSpPr/>
            <p:nvPr/>
          </p:nvSpPr>
          <p:spPr>
            <a:xfrm>
              <a:off x="6516688" y="321468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CONSTRAINT fk_prod_cat</a:t>
              </a:r>
              <a:endParaRPr b="0" i="0" sz="1600" u="none" cap="none" strike="noStrike"/>
            </a:p>
          </p:txBody>
        </p:sp>
        <p:sp>
          <p:nvSpPr>
            <p:cNvPr id="839" name="Google Shape;839;p25"/>
            <p:cNvSpPr/>
            <p:nvPr/>
          </p:nvSpPr>
          <p:spPr>
            <a:xfrm>
              <a:off x="6516688" y="3373438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FOREIGN KEY (category_id) REFERENCES Categories(category_id)</a:t>
              </a:r>
              <a:endParaRPr b="0" i="0" sz="1600" u="none" cap="none" strike="noStrike"/>
            </a:p>
          </p:txBody>
        </p:sp>
        <p:sp>
          <p:nvSpPr>
            <p:cNvPr id="840" name="Google Shape;840;p25"/>
            <p:cNvSpPr/>
            <p:nvPr/>
          </p:nvSpPr>
          <p:spPr>
            <a:xfrm>
              <a:off x="6389688" y="3532188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);</a:t>
              </a:r>
              <a:endParaRPr b="0" i="0" sz="1600" u="none" cap="none" strike="noStrike"/>
            </a:p>
          </p:txBody>
        </p:sp>
        <p:sp>
          <p:nvSpPr>
            <p:cNvPr id="841" name="Google Shape;841;p25"/>
            <p:cNvSpPr/>
            <p:nvPr/>
          </p:nvSpPr>
          <p:spPr>
            <a:xfrm>
              <a:off x="6294438" y="3881438"/>
              <a:ext cx="1770063" cy="381000"/>
            </a:xfrm>
            <a:custGeom>
              <a:rect b="b" l="l" r="r" t="t"/>
              <a:pathLst>
                <a:path extrusionOk="0" h="381000" w="1770063">
                  <a:moveTo>
                    <a:pt x="31749" y="0"/>
                  </a:moveTo>
                  <a:lnTo>
                    <a:pt x="1738314" y="0"/>
                  </a:lnTo>
                  <a:cubicBezTo>
                    <a:pt x="1755848" y="0"/>
                    <a:pt x="1770062" y="14214"/>
                    <a:pt x="1770062" y="31749"/>
                  </a:cubicBezTo>
                  <a:lnTo>
                    <a:pt x="1770063" y="349251"/>
                  </a:lnTo>
                  <a:cubicBezTo>
                    <a:pt x="1770062" y="366786"/>
                    <a:pt x="1755848" y="381000"/>
                    <a:pt x="173831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25"/>
            <p:cNvSpPr/>
            <p:nvPr/>
          </p:nvSpPr>
          <p:spPr>
            <a:xfrm>
              <a:off x="6357938" y="3944937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Primary Key</a:t>
              </a:r>
              <a:endParaRPr b="0" i="0" sz="1600" u="none" cap="none" strike="noStrike"/>
            </a:p>
          </p:txBody>
        </p:sp>
        <p:sp>
          <p:nvSpPr>
            <p:cNvPr id="843" name="Google Shape;843;p25"/>
            <p:cNvSpPr/>
            <p:nvPr/>
          </p:nvSpPr>
          <p:spPr>
            <a:xfrm>
              <a:off x="6357938" y="4071938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product_id</a:t>
              </a:r>
              <a:endParaRPr b="0" i="0" sz="1600" u="none" cap="none" strike="noStrike"/>
            </a:p>
          </p:txBody>
        </p:sp>
        <p:sp>
          <p:nvSpPr>
            <p:cNvPr id="844" name="Google Shape;844;p25"/>
            <p:cNvSpPr/>
            <p:nvPr/>
          </p:nvSpPr>
          <p:spPr>
            <a:xfrm>
              <a:off x="8130604" y="3881438"/>
              <a:ext cx="1770063" cy="381000"/>
            </a:xfrm>
            <a:custGeom>
              <a:rect b="b" l="l" r="r" t="t"/>
              <a:pathLst>
                <a:path extrusionOk="0" h="381000" w="1770063">
                  <a:moveTo>
                    <a:pt x="31749" y="0"/>
                  </a:moveTo>
                  <a:lnTo>
                    <a:pt x="1738314" y="0"/>
                  </a:lnTo>
                  <a:cubicBezTo>
                    <a:pt x="1755848" y="0"/>
                    <a:pt x="1770062" y="14214"/>
                    <a:pt x="1770062" y="31749"/>
                  </a:cubicBezTo>
                  <a:lnTo>
                    <a:pt x="1770063" y="349251"/>
                  </a:lnTo>
                  <a:cubicBezTo>
                    <a:pt x="1770062" y="366786"/>
                    <a:pt x="1755848" y="381000"/>
                    <a:pt x="173831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5"/>
            <p:cNvSpPr/>
            <p:nvPr/>
          </p:nvSpPr>
          <p:spPr>
            <a:xfrm>
              <a:off x="8194104" y="3944937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Foreign Key</a:t>
              </a:r>
              <a:endParaRPr b="0" i="0" sz="1600" u="none" cap="none" strike="noStrike"/>
            </a:p>
          </p:txBody>
        </p:sp>
        <p:sp>
          <p:nvSpPr>
            <p:cNvPr id="846" name="Google Shape;846;p25"/>
            <p:cNvSpPr/>
            <p:nvPr/>
          </p:nvSpPr>
          <p:spPr>
            <a:xfrm>
              <a:off x="8194104" y="4071938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category_id</a:t>
              </a:r>
              <a:endParaRPr b="0" i="0" sz="1600" u="none" cap="none" strike="noStrike"/>
            </a:p>
          </p:txBody>
        </p:sp>
        <p:sp>
          <p:nvSpPr>
            <p:cNvPr id="847" name="Google Shape;847;p25"/>
            <p:cNvSpPr/>
            <p:nvPr/>
          </p:nvSpPr>
          <p:spPr>
            <a:xfrm>
              <a:off x="9966833" y="3881438"/>
              <a:ext cx="1770063" cy="381000"/>
            </a:xfrm>
            <a:custGeom>
              <a:rect b="b" l="l" r="r" t="t"/>
              <a:pathLst>
                <a:path extrusionOk="0" h="381000" w="1770063">
                  <a:moveTo>
                    <a:pt x="31749" y="0"/>
                  </a:moveTo>
                  <a:lnTo>
                    <a:pt x="1738314" y="0"/>
                  </a:lnTo>
                  <a:cubicBezTo>
                    <a:pt x="1755848" y="0"/>
                    <a:pt x="1770062" y="14214"/>
                    <a:pt x="1770062" y="31749"/>
                  </a:cubicBezTo>
                  <a:lnTo>
                    <a:pt x="1770063" y="349251"/>
                  </a:lnTo>
                  <a:cubicBezTo>
                    <a:pt x="1770062" y="366786"/>
                    <a:pt x="1755848" y="381000"/>
                    <a:pt x="1738314" y="381000"/>
                  </a:cubicBezTo>
                  <a:lnTo>
                    <a:pt x="31749" y="381000"/>
                  </a:lnTo>
                  <a:cubicBezTo>
                    <a:pt x="14214" y="381000"/>
                    <a:pt x="0" y="366786"/>
                    <a:pt x="0" y="349251"/>
                  </a:cubicBezTo>
                  <a:lnTo>
                    <a:pt x="0" y="31749"/>
                  </a:lnTo>
                  <a:cubicBezTo>
                    <a:pt x="0" y="14226"/>
                    <a:pt x="14226" y="0"/>
                    <a:pt x="31749" y="0"/>
                  </a:cubicBezTo>
                  <a:close/>
                </a:path>
              </a:pathLst>
            </a:custGeom>
            <a:solidFill>
              <a:srgbClr val="C5A06D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5"/>
            <p:cNvSpPr/>
            <p:nvPr/>
          </p:nvSpPr>
          <p:spPr>
            <a:xfrm>
              <a:off x="10030333" y="3944937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50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Check</a:t>
              </a:r>
              <a:endParaRPr b="0" i="0" sz="1600" u="none" cap="none" strike="noStrike"/>
            </a:p>
          </p:txBody>
        </p:sp>
        <p:sp>
          <p:nvSpPr>
            <p:cNvPr id="849" name="Google Shape;849;p25"/>
            <p:cNvSpPr/>
            <p:nvPr/>
          </p:nvSpPr>
          <p:spPr>
            <a:xfrm>
              <a:off x="10030333" y="4071938"/>
              <a:ext cx="1690688" cy="12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7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price ≥ 0</a:t>
              </a:r>
              <a:endParaRPr b="0" i="0" sz="1600" u="none" cap="none" strike="noStrike"/>
            </a:p>
          </p:txBody>
        </p:sp>
      </p:grpSp>
      <p:grpSp>
        <p:nvGrpSpPr>
          <p:cNvPr id="850" name="Google Shape;850;p25"/>
          <p:cNvGrpSpPr/>
          <p:nvPr/>
        </p:nvGrpSpPr>
        <p:grpSpPr>
          <a:xfrm>
            <a:off x="6191237" y="3863191"/>
            <a:ext cx="5707063" cy="2859872"/>
            <a:chOff x="6163469" y="4528344"/>
            <a:chExt cx="5707063" cy="3627438"/>
          </a:xfrm>
        </p:grpSpPr>
        <p:sp>
          <p:nvSpPr>
            <p:cNvPr id="851" name="Google Shape;851;p25"/>
            <p:cNvSpPr/>
            <p:nvPr/>
          </p:nvSpPr>
          <p:spPr>
            <a:xfrm>
              <a:off x="6163469" y="4528344"/>
              <a:ext cx="5707063" cy="3627438"/>
            </a:xfrm>
            <a:custGeom>
              <a:rect b="b" l="l" r="r" t="t"/>
              <a:pathLst>
                <a:path extrusionOk="0" h="3627438" w="5707063">
                  <a:moveTo>
                    <a:pt x="63516" y="0"/>
                  </a:moveTo>
                  <a:lnTo>
                    <a:pt x="5643546" y="0"/>
                  </a:lnTo>
                  <a:cubicBezTo>
                    <a:pt x="5678625" y="0"/>
                    <a:pt x="5707063" y="28437"/>
                    <a:pt x="5707063" y="63516"/>
                  </a:cubicBezTo>
                  <a:lnTo>
                    <a:pt x="5707063" y="3563921"/>
                  </a:lnTo>
                  <a:cubicBezTo>
                    <a:pt x="5707063" y="3599000"/>
                    <a:pt x="5678625" y="3627438"/>
                    <a:pt x="5643546" y="3627438"/>
                  </a:cubicBezTo>
                  <a:lnTo>
                    <a:pt x="63516" y="3627438"/>
                  </a:lnTo>
                  <a:cubicBezTo>
                    <a:pt x="28437" y="3627438"/>
                    <a:pt x="0" y="3599000"/>
                    <a:pt x="0" y="3563921"/>
                  </a:cubicBezTo>
                  <a:lnTo>
                    <a:pt x="0" y="63516"/>
                  </a:lnTo>
                  <a:cubicBezTo>
                    <a:pt x="0" y="28437"/>
                    <a:pt x="28437" y="0"/>
                    <a:pt x="63516" y="0"/>
                  </a:cubicBezTo>
                  <a:close/>
                </a:path>
              </a:pathLst>
            </a:custGeom>
            <a:solidFill>
              <a:srgbClr val="C5A06D">
                <a:alpha val="10196"/>
              </a:srgbClr>
            </a:solidFill>
            <a:ln cap="flat" cmpd="sng" w="12700">
              <a:solidFill>
                <a:srgbClr val="C5A06D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6294438" y="4659313"/>
              <a:ext cx="555625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5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Orders</a:t>
              </a:r>
              <a:endParaRPr b="0" i="0" sz="1600" u="none" cap="none" strike="noStrike"/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10969067" y="4659313"/>
              <a:ext cx="769938" cy="222250"/>
            </a:xfrm>
            <a:custGeom>
              <a:rect b="b" l="l" r="r" t="t"/>
              <a:pathLst>
                <a:path extrusionOk="0" h="222250" w="769938">
                  <a:moveTo>
                    <a:pt x="111125" y="0"/>
                  </a:moveTo>
                  <a:lnTo>
                    <a:pt x="658813" y="0"/>
                  </a:lnTo>
                  <a:cubicBezTo>
                    <a:pt x="720144" y="0"/>
                    <a:pt x="769938" y="49793"/>
                    <a:pt x="769938" y="111125"/>
                  </a:cubicBezTo>
                  <a:lnTo>
                    <a:pt x="769938" y="111125"/>
                  </a:lnTo>
                  <a:cubicBezTo>
                    <a:pt x="769938" y="172457"/>
                    <a:pt x="720144" y="222250"/>
                    <a:pt x="658813" y="222250"/>
                  </a:cubicBezTo>
                  <a:lnTo>
                    <a:pt x="111125" y="222250"/>
                  </a:lnTo>
                  <a:cubicBezTo>
                    <a:pt x="49793" y="222250"/>
                    <a:pt x="0" y="172457"/>
                    <a:pt x="0" y="111125"/>
                  </a:cubicBezTo>
                  <a:lnTo>
                    <a:pt x="0" y="111125"/>
                  </a:lnTo>
                  <a:cubicBezTo>
                    <a:pt x="0" y="49793"/>
                    <a:pt x="49793" y="0"/>
                    <a:pt x="111125" y="0"/>
                  </a:cubicBezTo>
                  <a:close/>
                </a:path>
              </a:pathLst>
            </a:custGeom>
            <a:solidFill>
              <a:srgbClr val="C5A06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10969067" y="4659313"/>
              <a:ext cx="825500" cy="222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750" lIns="95250" spcFirstLastPara="1" rIns="95250" wrap="square" tIns="3175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FFFFFF"/>
                  </a:solidFill>
                  <a:latin typeface="Liter"/>
                  <a:ea typeface="Liter"/>
                  <a:cs typeface="Liter"/>
                  <a:sym typeface="Liter"/>
                </a:rPr>
                <a:t>Transaction</a:t>
              </a:r>
              <a:endParaRPr b="0" i="0" sz="1600" u="none" cap="none" strike="noStrike"/>
            </a:p>
          </p:txBody>
        </p:sp>
        <p:sp>
          <p:nvSpPr>
            <p:cNvPr id="855" name="Google Shape;855;p25"/>
            <p:cNvSpPr/>
            <p:nvPr/>
          </p:nvSpPr>
          <p:spPr>
            <a:xfrm>
              <a:off x="6294438" y="4976813"/>
              <a:ext cx="5445125" cy="2571750"/>
            </a:xfrm>
            <a:custGeom>
              <a:rect b="b" l="l" r="r" t="t"/>
              <a:pathLst>
                <a:path extrusionOk="0" h="2571750" w="5445125">
                  <a:moveTo>
                    <a:pt x="31761" y="0"/>
                  </a:moveTo>
                  <a:lnTo>
                    <a:pt x="5413364" y="0"/>
                  </a:lnTo>
                  <a:cubicBezTo>
                    <a:pt x="5430905" y="0"/>
                    <a:pt x="5445125" y="14220"/>
                    <a:pt x="5445125" y="31761"/>
                  </a:cubicBezTo>
                  <a:lnTo>
                    <a:pt x="5445125" y="2539989"/>
                  </a:lnTo>
                  <a:cubicBezTo>
                    <a:pt x="5445125" y="2557530"/>
                    <a:pt x="5430905" y="2571750"/>
                    <a:pt x="5413364" y="2571750"/>
                  </a:cubicBezTo>
                  <a:lnTo>
                    <a:pt x="31761" y="2571750"/>
                  </a:lnTo>
                  <a:cubicBezTo>
                    <a:pt x="14220" y="2571750"/>
                    <a:pt x="0" y="2557530"/>
                    <a:pt x="0" y="2539989"/>
                  </a:cubicBezTo>
                  <a:lnTo>
                    <a:pt x="0" y="31761"/>
                  </a:lnTo>
                  <a:cubicBezTo>
                    <a:pt x="0" y="14232"/>
                    <a:pt x="14232" y="0"/>
                    <a:pt x="31761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25"/>
            <p:cNvSpPr/>
            <p:nvPr/>
          </p:nvSpPr>
          <p:spPr>
            <a:xfrm>
              <a:off x="6389688" y="5072063"/>
              <a:ext cx="5310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CREATE TABLE Orders (</a:t>
              </a:r>
              <a:endParaRPr b="0" i="0" sz="1600" u="none" cap="none" strike="noStrike"/>
            </a:p>
          </p:txBody>
        </p:sp>
        <p:sp>
          <p:nvSpPr>
            <p:cNvPr id="857" name="Google Shape;857;p25"/>
            <p:cNvSpPr/>
            <p:nvPr/>
          </p:nvSpPr>
          <p:spPr>
            <a:xfrm>
              <a:off x="6516582" y="5230769"/>
              <a:ext cx="5183100" cy="15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order_id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AUTO_INCREMENT</a:t>
              </a:r>
              <a:r>
                <a:rPr b="0" i="0" lang="en-US" sz="875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PRIMARY KEY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6516688" y="538956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user_id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6516688" y="554831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address_id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6516688" y="570706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coupon_id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INT UNSIGNED DEFAULT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61" name="Google Shape;861;p25"/>
            <p:cNvSpPr/>
            <p:nvPr/>
          </p:nvSpPr>
          <p:spPr>
            <a:xfrm>
              <a:off x="6516688" y="586581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subtotal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DECIMAL(10,2)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62" name="Google Shape;862;p25"/>
            <p:cNvSpPr/>
            <p:nvPr/>
          </p:nvSpPr>
          <p:spPr>
            <a:xfrm>
              <a:off x="6516688" y="602456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discount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DECIMAL(10,2) DEFAULT 0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6516688" y="618331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total_amount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DECIMAL(10,2) NOT NULL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endParaRPr b="0" i="0" sz="1600" u="none" cap="none" strike="noStrike"/>
            </a:p>
          </p:txBody>
        </p:sp>
        <p:sp>
          <p:nvSpPr>
            <p:cNvPr id="864" name="Google Shape;864;p25"/>
            <p:cNvSpPr/>
            <p:nvPr/>
          </p:nvSpPr>
          <p:spPr>
            <a:xfrm>
              <a:off x="6516688" y="6342063"/>
              <a:ext cx="5183188" cy="3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status </a:t>
              </a: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ENUM('pending','confirmed','shipped','delivered','cancelled')</a:t>
              </a:r>
              <a:r>
                <a:rPr b="0" i="0" lang="en-US" sz="875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 DEFAULT 'pending',</a:t>
              </a:r>
              <a:endParaRPr b="0" i="0" sz="1600" u="none" cap="none" strike="noStrike"/>
            </a:p>
          </p:txBody>
        </p:sp>
        <p:sp>
          <p:nvSpPr>
            <p:cNvPr id="865" name="Google Shape;865;p25"/>
            <p:cNvSpPr/>
            <p:nvPr/>
          </p:nvSpPr>
          <p:spPr>
            <a:xfrm>
              <a:off x="6516688" y="665956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FOREIGN KEY (user_id) REFERENCES Users(user_id) ON DELETE CASCADE,</a:t>
              </a:r>
              <a:endParaRPr b="0" i="0" sz="1600" u="none" cap="none" strike="noStrike"/>
            </a:p>
          </p:txBody>
        </p:sp>
        <p:sp>
          <p:nvSpPr>
            <p:cNvPr id="866" name="Google Shape;866;p25"/>
            <p:cNvSpPr/>
            <p:nvPr/>
          </p:nvSpPr>
          <p:spPr>
            <a:xfrm>
              <a:off x="6516688" y="6818313"/>
              <a:ext cx="5183188" cy="31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FOREIGN KEY (address_id) REFERENCES Addresses(address_id) ON DELETE SET NULL,</a:t>
              </a:r>
              <a:endParaRPr b="0" i="0" sz="1600" u="none" cap="none" strike="noStrike"/>
            </a:p>
          </p:txBody>
        </p:sp>
        <p:sp>
          <p:nvSpPr>
            <p:cNvPr id="867" name="Google Shape;867;p25"/>
            <p:cNvSpPr/>
            <p:nvPr/>
          </p:nvSpPr>
          <p:spPr>
            <a:xfrm>
              <a:off x="6516688" y="7135813"/>
              <a:ext cx="5183188" cy="158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5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FOREIGN KEY (coupon_id) REFERENCES Coupons(coupon_id) ON DELETE SET NULL</a:t>
              </a:r>
              <a:endParaRPr b="0" i="0" sz="1600" u="none" cap="none" strike="noStrike"/>
            </a:p>
          </p:txBody>
        </p:sp>
      </p:grpSp>
      <p:sp>
        <p:nvSpPr>
          <p:cNvPr id="868" name="Google Shape;868;p25"/>
          <p:cNvSpPr/>
          <p:nvPr/>
        </p:nvSpPr>
        <p:spPr>
          <a:xfrm>
            <a:off x="6389688" y="7294563"/>
            <a:ext cx="5310188" cy="158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5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);</a:t>
            </a:r>
            <a:endParaRPr b="0" i="0" sz="1600" u="none" cap="none" strike="noStrike"/>
          </a:p>
        </p:txBody>
      </p:sp>
      <p:sp>
        <p:nvSpPr>
          <p:cNvPr id="869" name="Google Shape;869;p25"/>
          <p:cNvSpPr/>
          <p:nvPr/>
        </p:nvSpPr>
        <p:spPr>
          <a:xfrm>
            <a:off x="6294438" y="7643813"/>
            <a:ext cx="2690813" cy="381000"/>
          </a:xfrm>
          <a:custGeom>
            <a:rect b="b" l="l" r="r" t="t"/>
            <a:pathLst>
              <a:path extrusionOk="0" h="381000" w="2690813">
                <a:moveTo>
                  <a:pt x="31749" y="0"/>
                </a:moveTo>
                <a:lnTo>
                  <a:pt x="2659064" y="0"/>
                </a:lnTo>
                <a:cubicBezTo>
                  <a:pt x="2676598" y="0"/>
                  <a:pt x="2690812" y="14214"/>
                  <a:pt x="2690812" y="31749"/>
                </a:cubicBezTo>
                <a:lnTo>
                  <a:pt x="2690813" y="349251"/>
                </a:lnTo>
                <a:cubicBezTo>
                  <a:pt x="2690812" y="366786"/>
                  <a:pt x="2676598" y="381000"/>
                  <a:pt x="2659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5"/>
          <p:cNvSpPr/>
          <p:nvPr/>
        </p:nvSpPr>
        <p:spPr>
          <a:xfrm>
            <a:off x="6357938" y="7707313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Foreign Keys</a:t>
            </a:r>
            <a:endParaRPr b="0" i="0" sz="1600" u="none" cap="none" strike="noStrike"/>
          </a:p>
        </p:txBody>
      </p:sp>
      <p:sp>
        <p:nvSpPr>
          <p:cNvPr id="871" name="Google Shape;871;p25"/>
          <p:cNvSpPr/>
          <p:nvPr/>
        </p:nvSpPr>
        <p:spPr>
          <a:xfrm>
            <a:off x="6357938" y="7834313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user_id, address_id, coupon_id</a:t>
            </a:r>
            <a:endParaRPr b="0" i="0" sz="1600" u="none" cap="none" strike="noStrike"/>
          </a:p>
        </p:txBody>
      </p:sp>
      <p:sp>
        <p:nvSpPr>
          <p:cNvPr id="872" name="Google Shape;872;p25"/>
          <p:cNvSpPr/>
          <p:nvPr/>
        </p:nvSpPr>
        <p:spPr>
          <a:xfrm>
            <a:off x="9048750" y="7643813"/>
            <a:ext cx="2690813" cy="381000"/>
          </a:xfrm>
          <a:custGeom>
            <a:rect b="b" l="l" r="r" t="t"/>
            <a:pathLst>
              <a:path extrusionOk="0" h="381000" w="2690813">
                <a:moveTo>
                  <a:pt x="31749" y="0"/>
                </a:moveTo>
                <a:lnTo>
                  <a:pt x="2659064" y="0"/>
                </a:lnTo>
                <a:cubicBezTo>
                  <a:pt x="2676598" y="0"/>
                  <a:pt x="2690812" y="14214"/>
                  <a:pt x="2690812" y="31749"/>
                </a:cubicBezTo>
                <a:lnTo>
                  <a:pt x="2690813" y="349251"/>
                </a:lnTo>
                <a:cubicBezTo>
                  <a:pt x="2690812" y="366786"/>
                  <a:pt x="2676598" y="381000"/>
                  <a:pt x="2659064" y="381000"/>
                </a:cubicBezTo>
                <a:lnTo>
                  <a:pt x="31749" y="381000"/>
                </a:lnTo>
                <a:cubicBezTo>
                  <a:pt x="14214" y="381000"/>
                  <a:pt x="0" y="366786"/>
                  <a:pt x="0" y="349251"/>
                </a:cubicBezTo>
                <a:lnTo>
                  <a:pt x="0" y="31749"/>
                </a:lnTo>
                <a:cubicBezTo>
                  <a:pt x="0" y="14226"/>
                  <a:pt x="14226" y="0"/>
                  <a:pt x="31749" y="0"/>
                </a:cubicBezTo>
                <a:close/>
              </a:path>
            </a:pathLst>
          </a:custGeom>
          <a:solidFill>
            <a:srgbClr val="C5A06D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5"/>
          <p:cNvSpPr/>
          <p:nvPr/>
        </p:nvSpPr>
        <p:spPr>
          <a:xfrm>
            <a:off x="9112250" y="7707313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Status Flow</a:t>
            </a:r>
            <a:endParaRPr b="0" i="0" sz="1600" u="none" cap="none" strike="noStrike"/>
          </a:p>
        </p:txBody>
      </p:sp>
      <p:sp>
        <p:nvSpPr>
          <p:cNvPr id="874" name="Google Shape;874;p25"/>
          <p:cNvSpPr/>
          <p:nvPr/>
        </p:nvSpPr>
        <p:spPr>
          <a:xfrm>
            <a:off x="9112250" y="7834313"/>
            <a:ext cx="2611438" cy="1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5-stage lifecycle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6"/>
          <p:cNvSpPr/>
          <p:nvPr/>
        </p:nvSpPr>
        <p:spPr>
          <a:xfrm>
            <a:off x="369735" y="369735"/>
            <a:ext cx="11526478" cy="2218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65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Complete Schema</a:t>
            </a:r>
            <a:endParaRPr b="0" i="0" sz="1600" u="none" cap="none" strike="noStrike"/>
          </a:p>
        </p:txBody>
      </p:sp>
      <p:sp>
        <p:nvSpPr>
          <p:cNvPr id="881" name="Google Shape;881;p26"/>
          <p:cNvSpPr/>
          <p:nvPr/>
        </p:nvSpPr>
        <p:spPr>
          <a:xfrm>
            <a:off x="369735" y="665522"/>
            <a:ext cx="11674371" cy="4436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94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Relational Schema - Supporting Tables</a:t>
            </a:r>
            <a:endParaRPr b="0" i="0" sz="1600" u="none" cap="none" strike="noStrike"/>
          </a:p>
        </p:txBody>
      </p:sp>
      <p:sp>
        <p:nvSpPr>
          <p:cNvPr id="882" name="Google Shape;882;p26"/>
          <p:cNvSpPr/>
          <p:nvPr/>
        </p:nvSpPr>
        <p:spPr>
          <a:xfrm>
            <a:off x="369735" y="1257098"/>
            <a:ext cx="887363" cy="36973"/>
          </a:xfrm>
          <a:custGeom>
            <a:rect b="b" l="l" r="r" t="t"/>
            <a:pathLst>
              <a:path extrusionOk="0" h="36973" w="887363">
                <a:moveTo>
                  <a:pt x="0" y="0"/>
                </a:moveTo>
                <a:lnTo>
                  <a:pt x="887363" y="0"/>
                </a:lnTo>
                <a:lnTo>
                  <a:pt x="887363" y="36973"/>
                </a:lnTo>
                <a:lnTo>
                  <a:pt x="0" y="36973"/>
                </a:lnTo>
                <a:lnTo>
                  <a:pt x="0" y="0"/>
                </a:lnTo>
                <a:close/>
              </a:path>
            </a:pathLst>
          </a:custGeom>
          <a:solidFill>
            <a:srgbClr val="4C8B8E"/>
          </a:solidFill>
          <a:ln>
            <a:noFill/>
          </a:ln>
        </p:spPr>
      </p:sp>
      <p:sp>
        <p:nvSpPr>
          <p:cNvPr id="883" name="Google Shape;883;p26"/>
          <p:cNvSpPr/>
          <p:nvPr/>
        </p:nvSpPr>
        <p:spPr>
          <a:xfrm>
            <a:off x="374356" y="1446587"/>
            <a:ext cx="3734320" cy="1525155"/>
          </a:xfrm>
          <a:custGeom>
            <a:rect b="b" l="l" r="r" t="t"/>
            <a:pathLst>
              <a:path extrusionOk="0" h="1525155" w="3734320">
                <a:moveTo>
                  <a:pt x="73940" y="0"/>
                </a:moveTo>
                <a:lnTo>
                  <a:pt x="3660380" y="0"/>
                </a:lnTo>
                <a:cubicBezTo>
                  <a:pt x="3701216" y="0"/>
                  <a:pt x="3734320" y="33104"/>
                  <a:pt x="3734320" y="73940"/>
                </a:cubicBezTo>
                <a:lnTo>
                  <a:pt x="3734320" y="1451216"/>
                </a:lnTo>
                <a:cubicBezTo>
                  <a:pt x="3734320" y="1492052"/>
                  <a:pt x="3701216" y="1525155"/>
                  <a:pt x="3660380" y="1525155"/>
                </a:cubicBezTo>
                <a:lnTo>
                  <a:pt x="73940" y="1525155"/>
                </a:lnTo>
                <a:cubicBezTo>
                  <a:pt x="33104" y="1525155"/>
                  <a:pt x="0" y="1492052"/>
                  <a:pt x="0" y="1451216"/>
                </a:cubicBezTo>
                <a:lnTo>
                  <a:pt x="0" y="73940"/>
                </a:lnTo>
                <a:cubicBezTo>
                  <a:pt x="0" y="33131"/>
                  <a:pt x="33131" y="0"/>
                  <a:pt x="73940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6"/>
          <p:cNvSpPr/>
          <p:nvPr/>
        </p:nvSpPr>
        <p:spPr>
          <a:xfrm>
            <a:off x="489898" y="1562129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Addresses</a:t>
            </a:r>
            <a:endParaRPr b="0" i="0" sz="1600" u="none" cap="none" strike="noStrike"/>
          </a:p>
        </p:txBody>
      </p:sp>
      <p:sp>
        <p:nvSpPr>
          <p:cNvPr id="885" name="Google Shape;885;p26"/>
          <p:cNvSpPr/>
          <p:nvPr/>
        </p:nvSpPr>
        <p:spPr>
          <a:xfrm>
            <a:off x="489898" y="1894890"/>
            <a:ext cx="3503236" cy="739469"/>
          </a:xfrm>
          <a:custGeom>
            <a:rect b="b" l="l" r="r" t="t"/>
            <a:pathLst>
              <a:path extrusionOk="0" h="739469" w="3503236">
                <a:moveTo>
                  <a:pt x="36973" y="0"/>
                </a:moveTo>
                <a:lnTo>
                  <a:pt x="3466262" y="0"/>
                </a:lnTo>
                <a:cubicBezTo>
                  <a:pt x="3486682" y="0"/>
                  <a:pt x="3503236" y="16554"/>
                  <a:pt x="3503236" y="36973"/>
                </a:cubicBezTo>
                <a:lnTo>
                  <a:pt x="3503236" y="702496"/>
                </a:lnTo>
                <a:cubicBezTo>
                  <a:pt x="3503236" y="722916"/>
                  <a:pt x="3486682" y="739469"/>
                  <a:pt x="3466262" y="739469"/>
                </a:cubicBez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6"/>
          <p:cNvSpPr/>
          <p:nvPr/>
        </p:nvSpPr>
        <p:spPr>
          <a:xfrm>
            <a:off x="563845" y="1968837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address_id</a:t>
            </a:r>
            <a:endParaRPr b="0" i="0" sz="1600" u="none" cap="none" strike="noStrike"/>
          </a:p>
        </p:txBody>
      </p:sp>
      <p:sp>
        <p:nvSpPr>
          <p:cNvPr id="887" name="Google Shape;887;p26"/>
          <p:cNvSpPr/>
          <p:nvPr/>
        </p:nvSpPr>
        <p:spPr>
          <a:xfrm>
            <a:off x="563845" y="2116731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user_id → Users</a:t>
            </a:r>
            <a:endParaRPr b="0" i="0" sz="1600" u="none" cap="none" strike="noStrike"/>
          </a:p>
        </p:txBody>
      </p:sp>
      <p:sp>
        <p:nvSpPr>
          <p:cNvPr id="888" name="Google Shape;888;p26"/>
          <p:cNvSpPr/>
          <p:nvPr/>
        </p:nvSpPr>
        <p:spPr>
          <a:xfrm>
            <a:off x="563845" y="2264625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label, street, city, state</a:t>
            </a:r>
            <a:endParaRPr b="0" i="0" sz="1600" u="none" cap="none" strike="noStrike"/>
          </a:p>
        </p:txBody>
      </p:sp>
      <p:sp>
        <p:nvSpPr>
          <p:cNvPr id="889" name="Google Shape;889;p26"/>
          <p:cNvSpPr/>
          <p:nvPr/>
        </p:nvSpPr>
        <p:spPr>
          <a:xfrm>
            <a:off x="563845" y="2412519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zip, country, is_default</a:t>
            </a:r>
            <a:endParaRPr b="0" i="0" sz="1600" u="none" cap="none" strike="noStrike"/>
          </a:p>
        </p:txBody>
      </p:sp>
      <p:sp>
        <p:nvSpPr>
          <p:cNvPr id="890" name="Google Shape;890;p26"/>
          <p:cNvSpPr/>
          <p:nvPr/>
        </p:nvSpPr>
        <p:spPr>
          <a:xfrm>
            <a:off x="489898" y="2708306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ON DELETE CASCADE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from Users</a:t>
            </a:r>
            <a:endParaRPr b="0" i="0" sz="1600" u="none" cap="none" strike="noStrike"/>
          </a:p>
        </p:txBody>
      </p:sp>
      <p:sp>
        <p:nvSpPr>
          <p:cNvPr id="891" name="Google Shape;891;p26"/>
          <p:cNvSpPr/>
          <p:nvPr/>
        </p:nvSpPr>
        <p:spPr>
          <a:xfrm>
            <a:off x="374356" y="3091906"/>
            <a:ext cx="3734320" cy="1377262"/>
          </a:xfrm>
          <a:custGeom>
            <a:rect b="b" l="l" r="r" t="t"/>
            <a:pathLst>
              <a:path extrusionOk="0" h="1377262" w="3734320">
                <a:moveTo>
                  <a:pt x="73945" y="0"/>
                </a:moveTo>
                <a:lnTo>
                  <a:pt x="3660375" y="0"/>
                </a:lnTo>
                <a:cubicBezTo>
                  <a:pt x="3701214" y="0"/>
                  <a:pt x="3734320" y="33106"/>
                  <a:pt x="3734320" y="73945"/>
                </a:cubicBezTo>
                <a:lnTo>
                  <a:pt x="3734320" y="1303316"/>
                </a:lnTo>
                <a:cubicBezTo>
                  <a:pt x="3734320" y="1344155"/>
                  <a:pt x="3701214" y="1377262"/>
                  <a:pt x="3660375" y="1377262"/>
                </a:cubicBezTo>
                <a:lnTo>
                  <a:pt x="73945" y="1377262"/>
                </a:lnTo>
                <a:cubicBezTo>
                  <a:pt x="33106" y="1377262"/>
                  <a:pt x="0" y="1344155"/>
                  <a:pt x="0" y="1303316"/>
                </a:cubicBezTo>
                <a:lnTo>
                  <a:pt x="0" y="73945"/>
                </a:lnTo>
                <a:cubicBezTo>
                  <a:pt x="0" y="33134"/>
                  <a:pt x="33134" y="0"/>
                  <a:pt x="73945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6"/>
          <p:cNvSpPr/>
          <p:nvPr/>
        </p:nvSpPr>
        <p:spPr>
          <a:xfrm>
            <a:off x="489898" y="3207448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Cart</a:t>
            </a:r>
            <a:endParaRPr b="0" i="0" sz="1600" u="none" cap="none" strike="noStrike"/>
          </a:p>
        </p:txBody>
      </p:sp>
      <p:sp>
        <p:nvSpPr>
          <p:cNvPr id="893" name="Google Shape;893;p26"/>
          <p:cNvSpPr/>
          <p:nvPr/>
        </p:nvSpPr>
        <p:spPr>
          <a:xfrm>
            <a:off x="489898" y="3540209"/>
            <a:ext cx="3503236" cy="591575"/>
          </a:xfrm>
          <a:custGeom>
            <a:rect b="b" l="l" r="r" t="t"/>
            <a:pathLst>
              <a:path extrusionOk="0" h="591575" w="3503236">
                <a:moveTo>
                  <a:pt x="36973" y="0"/>
                </a:moveTo>
                <a:lnTo>
                  <a:pt x="3466262" y="0"/>
                </a:lnTo>
                <a:cubicBezTo>
                  <a:pt x="3486682" y="0"/>
                  <a:pt x="3503236" y="16554"/>
                  <a:pt x="3503236" y="36973"/>
                </a:cubicBezTo>
                <a:lnTo>
                  <a:pt x="3503236" y="554602"/>
                </a:lnTo>
                <a:cubicBezTo>
                  <a:pt x="3503236" y="575022"/>
                  <a:pt x="3486682" y="591575"/>
                  <a:pt x="3466262" y="591575"/>
                </a:cubicBezTo>
                <a:lnTo>
                  <a:pt x="36973" y="591575"/>
                </a:lnTo>
                <a:cubicBezTo>
                  <a:pt x="16554" y="591575"/>
                  <a:pt x="0" y="575022"/>
                  <a:pt x="0" y="554602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6"/>
          <p:cNvSpPr/>
          <p:nvPr/>
        </p:nvSpPr>
        <p:spPr>
          <a:xfrm>
            <a:off x="563845" y="3614156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cart_id</a:t>
            </a:r>
            <a:endParaRPr b="0" i="0" sz="1600" u="none" cap="none" strike="noStrike"/>
          </a:p>
        </p:txBody>
      </p:sp>
      <p:sp>
        <p:nvSpPr>
          <p:cNvPr id="895" name="Google Shape;895;p26"/>
          <p:cNvSpPr/>
          <p:nvPr/>
        </p:nvSpPr>
        <p:spPr>
          <a:xfrm>
            <a:off x="563845" y="3762050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user_id → Users (UQ)</a:t>
            </a:r>
            <a:endParaRPr b="0" i="0" sz="1600" u="none" cap="none" strike="noStrike"/>
          </a:p>
        </p:txBody>
      </p:sp>
      <p:sp>
        <p:nvSpPr>
          <p:cNvPr id="896" name="Google Shape;896;p26"/>
          <p:cNvSpPr/>
          <p:nvPr/>
        </p:nvSpPr>
        <p:spPr>
          <a:xfrm>
            <a:off x="563845" y="3909944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created_at</a:t>
            </a:r>
            <a:endParaRPr b="0" i="0" sz="1600" u="none" cap="none" strike="noStrike"/>
          </a:p>
        </p:txBody>
      </p:sp>
      <p:sp>
        <p:nvSpPr>
          <p:cNvPr id="897" name="Google Shape;897;p26"/>
          <p:cNvSpPr/>
          <p:nvPr/>
        </p:nvSpPr>
        <p:spPr>
          <a:xfrm>
            <a:off x="489898" y="4205732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1:1 Relationship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with Users</a:t>
            </a:r>
            <a:endParaRPr b="0" i="0" sz="1600" u="none" cap="none" strike="noStrike"/>
          </a:p>
        </p:txBody>
      </p:sp>
      <p:sp>
        <p:nvSpPr>
          <p:cNvPr id="898" name="Google Shape;898;p26"/>
          <p:cNvSpPr/>
          <p:nvPr/>
        </p:nvSpPr>
        <p:spPr>
          <a:xfrm>
            <a:off x="374356" y="4589331"/>
            <a:ext cx="3734320" cy="1673049"/>
          </a:xfrm>
          <a:custGeom>
            <a:rect b="b" l="l" r="r" t="t"/>
            <a:pathLst>
              <a:path extrusionOk="0" h="1673049" w="3734320">
                <a:moveTo>
                  <a:pt x="73949" y="0"/>
                </a:moveTo>
                <a:lnTo>
                  <a:pt x="3660371" y="0"/>
                </a:lnTo>
                <a:cubicBezTo>
                  <a:pt x="3701212" y="0"/>
                  <a:pt x="3734320" y="33108"/>
                  <a:pt x="3734320" y="73949"/>
                </a:cubicBezTo>
                <a:lnTo>
                  <a:pt x="3734320" y="1599101"/>
                </a:lnTo>
                <a:cubicBezTo>
                  <a:pt x="3734320" y="1639941"/>
                  <a:pt x="3701212" y="1673049"/>
                  <a:pt x="3660371" y="1673049"/>
                </a:cubicBezTo>
                <a:lnTo>
                  <a:pt x="73949" y="1673049"/>
                </a:lnTo>
                <a:cubicBezTo>
                  <a:pt x="33108" y="1673049"/>
                  <a:pt x="0" y="1639941"/>
                  <a:pt x="0" y="159910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6"/>
          <p:cNvSpPr/>
          <p:nvPr/>
        </p:nvSpPr>
        <p:spPr>
          <a:xfrm>
            <a:off x="489898" y="4704873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Cart_Items</a:t>
            </a:r>
            <a:endParaRPr b="0" i="0" sz="1600" u="none" cap="none" strike="noStrike"/>
          </a:p>
        </p:txBody>
      </p:sp>
      <p:sp>
        <p:nvSpPr>
          <p:cNvPr id="900" name="Google Shape;900;p26"/>
          <p:cNvSpPr/>
          <p:nvPr/>
        </p:nvSpPr>
        <p:spPr>
          <a:xfrm>
            <a:off x="489898" y="5037635"/>
            <a:ext cx="3503236" cy="887363"/>
          </a:xfrm>
          <a:custGeom>
            <a:rect b="b" l="l" r="r" t="t"/>
            <a:pathLst>
              <a:path extrusionOk="0" h="887363" w="3503236">
                <a:moveTo>
                  <a:pt x="36976" y="0"/>
                </a:moveTo>
                <a:lnTo>
                  <a:pt x="3466259" y="0"/>
                </a:lnTo>
                <a:cubicBezTo>
                  <a:pt x="3486681" y="0"/>
                  <a:pt x="3503236" y="16555"/>
                  <a:pt x="3503236" y="36976"/>
                </a:cubicBezTo>
                <a:lnTo>
                  <a:pt x="3503236" y="850387"/>
                </a:lnTo>
                <a:cubicBezTo>
                  <a:pt x="3503236" y="870808"/>
                  <a:pt x="3486681" y="887363"/>
                  <a:pt x="3466259" y="887363"/>
                </a:cubicBezTo>
                <a:lnTo>
                  <a:pt x="36976" y="887363"/>
                </a:lnTo>
                <a:cubicBezTo>
                  <a:pt x="16555" y="887363"/>
                  <a:pt x="0" y="870808"/>
                  <a:pt x="0" y="850387"/>
                </a:cubicBezTo>
                <a:lnTo>
                  <a:pt x="0" y="36976"/>
                </a:lnTo>
                <a:cubicBezTo>
                  <a:pt x="0" y="16569"/>
                  <a:pt x="16569" y="0"/>
                  <a:pt x="36976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6"/>
          <p:cNvSpPr/>
          <p:nvPr/>
        </p:nvSpPr>
        <p:spPr>
          <a:xfrm>
            <a:off x="563845" y="5111582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cart_item_id</a:t>
            </a:r>
            <a:endParaRPr b="0" i="0" sz="1600" u="none" cap="none" strike="noStrike"/>
          </a:p>
        </p:txBody>
      </p:sp>
      <p:sp>
        <p:nvSpPr>
          <p:cNvPr id="902" name="Google Shape;902;p26"/>
          <p:cNvSpPr/>
          <p:nvPr/>
        </p:nvSpPr>
        <p:spPr>
          <a:xfrm>
            <a:off x="563845" y="5259475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cart_id → Cart</a:t>
            </a:r>
            <a:endParaRPr b="0" i="0" sz="1600" u="none" cap="none" strike="noStrike"/>
          </a:p>
        </p:txBody>
      </p:sp>
      <p:sp>
        <p:nvSpPr>
          <p:cNvPr id="903" name="Google Shape;903;p26"/>
          <p:cNvSpPr/>
          <p:nvPr/>
        </p:nvSpPr>
        <p:spPr>
          <a:xfrm>
            <a:off x="563845" y="5407369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product_id → Products</a:t>
            </a:r>
            <a:endParaRPr b="0" i="0" sz="1600" u="none" cap="none" strike="noStrike"/>
          </a:p>
        </p:txBody>
      </p:sp>
      <p:sp>
        <p:nvSpPr>
          <p:cNvPr id="904" name="Google Shape;904;p26"/>
          <p:cNvSpPr/>
          <p:nvPr/>
        </p:nvSpPr>
        <p:spPr>
          <a:xfrm>
            <a:off x="563845" y="5555263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quantity (≥ 1), added_at</a:t>
            </a:r>
            <a:endParaRPr b="0" i="0" sz="1600" u="none" cap="none" strike="noStrike"/>
          </a:p>
        </p:txBody>
      </p:sp>
      <p:sp>
        <p:nvSpPr>
          <p:cNvPr id="905" name="Google Shape;905;p26"/>
          <p:cNvSpPr/>
          <p:nvPr/>
        </p:nvSpPr>
        <p:spPr>
          <a:xfrm>
            <a:off x="563845" y="5703157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5F6B7A"/>
                </a:solidFill>
                <a:latin typeface="Arial"/>
                <a:ea typeface="Arial"/>
                <a:cs typeface="Arial"/>
                <a:sym typeface="Arial"/>
              </a:rPr>
              <a:t>UQ: (cart_id, product_id)</a:t>
            </a:r>
            <a:endParaRPr b="0" i="0" sz="1600" u="none" cap="none" strike="noStrike"/>
          </a:p>
        </p:txBody>
      </p:sp>
      <p:sp>
        <p:nvSpPr>
          <p:cNvPr id="906" name="Google Shape;906;p26"/>
          <p:cNvSpPr/>
          <p:nvPr/>
        </p:nvSpPr>
        <p:spPr>
          <a:xfrm>
            <a:off x="489898" y="5998945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Weak Entity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- dependent on Cart</a:t>
            </a:r>
            <a:endParaRPr b="0" i="0" sz="1600" u="none" cap="none" strike="noStrike"/>
          </a:p>
        </p:txBody>
      </p:sp>
      <p:sp>
        <p:nvSpPr>
          <p:cNvPr id="907" name="Google Shape;907;p26"/>
          <p:cNvSpPr/>
          <p:nvPr/>
        </p:nvSpPr>
        <p:spPr>
          <a:xfrm>
            <a:off x="4229129" y="1446587"/>
            <a:ext cx="3734320" cy="1525155"/>
          </a:xfrm>
          <a:custGeom>
            <a:rect b="b" l="l" r="r" t="t"/>
            <a:pathLst>
              <a:path extrusionOk="0" h="1525155" w="3734320">
                <a:moveTo>
                  <a:pt x="73940" y="0"/>
                </a:moveTo>
                <a:lnTo>
                  <a:pt x="3660380" y="0"/>
                </a:lnTo>
                <a:cubicBezTo>
                  <a:pt x="3701216" y="0"/>
                  <a:pt x="3734320" y="33104"/>
                  <a:pt x="3734320" y="73940"/>
                </a:cubicBezTo>
                <a:lnTo>
                  <a:pt x="3734320" y="1451216"/>
                </a:lnTo>
                <a:cubicBezTo>
                  <a:pt x="3734320" y="1492052"/>
                  <a:pt x="3701216" y="1525155"/>
                  <a:pt x="3660380" y="1525155"/>
                </a:cubicBezTo>
                <a:lnTo>
                  <a:pt x="73940" y="1525155"/>
                </a:lnTo>
                <a:cubicBezTo>
                  <a:pt x="33104" y="1525155"/>
                  <a:pt x="0" y="1492052"/>
                  <a:pt x="0" y="1451216"/>
                </a:cubicBezTo>
                <a:lnTo>
                  <a:pt x="0" y="73940"/>
                </a:lnTo>
                <a:cubicBezTo>
                  <a:pt x="0" y="33131"/>
                  <a:pt x="33131" y="0"/>
                  <a:pt x="73940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6"/>
          <p:cNvSpPr/>
          <p:nvPr/>
        </p:nvSpPr>
        <p:spPr>
          <a:xfrm>
            <a:off x="4344671" y="1562129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Inventory</a:t>
            </a:r>
            <a:endParaRPr b="0" i="0" sz="1600" u="none" cap="none" strike="noStrike"/>
          </a:p>
        </p:txBody>
      </p:sp>
      <p:sp>
        <p:nvSpPr>
          <p:cNvPr id="909" name="Google Shape;909;p26"/>
          <p:cNvSpPr/>
          <p:nvPr/>
        </p:nvSpPr>
        <p:spPr>
          <a:xfrm>
            <a:off x="4344671" y="1894890"/>
            <a:ext cx="3503236" cy="739469"/>
          </a:xfrm>
          <a:custGeom>
            <a:rect b="b" l="l" r="r" t="t"/>
            <a:pathLst>
              <a:path extrusionOk="0" h="739469" w="3503236">
                <a:moveTo>
                  <a:pt x="36973" y="0"/>
                </a:moveTo>
                <a:lnTo>
                  <a:pt x="3466262" y="0"/>
                </a:lnTo>
                <a:cubicBezTo>
                  <a:pt x="3486682" y="0"/>
                  <a:pt x="3503236" y="16554"/>
                  <a:pt x="3503236" y="36973"/>
                </a:cubicBezTo>
                <a:lnTo>
                  <a:pt x="3503236" y="702496"/>
                </a:lnTo>
                <a:cubicBezTo>
                  <a:pt x="3503236" y="722916"/>
                  <a:pt x="3486682" y="739469"/>
                  <a:pt x="3466262" y="739469"/>
                </a:cubicBezTo>
                <a:lnTo>
                  <a:pt x="36973" y="739469"/>
                </a:lnTo>
                <a:cubicBezTo>
                  <a:pt x="16554" y="739469"/>
                  <a:pt x="0" y="722916"/>
                  <a:pt x="0" y="702496"/>
                </a:cubicBezTo>
                <a:lnTo>
                  <a:pt x="0" y="36973"/>
                </a:lnTo>
                <a:cubicBezTo>
                  <a:pt x="0" y="16567"/>
                  <a:pt x="16567" y="0"/>
                  <a:pt x="36973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6"/>
          <p:cNvSpPr/>
          <p:nvPr/>
        </p:nvSpPr>
        <p:spPr>
          <a:xfrm>
            <a:off x="4418618" y="1968837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inventory_id</a:t>
            </a:r>
            <a:endParaRPr b="0" i="0" sz="1600" u="none" cap="none" strike="noStrike"/>
          </a:p>
        </p:txBody>
      </p:sp>
      <p:sp>
        <p:nvSpPr>
          <p:cNvPr id="911" name="Google Shape;911;p26"/>
          <p:cNvSpPr/>
          <p:nvPr/>
        </p:nvSpPr>
        <p:spPr>
          <a:xfrm>
            <a:off x="4418618" y="2116731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product_id → Products (UQ)</a:t>
            </a:r>
            <a:endParaRPr b="0" i="0" sz="1600" u="none" cap="none" strike="noStrike"/>
          </a:p>
        </p:txBody>
      </p:sp>
      <p:sp>
        <p:nvSpPr>
          <p:cNvPr id="912" name="Google Shape;912;p26"/>
          <p:cNvSpPr/>
          <p:nvPr/>
        </p:nvSpPr>
        <p:spPr>
          <a:xfrm>
            <a:off x="4418618" y="2264625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quantity (UNSIGNED)</a:t>
            </a:r>
            <a:endParaRPr b="0" i="0" sz="1600" u="none" cap="none" strike="noStrike"/>
          </a:p>
        </p:txBody>
      </p:sp>
      <p:sp>
        <p:nvSpPr>
          <p:cNvPr id="913" name="Google Shape;913;p26"/>
          <p:cNvSpPr/>
          <p:nvPr/>
        </p:nvSpPr>
        <p:spPr>
          <a:xfrm>
            <a:off x="4418618" y="2412519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updated_at</a:t>
            </a:r>
            <a:endParaRPr b="0" i="0" sz="1600" u="none" cap="none" strike="noStrike"/>
          </a:p>
        </p:txBody>
      </p:sp>
      <p:sp>
        <p:nvSpPr>
          <p:cNvPr id="914" name="Google Shape;914;p26"/>
          <p:cNvSpPr/>
          <p:nvPr/>
        </p:nvSpPr>
        <p:spPr>
          <a:xfrm>
            <a:off x="4344671" y="2708306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1:1 Relationship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- Stock tracking</a:t>
            </a:r>
            <a:endParaRPr b="0" i="0" sz="1600" u="none" cap="none" strike="noStrike"/>
          </a:p>
        </p:txBody>
      </p:sp>
      <p:sp>
        <p:nvSpPr>
          <p:cNvPr id="915" name="Google Shape;915;p26"/>
          <p:cNvSpPr/>
          <p:nvPr/>
        </p:nvSpPr>
        <p:spPr>
          <a:xfrm>
            <a:off x="4229129" y="3091906"/>
            <a:ext cx="3734320" cy="1673049"/>
          </a:xfrm>
          <a:custGeom>
            <a:rect b="b" l="l" r="r" t="t"/>
            <a:pathLst>
              <a:path extrusionOk="0" h="1673049" w="3734320">
                <a:moveTo>
                  <a:pt x="73949" y="0"/>
                </a:moveTo>
                <a:lnTo>
                  <a:pt x="3660371" y="0"/>
                </a:lnTo>
                <a:cubicBezTo>
                  <a:pt x="3701212" y="0"/>
                  <a:pt x="3734320" y="33108"/>
                  <a:pt x="3734320" y="73949"/>
                </a:cubicBezTo>
                <a:lnTo>
                  <a:pt x="3734320" y="1599101"/>
                </a:lnTo>
                <a:cubicBezTo>
                  <a:pt x="3734320" y="1639941"/>
                  <a:pt x="3701212" y="1673049"/>
                  <a:pt x="3660371" y="1673049"/>
                </a:cubicBezTo>
                <a:lnTo>
                  <a:pt x="73949" y="1673049"/>
                </a:lnTo>
                <a:cubicBezTo>
                  <a:pt x="33108" y="1673049"/>
                  <a:pt x="0" y="1639941"/>
                  <a:pt x="0" y="159910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6"/>
          <p:cNvSpPr/>
          <p:nvPr/>
        </p:nvSpPr>
        <p:spPr>
          <a:xfrm>
            <a:off x="4344671" y="3207448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Order_Items</a:t>
            </a:r>
            <a:endParaRPr b="0" i="0" sz="1600" u="none" cap="none" strike="noStrike"/>
          </a:p>
        </p:txBody>
      </p:sp>
      <p:sp>
        <p:nvSpPr>
          <p:cNvPr id="917" name="Google Shape;917;p26"/>
          <p:cNvSpPr/>
          <p:nvPr/>
        </p:nvSpPr>
        <p:spPr>
          <a:xfrm>
            <a:off x="4344671" y="3540209"/>
            <a:ext cx="3503236" cy="887363"/>
          </a:xfrm>
          <a:custGeom>
            <a:rect b="b" l="l" r="r" t="t"/>
            <a:pathLst>
              <a:path extrusionOk="0" h="887363" w="3503236">
                <a:moveTo>
                  <a:pt x="36976" y="0"/>
                </a:moveTo>
                <a:lnTo>
                  <a:pt x="3466259" y="0"/>
                </a:lnTo>
                <a:cubicBezTo>
                  <a:pt x="3486681" y="0"/>
                  <a:pt x="3503236" y="16555"/>
                  <a:pt x="3503236" y="36976"/>
                </a:cubicBezTo>
                <a:lnTo>
                  <a:pt x="3503236" y="850387"/>
                </a:lnTo>
                <a:cubicBezTo>
                  <a:pt x="3503236" y="870808"/>
                  <a:pt x="3486681" y="887363"/>
                  <a:pt x="3466259" y="887363"/>
                </a:cubicBezTo>
                <a:lnTo>
                  <a:pt x="36976" y="887363"/>
                </a:lnTo>
                <a:cubicBezTo>
                  <a:pt x="16555" y="887363"/>
                  <a:pt x="0" y="870808"/>
                  <a:pt x="0" y="850387"/>
                </a:cubicBezTo>
                <a:lnTo>
                  <a:pt x="0" y="36976"/>
                </a:lnTo>
                <a:cubicBezTo>
                  <a:pt x="0" y="16569"/>
                  <a:pt x="16569" y="0"/>
                  <a:pt x="36976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6"/>
          <p:cNvSpPr/>
          <p:nvPr/>
        </p:nvSpPr>
        <p:spPr>
          <a:xfrm>
            <a:off x="4418618" y="3614156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order_item_id</a:t>
            </a:r>
            <a:endParaRPr b="0" i="0" sz="1600" u="none" cap="none" strike="noStrike"/>
          </a:p>
        </p:txBody>
      </p:sp>
      <p:sp>
        <p:nvSpPr>
          <p:cNvPr id="919" name="Google Shape;919;p26"/>
          <p:cNvSpPr/>
          <p:nvPr/>
        </p:nvSpPr>
        <p:spPr>
          <a:xfrm>
            <a:off x="4418618" y="3762050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order_id → Orders</a:t>
            </a:r>
            <a:endParaRPr b="0" i="0" sz="1600" u="none" cap="none" strike="noStrike"/>
          </a:p>
        </p:txBody>
      </p:sp>
      <p:sp>
        <p:nvSpPr>
          <p:cNvPr id="920" name="Google Shape;920;p26"/>
          <p:cNvSpPr/>
          <p:nvPr/>
        </p:nvSpPr>
        <p:spPr>
          <a:xfrm>
            <a:off x="4418618" y="3909944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product_id → Products</a:t>
            </a:r>
            <a:endParaRPr b="0" i="0" sz="1600" u="none" cap="none" strike="noStrike"/>
          </a:p>
        </p:txBody>
      </p:sp>
      <p:sp>
        <p:nvSpPr>
          <p:cNvPr id="921" name="Google Shape;921;p26"/>
          <p:cNvSpPr/>
          <p:nvPr/>
        </p:nvSpPr>
        <p:spPr>
          <a:xfrm>
            <a:off x="4418618" y="4057838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quantity (≥ 1)</a:t>
            </a:r>
            <a:endParaRPr b="0" i="0" sz="1600" u="none" cap="none" strike="noStrike"/>
          </a:p>
        </p:txBody>
      </p:sp>
      <p:sp>
        <p:nvSpPr>
          <p:cNvPr id="922" name="Google Shape;922;p26"/>
          <p:cNvSpPr/>
          <p:nvPr/>
        </p:nvSpPr>
        <p:spPr>
          <a:xfrm>
            <a:off x="4418618" y="4205732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unit_price (historical)</a:t>
            </a:r>
            <a:endParaRPr b="0" i="0" sz="1600" u="none" cap="none" strike="noStrike"/>
          </a:p>
        </p:txBody>
      </p:sp>
      <p:sp>
        <p:nvSpPr>
          <p:cNvPr id="923" name="Google Shape;923;p26"/>
          <p:cNvSpPr/>
          <p:nvPr/>
        </p:nvSpPr>
        <p:spPr>
          <a:xfrm>
            <a:off x="4344671" y="4501519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Denormalized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for price accuracy</a:t>
            </a:r>
            <a:endParaRPr b="0" i="0" sz="1600" u="none" cap="none" strike="noStrike"/>
          </a:p>
        </p:txBody>
      </p:sp>
      <p:sp>
        <p:nvSpPr>
          <p:cNvPr id="924" name="Google Shape;924;p26"/>
          <p:cNvSpPr/>
          <p:nvPr/>
        </p:nvSpPr>
        <p:spPr>
          <a:xfrm>
            <a:off x="4229129" y="4885119"/>
            <a:ext cx="3734320" cy="1673049"/>
          </a:xfrm>
          <a:custGeom>
            <a:rect b="b" l="l" r="r" t="t"/>
            <a:pathLst>
              <a:path extrusionOk="0" h="1673049" w="3734320">
                <a:moveTo>
                  <a:pt x="73949" y="0"/>
                </a:moveTo>
                <a:lnTo>
                  <a:pt x="3660371" y="0"/>
                </a:lnTo>
                <a:cubicBezTo>
                  <a:pt x="3701212" y="0"/>
                  <a:pt x="3734320" y="33108"/>
                  <a:pt x="3734320" y="73949"/>
                </a:cubicBezTo>
                <a:lnTo>
                  <a:pt x="3734320" y="1599101"/>
                </a:lnTo>
                <a:cubicBezTo>
                  <a:pt x="3734320" y="1639941"/>
                  <a:pt x="3701212" y="1673049"/>
                  <a:pt x="3660371" y="1673049"/>
                </a:cubicBezTo>
                <a:lnTo>
                  <a:pt x="73949" y="1673049"/>
                </a:lnTo>
                <a:cubicBezTo>
                  <a:pt x="33108" y="1673049"/>
                  <a:pt x="0" y="1639941"/>
                  <a:pt x="0" y="1599101"/>
                </a:cubicBezTo>
                <a:lnTo>
                  <a:pt x="0" y="73949"/>
                </a:lnTo>
                <a:cubicBezTo>
                  <a:pt x="0" y="33135"/>
                  <a:pt x="33135" y="0"/>
                  <a:pt x="73949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6"/>
          <p:cNvSpPr/>
          <p:nvPr/>
        </p:nvSpPr>
        <p:spPr>
          <a:xfrm>
            <a:off x="4344671" y="5000661"/>
            <a:ext cx="3586426" cy="25881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Payments</a:t>
            </a:r>
            <a:endParaRPr b="0" i="0" sz="1600" u="none" cap="none" strike="noStrike"/>
          </a:p>
        </p:txBody>
      </p:sp>
      <p:sp>
        <p:nvSpPr>
          <p:cNvPr id="926" name="Google Shape;926;p26"/>
          <p:cNvSpPr/>
          <p:nvPr/>
        </p:nvSpPr>
        <p:spPr>
          <a:xfrm>
            <a:off x="4344671" y="5333422"/>
            <a:ext cx="3503236" cy="887363"/>
          </a:xfrm>
          <a:custGeom>
            <a:rect b="b" l="l" r="r" t="t"/>
            <a:pathLst>
              <a:path extrusionOk="0" h="887363" w="3503236">
                <a:moveTo>
                  <a:pt x="36976" y="0"/>
                </a:moveTo>
                <a:lnTo>
                  <a:pt x="3466259" y="0"/>
                </a:lnTo>
                <a:cubicBezTo>
                  <a:pt x="3486681" y="0"/>
                  <a:pt x="3503236" y="16555"/>
                  <a:pt x="3503236" y="36976"/>
                </a:cubicBezTo>
                <a:lnTo>
                  <a:pt x="3503236" y="850387"/>
                </a:lnTo>
                <a:cubicBezTo>
                  <a:pt x="3503236" y="870808"/>
                  <a:pt x="3486681" y="887363"/>
                  <a:pt x="3466259" y="887363"/>
                </a:cubicBezTo>
                <a:lnTo>
                  <a:pt x="36976" y="887363"/>
                </a:lnTo>
                <a:cubicBezTo>
                  <a:pt x="16555" y="887363"/>
                  <a:pt x="0" y="870808"/>
                  <a:pt x="0" y="850387"/>
                </a:cubicBezTo>
                <a:lnTo>
                  <a:pt x="0" y="36976"/>
                </a:lnTo>
                <a:cubicBezTo>
                  <a:pt x="0" y="16569"/>
                  <a:pt x="16569" y="0"/>
                  <a:pt x="36976" y="0"/>
                </a:cubicBezTo>
                <a:close/>
              </a:path>
            </a:pathLst>
          </a:custGeom>
          <a:solidFill>
            <a:srgbClr val="2D31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6"/>
          <p:cNvSpPr/>
          <p:nvPr/>
        </p:nvSpPr>
        <p:spPr>
          <a:xfrm>
            <a:off x="4418618" y="5407369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Arial"/>
                <a:ea typeface="Arial"/>
                <a:cs typeface="Arial"/>
                <a:sym typeface="Arial"/>
              </a:rPr>
              <a:t>PK: payment_id</a:t>
            </a:r>
            <a:endParaRPr b="0" i="0" sz="1600" u="none" cap="none" strike="noStrike"/>
          </a:p>
        </p:txBody>
      </p:sp>
      <p:sp>
        <p:nvSpPr>
          <p:cNvPr id="928" name="Google Shape;928;p26"/>
          <p:cNvSpPr/>
          <p:nvPr/>
        </p:nvSpPr>
        <p:spPr>
          <a:xfrm>
            <a:off x="4418618" y="5555263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4C8B8E"/>
                </a:solidFill>
                <a:latin typeface="Arial"/>
                <a:ea typeface="Arial"/>
                <a:cs typeface="Arial"/>
                <a:sym typeface="Arial"/>
              </a:rPr>
              <a:t>FK: order_id → Orders (UQ)</a:t>
            </a:r>
            <a:endParaRPr b="0" i="0" sz="1600" u="none" cap="none" strike="noStrike"/>
          </a:p>
        </p:txBody>
      </p:sp>
      <p:sp>
        <p:nvSpPr>
          <p:cNvPr id="929" name="Google Shape;929;p26"/>
          <p:cNvSpPr/>
          <p:nvPr/>
        </p:nvSpPr>
        <p:spPr>
          <a:xfrm>
            <a:off x="4418618" y="5703157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method, provider</a:t>
            </a:r>
            <a:endParaRPr b="0" i="0" sz="1600" u="none" cap="none" strike="noStrike"/>
          </a:p>
        </p:txBody>
      </p:sp>
      <p:sp>
        <p:nvSpPr>
          <p:cNvPr id="930" name="Google Shape;930;p26"/>
          <p:cNvSpPr/>
          <p:nvPr/>
        </p:nvSpPr>
        <p:spPr>
          <a:xfrm>
            <a:off x="4418618" y="5851051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transaction_ref (UK)</a:t>
            </a:r>
            <a:endParaRPr b="0" i="0" sz="1600" u="none" cap="none" strike="noStrike"/>
          </a:p>
        </p:txBody>
      </p:sp>
      <p:sp>
        <p:nvSpPr>
          <p:cNvPr id="931" name="Google Shape;931;p26"/>
          <p:cNvSpPr/>
          <p:nvPr/>
        </p:nvSpPr>
        <p:spPr>
          <a:xfrm>
            <a:off x="4418618" y="5998945"/>
            <a:ext cx="3410802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E0E2E5"/>
                </a:solidFill>
                <a:latin typeface="Arial"/>
                <a:ea typeface="Arial"/>
                <a:cs typeface="Arial"/>
                <a:sym typeface="Arial"/>
              </a:rPr>
              <a:t>amount, status, paid_at</a:t>
            </a:r>
            <a:endParaRPr b="0" i="0" sz="1600" u="none" cap="none" strike="noStrike"/>
          </a:p>
        </p:txBody>
      </p:sp>
      <p:sp>
        <p:nvSpPr>
          <p:cNvPr id="932" name="Google Shape;932;p26"/>
          <p:cNvSpPr/>
          <p:nvPr/>
        </p:nvSpPr>
        <p:spPr>
          <a:xfrm>
            <a:off x="4344671" y="6294732"/>
            <a:ext cx="3558696" cy="14789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3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1:1 Relationship</a:t>
            </a:r>
            <a:r>
              <a:rPr b="0" i="0" lang="en-US" sz="873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with Orders</a:t>
            </a:r>
            <a:endParaRPr b="0" i="0" sz="1600" u="none" cap="none" strike="noStrike"/>
          </a:p>
        </p:txBody>
      </p:sp>
      <p:grpSp>
        <p:nvGrpSpPr>
          <p:cNvPr id="933" name="Google Shape;933;p26"/>
          <p:cNvGrpSpPr/>
          <p:nvPr/>
        </p:nvGrpSpPr>
        <p:grpSpPr>
          <a:xfrm>
            <a:off x="8083964" y="1446556"/>
            <a:ext cx="3734320" cy="1525151"/>
            <a:chOff x="8083974" y="1446587"/>
            <a:chExt cx="3734320" cy="1673049"/>
          </a:xfrm>
        </p:grpSpPr>
        <p:sp>
          <p:nvSpPr>
            <p:cNvPr id="934" name="Google Shape;934;p26"/>
            <p:cNvSpPr/>
            <p:nvPr/>
          </p:nvSpPr>
          <p:spPr>
            <a:xfrm>
              <a:off x="8083974" y="1446587"/>
              <a:ext cx="3734320" cy="1673049"/>
            </a:xfrm>
            <a:custGeom>
              <a:rect b="b" l="l" r="r" t="t"/>
              <a:pathLst>
                <a:path extrusionOk="0" h="1673049" w="3734320">
                  <a:moveTo>
                    <a:pt x="73949" y="0"/>
                  </a:moveTo>
                  <a:lnTo>
                    <a:pt x="3660371" y="0"/>
                  </a:lnTo>
                  <a:cubicBezTo>
                    <a:pt x="3701212" y="0"/>
                    <a:pt x="3734320" y="33108"/>
                    <a:pt x="3734320" y="73949"/>
                  </a:cubicBezTo>
                  <a:lnTo>
                    <a:pt x="3734320" y="1599101"/>
                  </a:lnTo>
                  <a:cubicBezTo>
                    <a:pt x="3734320" y="1639941"/>
                    <a:pt x="3701212" y="1673049"/>
                    <a:pt x="3660371" y="1673049"/>
                  </a:cubicBezTo>
                  <a:lnTo>
                    <a:pt x="73949" y="1673049"/>
                  </a:lnTo>
                  <a:cubicBezTo>
                    <a:pt x="33108" y="1673049"/>
                    <a:pt x="0" y="1639941"/>
                    <a:pt x="0" y="1599101"/>
                  </a:cubicBezTo>
                  <a:lnTo>
                    <a:pt x="0" y="73949"/>
                  </a:lnTo>
                  <a:cubicBezTo>
                    <a:pt x="0" y="33135"/>
                    <a:pt x="33135" y="0"/>
                    <a:pt x="73949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26"/>
            <p:cNvSpPr/>
            <p:nvPr/>
          </p:nvSpPr>
          <p:spPr>
            <a:xfrm>
              <a:off x="8199516" y="1562129"/>
              <a:ext cx="3586426" cy="25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1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Reviews</a:t>
              </a:r>
              <a:endParaRPr b="0" i="0" sz="1600" u="none" cap="none" strike="noStrike"/>
            </a:p>
          </p:txBody>
        </p:sp>
        <p:sp>
          <p:nvSpPr>
            <p:cNvPr id="936" name="Google Shape;936;p26"/>
            <p:cNvSpPr/>
            <p:nvPr/>
          </p:nvSpPr>
          <p:spPr>
            <a:xfrm>
              <a:off x="8199516" y="1894890"/>
              <a:ext cx="3503236" cy="887363"/>
            </a:xfrm>
            <a:custGeom>
              <a:rect b="b" l="l" r="r" t="t"/>
              <a:pathLst>
                <a:path extrusionOk="0" h="887363" w="3503236">
                  <a:moveTo>
                    <a:pt x="36976" y="0"/>
                  </a:moveTo>
                  <a:lnTo>
                    <a:pt x="3466259" y="0"/>
                  </a:lnTo>
                  <a:cubicBezTo>
                    <a:pt x="3486681" y="0"/>
                    <a:pt x="3503236" y="16555"/>
                    <a:pt x="3503236" y="36976"/>
                  </a:cubicBezTo>
                  <a:lnTo>
                    <a:pt x="3503236" y="850387"/>
                  </a:lnTo>
                  <a:cubicBezTo>
                    <a:pt x="3503236" y="870808"/>
                    <a:pt x="3486681" y="887363"/>
                    <a:pt x="3466259" y="887363"/>
                  </a:cubicBezTo>
                  <a:lnTo>
                    <a:pt x="36976" y="887363"/>
                  </a:lnTo>
                  <a:cubicBezTo>
                    <a:pt x="16555" y="887363"/>
                    <a:pt x="0" y="870808"/>
                    <a:pt x="0" y="850387"/>
                  </a:cubicBezTo>
                  <a:lnTo>
                    <a:pt x="0" y="36976"/>
                  </a:lnTo>
                  <a:cubicBezTo>
                    <a:pt x="0" y="16569"/>
                    <a:pt x="16569" y="0"/>
                    <a:pt x="36976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26"/>
            <p:cNvSpPr/>
            <p:nvPr/>
          </p:nvSpPr>
          <p:spPr>
            <a:xfrm>
              <a:off x="8273463" y="1968837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PK: review_id</a:t>
              </a:r>
              <a:endParaRPr b="0" i="0" sz="1600" u="none" cap="none" strike="noStrike"/>
            </a:p>
          </p:txBody>
        </p:sp>
        <p:sp>
          <p:nvSpPr>
            <p:cNvPr id="938" name="Google Shape;938;p26"/>
            <p:cNvSpPr/>
            <p:nvPr/>
          </p:nvSpPr>
          <p:spPr>
            <a:xfrm>
              <a:off x="8273463" y="2116731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FK: product_id → Products</a:t>
              </a:r>
              <a:endParaRPr b="0" i="0" sz="1600" u="none" cap="none" strike="noStrike"/>
            </a:p>
          </p:txBody>
        </p:sp>
        <p:sp>
          <p:nvSpPr>
            <p:cNvPr id="939" name="Google Shape;939;p26"/>
            <p:cNvSpPr/>
            <p:nvPr/>
          </p:nvSpPr>
          <p:spPr>
            <a:xfrm>
              <a:off x="8273463" y="2264625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FK: user_id → Users</a:t>
              </a:r>
              <a:endParaRPr b="0" i="0" sz="1600" u="none" cap="none" strike="noStrike"/>
            </a:p>
          </p:txBody>
        </p:sp>
        <p:sp>
          <p:nvSpPr>
            <p:cNvPr id="940" name="Google Shape;940;p26"/>
            <p:cNvSpPr/>
            <p:nvPr/>
          </p:nvSpPr>
          <p:spPr>
            <a:xfrm>
              <a:off x="8273463" y="2412519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rating (1-5), title, body</a:t>
              </a:r>
              <a:endParaRPr b="0" i="0" sz="1600" u="none" cap="none" strike="noStrike"/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8273463" y="2560412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UQ: (product_id, user_id)</a:t>
              </a:r>
              <a:endParaRPr b="0" i="0" sz="1600" u="none" cap="none" strike="noStrike"/>
            </a:p>
          </p:txBody>
        </p:sp>
        <p:sp>
          <p:nvSpPr>
            <p:cNvPr id="942" name="Google Shape;942;p26"/>
            <p:cNvSpPr/>
            <p:nvPr/>
          </p:nvSpPr>
          <p:spPr>
            <a:xfrm>
              <a:off x="8199516" y="2856200"/>
              <a:ext cx="3558696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M:N Relationship</a:t>
              </a:r>
              <a:r>
                <a:rPr b="0" i="0" lang="en-US" sz="87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bridge table</a:t>
              </a:r>
              <a:endParaRPr b="0" i="0" sz="1600" u="none" cap="none" strike="noStrike"/>
            </a:p>
          </p:txBody>
        </p:sp>
      </p:grpSp>
      <p:grpSp>
        <p:nvGrpSpPr>
          <p:cNvPr id="943" name="Google Shape;943;p26"/>
          <p:cNvGrpSpPr/>
          <p:nvPr/>
        </p:nvGrpSpPr>
        <p:grpSpPr>
          <a:xfrm>
            <a:off x="8083943" y="3087299"/>
            <a:ext cx="3734320" cy="1673049"/>
            <a:chOff x="8083974" y="3239800"/>
            <a:chExt cx="3734320" cy="1673049"/>
          </a:xfrm>
        </p:grpSpPr>
        <p:sp>
          <p:nvSpPr>
            <p:cNvPr id="944" name="Google Shape;944;p26"/>
            <p:cNvSpPr/>
            <p:nvPr/>
          </p:nvSpPr>
          <p:spPr>
            <a:xfrm>
              <a:off x="8083974" y="3239800"/>
              <a:ext cx="3734320" cy="1673049"/>
            </a:xfrm>
            <a:custGeom>
              <a:rect b="b" l="l" r="r" t="t"/>
              <a:pathLst>
                <a:path extrusionOk="0" h="1673049" w="3734320">
                  <a:moveTo>
                    <a:pt x="73949" y="0"/>
                  </a:moveTo>
                  <a:lnTo>
                    <a:pt x="3660371" y="0"/>
                  </a:lnTo>
                  <a:cubicBezTo>
                    <a:pt x="3701212" y="0"/>
                    <a:pt x="3734320" y="33108"/>
                    <a:pt x="3734320" y="73949"/>
                  </a:cubicBezTo>
                  <a:lnTo>
                    <a:pt x="3734320" y="1599101"/>
                  </a:lnTo>
                  <a:cubicBezTo>
                    <a:pt x="3734320" y="1639941"/>
                    <a:pt x="3701212" y="1673049"/>
                    <a:pt x="3660371" y="1673049"/>
                  </a:cubicBezTo>
                  <a:lnTo>
                    <a:pt x="73949" y="1673049"/>
                  </a:lnTo>
                  <a:cubicBezTo>
                    <a:pt x="33108" y="1673049"/>
                    <a:pt x="0" y="1639941"/>
                    <a:pt x="0" y="1599101"/>
                  </a:cubicBezTo>
                  <a:lnTo>
                    <a:pt x="0" y="73949"/>
                  </a:lnTo>
                  <a:cubicBezTo>
                    <a:pt x="0" y="33135"/>
                    <a:pt x="33135" y="0"/>
                    <a:pt x="73949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26"/>
            <p:cNvSpPr/>
            <p:nvPr/>
          </p:nvSpPr>
          <p:spPr>
            <a:xfrm>
              <a:off x="8199516" y="3355342"/>
              <a:ext cx="3586426" cy="25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1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Wishlist</a:t>
              </a:r>
              <a:endParaRPr b="0" i="0" sz="1600" u="none" cap="none" strike="noStrike"/>
            </a:p>
          </p:txBody>
        </p:sp>
        <p:sp>
          <p:nvSpPr>
            <p:cNvPr id="946" name="Google Shape;946;p26"/>
            <p:cNvSpPr/>
            <p:nvPr/>
          </p:nvSpPr>
          <p:spPr>
            <a:xfrm>
              <a:off x="8199516" y="3688103"/>
              <a:ext cx="3503236" cy="887363"/>
            </a:xfrm>
            <a:custGeom>
              <a:rect b="b" l="l" r="r" t="t"/>
              <a:pathLst>
                <a:path extrusionOk="0" h="887363" w="3503236">
                  <a:moveTo>
                    <a:pt x="36976" y="0"/>
                  </a:moveTo>
                  <a:lnTo>
                    <a:pt x="3466259" y="0"/>
                  </a:lnTo>
                  <a:cubicBezTo>
                    <a:pt x="3486681" y="0"/>
                    <a:pt x="3503236" y="16555"/>
                    <a:pt x="3503236" y="36976"/>
                  </a:cubicBezTo>
                  <a:lnTo>
                    <a:pt x="3503236" y="850387"/>
                  </a:lnTo>
                  <a:cubicBezTo>
                    <a:pt x="3503236" y="870808"/>
                    <a:pt x="3486681" y="887363"/>
                    <a:pt x="3466259" y="887363"/>
                  </a:cubicBezTo>
                  <a:lnTo>
                    <a:pt x="36976" y="887363"/>
                  </a:lnTo>
                  <a:cubicBezTo>
                    <a:pt x="16555" y="887363"/>
                    <a:pt x="0" y="870808"/>
                    <a:pt x="0" y="850387"/>
                  </a:cubicBezTo>
                  <a:lnTo>
                    <a:pt x="0" y="36976"/>
                  </a:lnTo>
                  <a:cubicBezTo>
                    <a:pt x="0" y="16569"/>
                    <a:pt x="16569" y="0"/>
                    <a:pt x="36976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26"/>
            <p:cNvSpPr/>
            <p:nvPr/>
          </p:nvSpPr>
          <p:spPr>
            <a:xfrm>
              <a:off x="8273463" y="3762050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PK: wishlist_id</a:t>
              </a:r>
              <a:endParaRPr b="0" i="0" sz="1600" u="none" cap="none" strike="noStrike"/>
            </a:p>
          </p:txBody>
        </p:sp>
        <p:sp>
          <p:nvSpPr>
            <p:cNvPr id="948" name="Google Shape;948;p26"/>
            <p:cNvSpPr/>
            <p:nvPr/>
          </p:nvSpPr>
          <p:spPr>
            <a:xfrm>
              <a:off x="8273463" y="3909944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FK: user_id → Users</a:t>
              </a:r>
              <a:endParaRPr b="0" i="0" sz="1600" u="none" cap="none" strike="noStrike"/>
            </a:p>
          </p:txBody>
        </p:sp>
        <p:sp>
          <p:nvSpPr>
            <p:cNvPr id="949" name="Google Shape;949;p26"/>
            <p:cNvSpPr/>
            <p:nvPr/>
          </p:nvSpPr>
          <p:spPr>
            <a:xfrm>
              <a:off x="8273463" y="4057838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FK: product_id → Products</a:t>
              </a:r>
              <a:endParaRPr b="0" i="0" sz="1600" u="none" cap="none" strike="noStrike"/>
            </a:p>
          </p:txBody>
        </p:sp>
        <p:sp>
          <p:nvSpPr>
            <p:cNvPr id="950" name="Google Shape;950;p26"/>
            <p:cNvSpPr/>
            <p:nvPr/>
          </p:nvSpPr>
          <p:spPr>
            <a:xfrm>
              <a:off x="8273463" y="4205732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added_at</a:t>
              </a:r>
              <a:endParaRPr b="0" i="0" sz="1600" u="none" cap="none" strike="noStrike"/>
            </a:p>
          </p:txBody>
        </p:sp>
        <p:sp>
          <p:nvSpPr>
            <p:cNvPr id="951" name="Google Shape;951;p26"/>
            <p:cNvSpPr/>
            <p:nvPr/>
          </p:nvSpPr>
          <p:spPr>
            <a:xfrm>
              <a:off x="8273463" y="4353625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UQ: (user_id, product_id)</a:t>
              </a:r>
              <a:endParaRPr b="0" i="0" sz="1600" u="none" cap="none" strike="noStrike"/>
            </a:p>
          </p:txBody>
        </p:sp>
        <p:sp>
          <p:nvSpPr>
            <p:cNvPr id="952" name="Google Shape;952;p26"/>
            <p:cNvSpPr/>
            <p:nvPr/>
          </p:nvSpPr>
          <p:spPr>
            <a:xfrm>
              <a:off x="8199516" y="4649413"/>
              <a:ext cx="3558696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M:N Relationship</a:t>
              </a:r>
              <a:r>
                <a:rPr b="0" i="0" lang="en-US" sz="87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- User favorites</a:t>
              </a:r>
              <a:endParaRPr b="0" i="0" sz="1600" u="none" cap="none" strike="noStrike"/>
            </a:p>
          </p:txBody>
        </p:sp>
      </p:grpSp>
      <p:grpSp>
        <p:nvGrpSpPr>
          <p:cNvPr id="953" name="Google Shape;953;p26"/>
          <p:cNvGrpSpPr/>
          <p:nvPr/>
        </p:nvGrpSpPr>
        <p:grpSpPr>
          <a:xfrm>
            <a:off x="8083889" y="4876039"/>
            <a:ext cx="3734320" cy="1673082"/>
            <a:chOff x="8083974" y="5033013"/>
            <a:chExt cx="3734320" cy="1820943"/>
          </a:xfrm>
        </p:grpSpPr>
        <p:sp>
          <p:nvSpPr>
            <p:cNvPr id="954" name="Google Shape;954;p26"/>
            <p:cNvSpPr/>
            <p:nvPr/>
          </p:nvSpPr>
          <p:spPr>
            <a:xfrm>
              <a:off x="8083974" y="5033013"/>
              <a:ext cx="3734320" cy="1820943"/>
            </a:xfrm>
            <a:custGeom>
              <a:rect b="b" l="l" r="r" t="t"/>
              <a:pathLst>
                <a:path extrusionOk="0" h="1820943" w="3734320">
                  <a:moveTo>
                    <a:pt x="73949" y="0"/>
                  </a:moveTo>
                  <a:lnTo>
                    <a:pt x="3660371" y="0"/>
                  </a:lnTo>
                  <a:cubicBezTo>
                    <a:pt x="3701212" y="0"/>
                    <a:pt x="3734320" y="33108"/>
                    <a:pt x="3734320" y="73949"/>
                  </a:cubicBezTo>
                  <a:lnTo>
                    <a:pt x="3734320" y="1746995"/>
                  </a:lnTo>
                  <a:cubicBezTo>
                    <a:pt x="3734320" y="1787835"/>
                    <a:pt x="3701212" y="1820943"/>
                    <a:pt x="3660371" y="1820943"/>
                  </a:cubicBezTo>
                  <a:lnTo>
                    <a:pt x="73949" y="1820943"/>
                  </a:lnTo>
                  <a:cubicBezTo>
                    <a:pt x="33108" y="1820943"/>
                    <a:pt x="0" y="1787835"/>
                    <a:pt x="0" y="1746995"/>
                  </a:cubicBezTo>
                  <a:lnTo>
                    <a:pt x="0" y="73949"/>
                  </a:lnTo>
                  <a:cubicBezTo>
                    <a:pt x="0" y="33135"/>
                    <a:pt x="33135" y="0"/>
                    <a:pt x="73949" y="0"/>
                  </a:cubicBezTo>
                  <a:close/>
                </a:path>
              </a:pathLst>
            </a:custGeom>
            <a:solidFill>
              <a:srgbClr val="5F6B7A">
                <a:alpha val="10196"/>
              </a:srgbClr>
            </a:solidFill>
            <a:ln cap="flat" cmpd="sng" w="12700">
              <a:solidFill>
                <a:srgbClr val="5F6B7A">
                  <a:alpha val="30196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26"/>
            <p:cNvSpPr/>
            <p:nvPr/>
          </p:nvSpPr>
          <p:spPr>
            <a:xfrm>
              <a:off x="8199516" y="5148555"/>
              <a:ext cx="3586426" cy="2588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10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Coupons &amp; Usage</a:t>
              </a:r>
              <a:endParaRPr b="0" i="0" sz="1600" u="none" cap="none" strike="noStrike"/>
            </a:p>
          </p:txBody>
        </p:sp>
        <p:sp>
          <p:nvSpPr>
            <p:cNvPr id="956" name="Google Shape;956;p26"/>
            <p:cNvSpPr/>
            <p:nvPr/>
          </p:nvSpPr>
          <p:spPr>
            <a:xfrm>
              <a:off x="8199516" y="5481316"/>
              <a:ext cx="3503236" cy="1035257"/>
            </a:xfrm>
            <a:custGeom>
              <a:rect b="b" l="l" r="r" t="t"/>
              <a:pathLst>
                <a:path extrusionOk="0" h="1035257" w="3503236">
                  <a:moveTo>
                    <a:pt x="36969" y="0"/>
                  </a:moveTo>
                  <a:lnTo>
                    <a:pt x="3466267" y="0"/>
                  </a:lnTo>
                  <a:cubicBezTo>
                    <a:pt x="3486684" y="0"/>
                    <a:pt x="3503236" y="16552"/>
                    <a:pt x="3503236" y="36969"/>
                  </a:cubicBezTo>
                  <a:lnTo>
                    <a:pt x="3503236" y="998288"/>
                  </a:lnTo>
                  <a:cubicBezTo>
                    <a:pt x="3503236" y="1018705"/>
                    <a:pt x="3486684" y="1035257"/>
                    <a:pt x="3466267" y="1035257"/>
                  </a:cubicBezTo>
                  <a:lnTo>
                    <a:pt x="36969" y="1035257"/>
                  </a:lnTo>
                  <a:cubicBezTo>
                    <a:pt x="16552" y="1035257"/>
                    <a:pt x="0" y="1018705"/>
                    <a:pt x="0" y="998288"/>
                  </a:cubicBezTo>
                  <a:lnTo>
                    <a:pt x="0" y="36969"/>
                  </a:lnTo>
                  <a:cubicBezTo>
                    <a:pt x="0" y="16565"/>
                    <a:pt x="16565" y="0"/>
                    <a:pt x="36969" y="0"/>
                  </a:cubicBezTo>
                  <a:close/>
                </a:path>
              </a:pathLst>
            </a:custGeom>
            <a:solidFill>
              <a:srgbClr val="2D313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26"/>
            <p:cNvSpPr/>
            <p:nvPr/>
          </p:nvSpPr>
          <p:spPr>
            <a:xfrm>
              <a:off x="8273463" y="5555263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Coupons PK: coupon_id</a:t>
              </a:r>
              <a:endParaRPr b="0" i="0" sz="1600" u="none" cap="none" strike="noStrike"/>
            </a:p>
          </p:txBody>
        </p:sp>
        <p:sp>
          <p:nvSpPr>
            <p:cNvPr id="958" name="Google Shape;958;p26"/>
            <p:cNvSpPr/>
            <p:nvPr/>
          </p:nvSpPr>
          <p:spPr>
            <a:xfrm>
              <a:off x="8273463" y="5703157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code (UK), discount_type</a:t>
              </a:r>
              <a:endParaRPr b="0" i="0" sz="1600" u="none" cap="none" strike="noStrike"/>
            </a:p>
          </p:txBody>
        </p:sp>
        <p:sp>
          <p:nvSpPr>
            <p:cNvPr id="959" name="Google Shape;959;p26"/>
            <p:cNvSpPr/>
            <p:nvPr/>
          </p:nvSpPr>
          <p:spPr>
            <a:xfrm>
              <a:off x="8273463" y="5851051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E0E2E5"/>
                  </a:solidFill>
                  <a:latin typeface="Arial"/>
                  <a:ea typeface="Arial"/>
                  <a:cs typeface="Arial"/>
                  <a:sym typeface="Arial"/>
                </a:rPr>
                <a:t>discount_value, max_uses</a:t>
              </a:r>
              <a:endParaRPr b="0" i="0" sz="1600" u="none" cap="none" strike="noStrike"/>
            </a:p>
          </p:txBody>
        </p:sp>
        <p:sp>
          <p:nvSpPr>
            <p:cNvPr id="960" name="Google Shape;960;p26"/>
            <p:cNvSpPr/>
            <p:nvPr/>
          </p:nvSpPr>
          <p:spPr>
            <a:xfrm>
              <a:off x="8273463" y="5998945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Arial"/>
                  <a:ea typeface="Arial"/>
                  <a:cs typeface="Arial"/>
                  <a:sym typeface="Arial"/>
                </a:rPr>
                <a:t>Coupon_Usage PK: usage_id</a:t>
              </a:r>
              <a:endParaRPr b="0" i="0" sz="1600" u="none" cap="none" strike="noStrike"/>
            </a:p>
          </p:txBody>
        </p:sp>
        <p:sp>
          <p:nvSpPr>
            <p:cNvPr id="961" name="Google Shape;961;p26"/>
            <p:cNvSpPr/>
            <p:nvPr/>
          </p:nvSpPr>
          <p:spPr>
            <a:xfrm>
              <a:off x="8273463" y="6146839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4C8B8E"/>
                  </a:solidFill>
                  <a:latin typeface="Arial"/>
                  <a:ea typeface="Arial"/>
                  <a:cs typeface="Arial"/>
                  <a:sym typeface="Arial"/>
                </a:rPr>
                <a:t>FK: coupon_id, user_id</a:t>
              </a:r>
              <a:endParaRPr b="0" i="0" sz="1600" u="none" cap="none" strike="noStrike"/>
            </a:p>
          </p:txBody>
        </p:sp>
        <p:sp>
          <p:nvSpPr>
            <p:cNvPr id="962" name="Google Shape;962;p26"/>
            <p:cNvSpPr/>
            <p:nvPr/>
          </p:nvSpPr>
          <p:spPr>
            <a:xfrm>
              <a:off x="8273463" y="6294732"/>
              <a:ext cx="3410802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5F6B7A"/>
                  </a:solidFill>
                  <a:latin typeface="Arial"/>
                  <a:ea typeface="Arial"/>
                  <a:cs typeface="Arial"/>
                  <a:sym typeface="Arial"/>
                </a:rPr>
                <a:t>UQ: (coupon_id, user_id)</a:t>
              </a:r>
              <a:endParaRPr b="0" i="0" sz="1600" u="none" cap="none" strike="noStrike"/>
            </a:p>
          </p:txBody>
        </p:sp>
        <p:sp>
          <p:nvSpPr>
            <p:cNvPr id="963" name="Google Shape;963;p26"/>
            <p:cNvSpPr/>
            <p:nvPr/>
          </p:nvSpPr>
          <p:spPr>
            <a:xfrm>
              <a:off x="8199516" y="6590520"/>
              <a:ext cx="3558696" cy="1478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73" u="none" cap="none" strike="noStrike">
                  <a:solidFill>
                    <a:srgbClr val="C5A06D"/>
                  </a:solidFill>
                  <a:latin typeface="Liter"/>
                  <a:ea typeface="Liter"/>
                  <a:cs typeface="Liter"/>
                  <a:sym typeface="Liter"/>
                </a:rPr>
                <a:t>Tracks</a:t>
              </a:r>
              <a:r>
                <a:rPr b="0" i="0" lang="en-US" sz="873" u="none" cap="none" strike="noStrike">
                  <a:solidFill>
                    <a:srgbClr val="E0E2E5"/>
                  </a:solidFill>
                  <a:latin typeface="Liter"/>
                  <a:ea typeface="Liter"/>
                  <a:cs typeface="Liter"/>
                  <a:sym typeface="Liter"/>
                </a:rPr>
                <a:t> per-user coupon usage</a:t>
              </a:r>
              <a:endParaRPr b="0" i="0" sz="1600" u="none" cap="none" strike="noStrike"/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f43524d25701bc7ce7e981c349114f3cb5db9862.jpg" id="969" name="Google Shape;969;p27"/>
          <p:cNvPicPr preferRelativeResize="0"/>
          <p:nvPr/>
        </p:nvPicPr>
        <p:blipFill rotWithShape="1">
          <a:blip r:embed="rId3">
            <a:alphaModFix amt="30000"/>
          </a:blip>
          <a:srcRect b="6953" l="0" r="0" t="6953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970" name="Google Shape;970;p27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90196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971" name="Google Shape;971;p27"/>
          <p:cNvSpPr/>
          <p:nvPr/>
        </p:nvSpPr>
        <p:spPr>
          <a:xfrm>
            <a:off x="5657850" y="290513"/>
            <a:ext cx="876300" cy="876300"/>
          </a:xfrm>
          <a:custGeom>
            <a:rect b="b" l="l" r="r" t="t"/>
            <a:pathLst>
              <a:path extrusionOk="0" h="876300" w="876300">
                <a:moveTo>
                  <a:pt x="438150" y="0"/>
                </a:moveTo>
                <a:lnTo>
                  <a:pt x="438150" y="0"/>
                </a:lnTo>
                <a:cubicBezTo>
                  <a:pt x="679972" y="0"/>
                  <a:pt x="876300" y="196328"/>
                  <a:pt x="876300" y="438150"/>
                </a:cubicBezTo>
                <a:lnTo>
                  <a:pt x="876300" y="438150"/>
                </a:lnTo>
                <a:cubicBezTo>
                  <a:pt x="876300" y="679972"/>
                  <a:pt x="679972" y="876300"/>
                  <a:pt x="438150" y="876300"/>
                </a:cubicBezTo>
                <a:lnTo>
                  <a:pt x="438150" y="876300"/>
                </a:lnTo>
                <a:cubicBezTo>
                  <a:pt x="196328" y="876300"/>
                  <a:pt x="0" y="679972"/>
                  <a:pt x="0" y="438150"/>
                </a:cubicBezTo>
                <a:lnTo>
                  <a:pt x="0" y="438150"/>
                </a:lnTo>
                <a:cubicBezTo>
                  <a:pt x="0" y="196328"/>
                  <a:pt x="196328" y="0"/>
                  <a:pt x="438150" y="0"/>
                </a:cubicBezTo>
                <a:close/>
              </a:path>
            </a:pathLst>
          </a:custGeom>
          <a:solidFill>
            <a:srgbClr val="4C8B8E">
              <a:alpha val="20000"/>
            </a:srgbClr>
          </a:solidFill>
          <a:ln cap="flat" cmpd="sng" w="50800">
            <a:solidFill>
              <a:srgbClr val="4C8B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7"/>
          <p:cNvSpPr/>
          <p:nvPr/>
        </p:nvSpPr>
        <p:spPr>
          <a:xfrm>
            <a:off x="5945981" y="557213"/>
            <a:ext cx="300038" cy="342900"/>
          </a:xfrm>
          <a:custGeom>
            <a:rect b="b" l="l" r="r" t="t"/>
            <a:pathLst>
              <a:path extrusionOk="0" h="342900" w="300038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27"/>
          <p:cNvSpPr/>
          <p:nvPr/>
        </p:nvSpPr>
        <p:spPr>
          <a:xfrm>
            <a:off x="1685925" y="1414463"/>
            <a:ext cx="88201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0E2E5"/>
                </a:solidFill>
                <a:latin typeface="Oranienbaum"/>
                <a:ea typeface="Oranienbaum"/>
                <a:cs typeface="Oranienbaum"/>
                <a:sym typeface="Oranienbaum"/>
              </a:rPr>
              <a:t>Database Design</a:t>
            </a:r>
            <a:endParaRPr b="0" i="0" sz="1600" u="none" cap="none" strike="noStrike"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Excellence</a:t>
            </a:r>
            <a:endParaRPr b="0" i="0" sz="1600" u="none" cap="none" strike="noStrike"/>
          </a:p>
        </p:txBody>
      </p:sp>
      <p:sp>
        <p:nvSpPr>
          <p:cNvPr id="974" name="Google Shape;974;p27"/>
          <p:cNvSpPr/>
          <p:nvPr/>
        </p:nvSpPr>
        <p:spPr>
          <a:xfrm>
            <a:off x="1771650" y="2786063"/>
            <a:ext cx="8648700" cy="1114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The schema achieves </a:t>
            </a:r>
            <a:r>
              <a:rPr b="1" i="0" lang="en-US" sz="1800" u="none" cap="none" strike="noStrike">
                <a:solidFill>
                  <a:srgbClr val="C5A06D"/>
                </a:solidFill>
                <a:latin typeface="Liter"/>
                <a:ea typeface="Liter"/>
                <a:cs typeface="Liter"/>
                <a:sym typeface="Liter"/>
              </a:rPr>
              <a:t>3NF normalization</a:t>
            </a:r>
            <a:r>
              <a:rPr b="0" i="0" lang="en-US" sz="18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 with intentional denormalization for historical accuracy. Features include automated triggers, comprehensive views, and stored procedures for robust e-commerce operations.</a:t>
            </a:r>
            <a:endParaRPr b="0" i="0" sz="1600" u="none" cap="none" strike="noStrike"/>
          </a:p>
        </p:txBody>
      </p:sp>
      <p:sp>
        <p:nvSpPr>
          <p:cNvPr id="975" name="Google Shape;975;p27"/>
          <p:cNvSpPr/>
          <p:nvPr/>
        </p:nvSpPr>
        <p:spPr>
          <a:xfrm>
            <a:off x="1223963" y="4514850"/>
            <a:ext cx="2257425" cy="1495425"/>
          </a:xfrm>
          <a:custGeom>
            <a:rect b="b" l="l" r="r" t="t"/>
            <a:pathLst>
              <a:path extrusionOk="0" h="1495425" w="2257425">
                <a:moveTo>
                  <a:pt x="76207" y="0"/>
                </a:moveTo>
                <a:lnTo>
                  <a:pt x="2181218" y="0"/>
                </a:lnTo>
                <a:cubicBezTo>
                  <a:pt x="2223306" y="0"/>
                  <a:pt x="2257425" y="34119"/>
                  <a:pt x="2257425" y="76207"/>
                </a:cubicBezTo>
                <a:lnTo>
                  <a:pt x="2257425" y="1419218"/>
                </a:lnTo>
                <a:cubicBezTo>
                  <a:pt x="2257425" y="1461306"/>
                  <a:pt x="2223306" y="1495425"/>
                  <a:pt x="218121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27"/>
          <p:cNvSpPr/>
          <p:nvPr/>
        </p:nvSpPr>
        <p:spPr>
          <a:xfrm>
            <a:off x="1333500" y="4710113"/>
            <a:ext cx="2038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3NF</a:t>
            </a:r>
            <a:endParaRPr b="0" i="0" sz="1600" u="none" cap="none" strike="noStrike"/>
          </a:p>
        </p:txBody>
      </p:sp>
      <p:sp>
        <p:nvSpPr>
          <p:cNvPr id="977" name="Google Shape;977;p27"/>
          <p:cNvSpPr/>
          <p:nvPr/>
        </p:nvSpPr>
        <p:spPr>
          <a:xfrm>
            <a:off x="1381125" y="5167313"/>
            <a:ext cx="194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Normalized</a:t>
            </a:r>
            <a:endParaRPr b="0" i="0" sz="1600" u="none" cap="none" strike="noStrike"/>
          </a:p>
        </p:txBody>
      </p:sp>
      <p:sp>
        <p:nvSpPr>
          <p:cNvPr id="978" name="Google Shape;978;p27"/>
          <p:cNvSpPr/>
          <p:nvPr/>
        </p:nvSpPr>
        <p:spPr>
          <a:xfrm>
            <a:off x="1385888" y="5434013"/>
            <a:ext cx="19335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No partial/transitive dependencies</a:t>
            </a:r>
            <a:endParaRPr b="0" i="0" sz="1600" u="none" cap="none" strike="noStrike"/>
          </a:p>
        </p:txBody>
      </p:sp>
      <p:sp>
        <p:nvSpPr>
          <p:cNvPr id="979" name="Google Shape;979;p27"/>
          <p:cNvSpPr/>
          <p:nvPr/>
        </p:nvSpPr>
        <p:spPr>
          <a:xfrm>
            <a:off x="3719512" y="4514850"/>
            <a:ext cx="2257425" cy="1495425"/>
          </a:xfrm>
          <a:custGeom>
            <a:rect b="b" l="l" r="r" t="t"/>
            <a:pathLst>
              <a:path extrusionOk="0" h="1495425" w="2257425">
                <a:moveTo>
                  <a:pt x="76207" y="0"/>
                </a:moveTo>
                <a:lnTo>
                  <a:pt x="2181218" y="0"/>
                </a:lnTo>
                <a:cubicBezTo>
                  <a:pt x="2223306" y="0"/>
                  <a:pt x="2257425" y="34119"/>
                  <a:pt x="2257425" y="76207"/>
                </a:cubicBezTo>
                <a:lnTo>
                  <a:pt x="2257425" y="1419218"/>
                </a:lnTo>
                <a:cubicBezTo>
                  <a:pt x="2257425" y="1461306"/>
                  <a:pt x="2223306" y="1495425"/>
                  <a:pt x="218121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4C8B8E">
              <a:alpha val="10196"/>
            </a:srgbClr>
          </a:solidFill>
          <a:ln cap="flat" cmpd="sng" w="12700">
            <a:solidFill>
              <a:srgbClr val="4C8B8E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7"/>
          <p:cNvSpPr/>
          <p:nvPr/>
        </p:nvSpPr>
        <p:spPr>
          <a:xfrm>
            <a:off x="3829050" y="4710113"/>
            <a:ext cx="2038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4C8B8E"/>
                </a:solidFill>
                <a:latin typeface="Oranienbaum"/>
                <a:ea typeface="Oranienbaum"/>
                <a:cs typeface="Oranienbaum"/>
                <a:sym typeface="Oranienbaum"/>
              </a:rPr>
              <a:t>15</a:t>
            </a:r>
            <a:endParaRPr b="0" i="0" sz="1600" u="none" cap="none" strike="noStrike"/>
          </a:p>
        </p:txBody>
      </p:sp>
      <p:sp>
        <p:nvSpPr>
          <p:cNvPr id="981" name="Google Shape;981;p27"/>
          <p:cNvSpPr/>
          <p:nvPr/>
        </p:nvSpPr>
        <p:spPr>
          <a:xfrm>
            <a:off x="3876675" y="5167313"/>
            <a:ext cx="194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Tables</a:t>
            </a:r>
            <a:endParaRPr b="0" i="0" sz="1600" u="none" cap="none" strike="noStrike"/>
          </a:p>
        </p:txBody>
      </p:sp>
      <p:sp>
        <p:nvSpPr>
          <p:cNvPr id="982" name="Google Shape;982;p27"/>
          <p:cNvSpPr/>
          <p:nvPr/>
        </p:nvSpPr>
        <p:spPr>
          <a:xfrm>
            <a:off x="3881438" y="5434013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Comprehensive coverage</a:t>
            </a:r>
            <a:endParaRPr b="0" i="0" sz="1600" u="none" cap="none" strike="noStrike"/>
          </a:p>
        </p:txBody>
      </p:sp>
      <p:sp>
        <p:nvSpPr>
          <p:cNvPr id="983" name="Google Shape;983;p27"/>
          <p:cNvSpPr/>
          <p:nvPr/>
        </p:nvSpPr>
        <p:spPr>
          <a:xfrm>
            <a:off x="6215063" y="4514850"/>
            <a:ext cx="2257425" cy="1495425"/>
          </a:xfrm>
          <a:custGeom>
            <a:rect b="b" l="l" r="r" t="t"/>
            <a:pathLst>
              <a:path extrusionOk="0" h="1495425" w="2257425">
                <a:moveTo>
                  <a:pt x="76207" y="0"/>
                </a:moveTo>
                <a:lnTo>
                  <a:pt x="2181218" y="0"/>
                </a:lnTo>
                <a:cubicBezTo>
                  <a:pt x="2223306" y="0"/>
                  <a:pt x="2257425" y="34119"/>
                  <a:pt x="2257425" y="76207"/>
                </a:cubicBezTo>
                <a:lnTo>
                  <a:pt x="2257425" y="1419218"/>
                </a:lnTo>
                <a:cubicBezTo>
                  <a:pt x="2257425" y="1461306"/>
                  <a:pt x="2223306" y="1495425"/>
                  <a:pt x="218121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27"/>
          <p:cNvSpPr/>
          <p:nvPr/>
        </p:nvSpPr>
        <p:spPr>
          <a:xfrm>
            <a:off x="6324600" y="4710113"/>
            <a:ext cx="2038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C5A06D"/>
                </a:solidFill>
                <a:latin typeface="Oranienbaum"/>
                <a:ea typeface="Oranienbaum"/>
                <a:cs typeface="Oranienbaum"/>
                <a:sym typeface="Oranienbaum"/>
              </a:rPr>
              <a:t>3</a:t>
            </a:r>
            <a:endParaRPr b="0" i="0" sz="1600" u="none" cap="none" strike="noStrike"/>
          </a:p>
        </p:txBody>
      </p:sp>
      <p:sp>
        <p:nvSpPr>
          <p:cNvPr id="985" name="Google Shape;985;p27"/>
          <p:cNvSpPr/>
          <p:nvPr/>
        </p:nvSpPr>
        <p:spPr>
          <a:xfrm>
            <a:off x="6372225" y="5167313"/>
            <a:ext cx="194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Triggers</a:t>
            </a:r>
            <a:endParaRPr b="0" i="0" sz="1600" u="none" cap="none" strike="noStrike"/>
          </a:p>
        </p:txBody>
      </p:sp>
      <p:sp>
        <p:nvSpPr>
          <p:cNvPr id="986" name="Google Shape;986;p27"/>
          <p:cNvSpPr/>
          <p:nvPr/>
        </p:nvSpPr>
        <p:spPr>
          <a:xfrm>
            <a:off x="6376988" y="5434013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Automated workflows</a:t>
            </a:r>
            <a:endParaRPr b="0" i="0" sz="1600" u="none" cap="none" strike="noStrike"/>
          </a:p>
        </p:txBody>
      </p:sp>
      <p:sp>
        <p:nvSpPr>
          <p:cNvPr id="987" name="Google Shape;987;p27"/>
          <p:cNvSpPr/>
          <p:nvPr/>
        </p:nvSpPr>
        <p:spPr>
          <a:xfrm>
            <a:off x="8710613" y="4514850"/>
            <a:ext cx="2257425" cy="1495425"/>
          </a:xfrm>
          <a:custGeom>
            <a:rect b="b" l="l" r="r" t="t"/>
            <a:pathLst>
              <a:path extrusionOk="0" h="1495425" w="2257425">
                <a:moveTo>
                  <a:pt x="76207" y="0"/>
                </a:moveTo>
                <a:lnTo>
                  <a:pt x="2181218" y="0"/>
                </a:lnTo>
                <a:cubicBezTo>
                  <a:pt x="2223306" y="0"/>
                  <a:pt x="2257425" y="34119"/>
                  <a:pt x="2257425" y="76207"/>
                </a:cubicBezTo>
                <a:lnTo>
                  <a:pt x="2257425" y="1419218"/>
                </a:lnTo>
                <a:cubicBezTo>
                  <a:pt x="2257425" y="1461306"/>
                  <a:pt x="2223306" y="1495425"/>
                  <a:pt x="2181218" y="1495425"/>
                </a:cubicBezTo>
                <a:lnTo>
                  <a:pt x="76207" y="1495425"/>
                </a:lnTo>
                <a:cubicBezTo>
                  <a:pt x="34119" y="1495425"/>
                  <a:pt x="0" y="1461306"/>
                  <a:pt x="0" y="1419218"/>
                </a:cubicBezTo>
                <a:lnTo>
                  <a:pt x="0" y="76207"/>
                </a:lnTo>
                <a:cubicBezTo>
                  <a:pt x="0" y="34147"/>
                  <a:pt x="34147" y="0"/>
                  <a:pt x="76207" y="0"/>
                </a:cubicBezTo>
                <a:close/>
              </a:path>
            </a:pathLst>
          </a:custGeom>
          <a:solidFill>
            <a:srgbClr val="C5A06D">
              <a:alpha val="10196"/>
            </a:srgbClr>
          </a:solidFill>
          <a:ln cap="flat" cmpd="sng" w="12700">
            <a:solidFill>
              <a:srgbClr val="C5A06D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7"/>
          <p:cNvSpPr/>
          <p:nvPr/>
        </p:nvSpPr>
        <p:spPr>
          <a:xfrm>
            <a:off x="8820150" y="4710113"/>
            <a:ext cx="2038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C5A06D"/>
                </a:solidFill>
                <a:latin typeface="Oranienbaum"/>
                <a:ea typeface="Oranienbaum"/>
                <a:cs typeface="Oranienbaum"/>
                <a:sym typeface="Oranienbaum"/>
              </a:rPr>
              <a:t>2</a:t>
            </a:r>
            <a:endParaRPr b="0" i="0" sz="1600" u="none" cap="none" strike="noStrike"/>
          </a:p>
        </p:txBody>
      </p:sp>
      <p:sp>
        <p:nvSpPr>
          <p:cNvPr id="989" name="Google Shape;989;p27"/>
          <p:cNvSpPr/>
          <p:nvPr/>
        </p:nvSpPr>
        <p:spPr>
          <a:xfrm>
            <a:off x="8867775" y="5167313"/>
            <a:ext cx="1943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Procedures</a:t>
            </a:r>
            <a:endParaRPr b="0" i="0" sz="1600" u="none" cap="none" strike="noStrike"/>
          </a:p>
        </p:txBody>
      </p:sp>
      <p:sp>
        <p:nvSpPr>
          <p:cNvPr id="990" name="Google Shape;990;p27"/>
          <p:cNvSpPr/>
          <p:nvPr/>
        </p:nvSpPr>
        <p:spPr>
          <a:xfrm>
            <a:off x="8872538" y="5434013"/>
            <a:ext cx="1933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Business logic encapsulation</a:t>
            </a:r>
            <a:endParaRPr b="0" i="0" sz="1600" u="none" cap="none" strike="noStrike"/>
          </a:p>
        </p:txBody>
      </p:sp>
      <p:sp>
        <p:nvSpPr>
          <p:cNvPr id="991" name="Google Shape;991;p27"/>
          <p:cNvSpPr/>
          <p:nvPr/>
        </p:nvSpPr>
        <p:spPr>
          <a:xfrm>
            <a:off x="3099122" y="6367463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2" name="Google Shape;992;p27"/>
          <p:cNvSpPr/>
          <p:nvPr/>
        </p:nvSpPr>
        <p:spPr>
          <a:xfrm>
            <a:off x="3361060" y="6319838"/>
            <a:ext cx="1419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ACID Compliance</a:t>
            </a:r>
            <a:endParaRPr b="0" i="0" sz="1600" u="none" cap="none" strike="noStrike"/>
          </a:p>
        </p:txBody>
      </p:sp>
      <p:sp>
        <p:nvSpPr>
          <p:cNvPr id="993" name="Google Shape;993;p27"/>
          <p:cNvSpPr/>
          <p:nvPr/>
        </p:nvSpPr>
        <p:spPr>
          <a:xfrm>
            <a:off x="5068714" y="6367463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7"/>
          <p:cNvSpPr/>
          <p:nvPr/>
        </p:nvSpPr>
        <p:spPr>
          <a:xfrm>
            <a:off x="5330651" y="6319838"/>
            <a:ext cx="157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Referential Integrity</a:t>
            </a:r>
            <a:endParaRPr b="0" i="0" sz="1600" u="none" cap="none" strike="noStrike"/>
          </a:p>
        </p:txBody>
      </p:sp>
      <p:sp>
        <p:nvSpPr>
          <p:cNvPr id="995" name="Google Shape;995;p27"/>
          <p:cNvSpPr/>
          <p:nvPr/>
        </p:nvSpPr>
        <p:spPr>
          <a:xfrm>
            <a:off x="7192268" y="6367463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4C8B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7"/>
          <p:cNvSpPr/>
          <p:nvPr/>
        </p:nvSpPr>
        <p:spPr>
          <a:xfrm>
            <a:off x="7454205" y="6319838"/>
            <a:ext cx="1704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Scalable Architecture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